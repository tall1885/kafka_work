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1" r:id="rId1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6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48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216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148840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모니터링 &amp; 분석 플랫폼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21208" y="3703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RHOCP 기반 Confluent Kafka + Splunk Enterprise 통합 Package Solution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1208" y="4297680"/>
            <a:ext cx="1517904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1208" y="4297680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스트리밍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03704" y="4297680"/>
            <a:ext cx="1659636" cy="329184"/>
          </a:xfrm>
          <a:prstGeom prst="roundRect">
            <a:avLst>
              <a:gd name="adj" fmla="val 16667"/>
            </a:avLst>
          </a:prstGeom>
          <a:solidFill>
            <a:srgbClr val="E07A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03704" y="4297680"/>
            <a:ext cx="16596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데이터 분석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7932" y="4297680"/>
            <a:ext cx="1659636" cy="329184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027932" y="4297680"/>
            <a:ext cx="16596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네이티브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" y="5806440"/>
            <a:ext cx="4023360" cy="0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황성호 (kevin.sungho@opasnet.co.kr)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" y="6236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 · Convergence Software &amp; IT Solution Specialist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326880" y="1005840"/>
            <a:ext cx="868680" cy="868680"/>
          </a:xfrm>
          <a:prstGeom prst="ellipse">
            <a:avLst/>
          </a:prstGeom>
          <a:solidFill>
            <a:srgbClr val="4A5568"/>
          </a:solidFill>
          <a:ln/>
        </p:spPr>
      </p:sp>
      <p:pic>
        <p:nvPicPr>
          <p:cNvPr id="19" name="Image 0" descr="/home/claude/build/icons/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050" y="1223010"/>
            <a:ext cx="434340" cy="4343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9544050" y="19431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생산현장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 / PLC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/ 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네트워크 운용관리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761220" y="1874520"/>
            <a:ext cx="914" cy="960120"/>
          </a:xfrm>
          <a:prstGeom prst="line">
            <a:avLst/>
          </a:prstGeom>
          <a:noFill/>
          <a:ln w="25400">
            <a:solidFill>
              <a:srgbClr val="8892C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9326880" y="288036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1" descr="/home/claude/build/icons/kaf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4050" y="3097530"/>
            <a:ext cx="434340" cy="43434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9904887" y="3840480"/>
            <a:ext cx="1216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Confluent Kafka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9761220" y="3749040"/>
            <a:ext cx="914" cy="960120"/>
          </a:xfrm>
          <a:prstGeom prst="line">
            <a:avLst/>
          </a:prstGeom>
          <a:noFill/>
          <a:ln w="25400">
            <a:solidFill>
              <a:srgbClr val="8892C0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9326880" y="4754880"/>
            <a:ext cx="868680" cy="868680"/>
          </a:xfrm>
          <a:prstGeom prst="ellipse">
            <a:avLst/>
          </a:prstGeom>
          <a:solidFill>
            <a:srgbClr val="E07A1F"/>
          </a:solidFill>
          <a:ln/>
        </p:spPr>
      </p:sp>
      <p:pic>
        <p:nvPicPr>
          <p:cNvPr id="27" name="Image 2" descr="/home/claude/build/icons/splu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4050" y="4972050"/>
            <a:ext cx="434340" cy="43434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561531" y="55321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Splunk Enterprise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8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68712" y="219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과제와 솔루션 가치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현장의 데이터 이슈를 RHOCP 기반 Kafka·Splunk 통합 플랫폼으로 해결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7282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build/icons/gate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1851660"/>
            <a:ext cx="301752" cy="301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80160" y="1417320"/>
            <a:ext cx="4160520" cy="1170432"/>
          </a:xfrm>
          <a:prstGeom prst="roundRect">
            <a:avLst>
              <a:gd name="adj" fmla="val 7031"/>
            </a:avLst>
          </a:prstGeom>
          <a:solidFill>
            <a:srgbClr val="F4F5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325880" y="1417320"/>
            <a:ext cx="4069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이기종 설비·프로토콜(OPC-UA/MQTT/Modbus 등)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파편화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4904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 POINT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532120" y="2002536"/>
            <a:ext cx="45720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080760" y="1417320"/>
            <a:ext cx="5577840" cy="1170432"/>
          </a:xfrm>
          <a:prstGeom prst="roundRect">
            <a:avLst>
              <a:gd name="adj" fmla="val 703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126480" y="1417320"/>
            <a:ext cx="5486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Connect 기반 표준 통합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(Source Connector → Kafka Topic 일원화)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4904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B3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 VALUE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02920" y="30266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home/claude/build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" y="3150108"/>
            <a:ext cx="301752" cy="30175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280160" y="2715768"/>
            <a:ext cx="4160520" cy="1170432"/>
          </a:xfrm>
          <a:prstGeom prst="roundRect">
            <a:avLst>
              <a:gd name="adj" fmla="val 7031"/>
            </a:avLst>
          </a:prstGeom>
          <a:solidFill>
            <a:srgbClr val="F4F5F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325880" y="2715768"/>
            <a:ext cx="4069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이상 징후 탐지 및 초기 대응 지연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1417320" y="2788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 POINT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532120" y="3300984"/>
            <a:ext cx="45720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080760" y="2715768"/>
            <a:ext cx="5577840" cy="1170432"/>
          </a:xfrm>
          <a:prstGeom prst="roundRect">
            <a:avLst>
              <a:gd name="adj" fmla="val 703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6126480" y="2715768"/>
            <a:ext cx="5486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ksqlDB 실시간 Stream 처리 + Splunk 알림으로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감지·대응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217920" y="2788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B3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 VALUE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02920" y="43251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2" descr="/home/claude/build/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" y="4448556"/>
            <a:ext cx="301752" cy="30175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280160" y="4014216"/>
            <a:ext cx="4160520" cy="1170432"/>
          </a:xfrm>
          <a:prstGeom prst="roundRect">
            <a:avLst>
              <a:gd name="adj" fmla="val 7031"/>
            </a:avLst>
          </a:prstGeom>
          <a:solidFill>
            <a:srgbClr val="F4F5F8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1325880" y="4014216"/>
            <a:ext cx="4069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부서/시스템 별 </a:t>
            </a:r>
            <a:r>
              <a:rPr lang="en-US" sz="1150" dirty="0" err="1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silo,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통합 분석 어려움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1417320" y="40873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 POINT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532120" y="4599432"/>
            <a:ext cx="45720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6080760" y="4014216"/>
            <a:ext cx="5577840" cy="1170432"/>
          </a:xfrm>
          <a:prstGeom prst="roundRect">
            <a:avLst>
              <a:gd name="adj" fmla="val 703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31" name="Text 26"/>
          <p:cNvSpPr txBox="1"/>
          <p:nvPr/>
        </p:nvSpPr>
        <p:spPr>
          <a:xfrm>
            <a:off x="6126480" y="4014216"/>
            <a:ext cx="5486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단일 데이터 허브 + Splunk 통합 분석/대시보드로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가시성 확보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6217920" y="40873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B3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 VALUE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502920" y="5623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3" descr="/home/claude/build/icons/ap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" y="5747004"/>
            <a:ext cx="301752" cy="301752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1280160" y="5312664"/>
            <a:ext cx="4160520" cy="1170432"/>
          </a:xfrm>
          <a:prstGeom prst="roundRect">
            <a:avLst>
              <a:gd name="adj" fmla="val 7031"/>
            </a:avLst>
          </a:prstGeom>
          <a:solidFill>
            <a:srgbClr val="F4F5F8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1325880" y="5312664"/>
            <a:ext cx="4069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모니터링·분석 Application 개발 시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접근 구조가 복잡</a:t>
            </a:r>
            <a:endParaRPr lang="en-US" sz="1150" dirty="0"/>
          </a:p>
        </p:txBody>
      </p:sp>
      <p:sp>
        <p:nvSpPr>
          <p:cNvPr id="37" name="Text 31"/>
          <p:cNvSpPr txBox="1"/>
          <p:nvPr/>
        </p:nvSpPr>
        <p:spPr>
          <a:xfrm>
            <a:off x="1417320" y="5385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 POINT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5532120" y="5897880"/>
            <a:ext cx="45720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9" name="Shape 33"/>
          <p:cNvSpPr/>
          <p:nvPr/>
        </p:nvSpPr>
        <p:spPr>
          <a:xfrm>
            <a:off x="6080760" y="5312664"/>
            <a:ext cx="5577840" cy="1170432"/>
          </a:xfrm>
          <a:prstGeom prst="roundRect">
            <a:avLst>
              <a:gd name="adj" fmla="val 703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40" name="Text 34"/>
          <p:cNvSpPr txBox="1"/>
          <p:nvPr/>
        </p:nvSpPr>
        <p:spPr>
          <a:xfrm>
            <a:off x="6126480" y="5312664"/>
            <a:ext cx="5486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Native Client(Java/Python/Go)로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Topic 직접 구독, 신속한 App 개발</a:t>
            </a:r>
            <a:endParaRPr lang="en-US" sz="1150" dirty="0"/>
          </a:p>
        </p:txBody>
      </p:sp>
      <p:sp>
        <p:nvSpPr>
          <p:cNvPr id="41" name="Text 35"/>
          <p:cNvSpPr txBox="1"/>
          <p:nvPr/>
        </p:nvSpPr>
        <p:spPr>
          <a:xfrm>
            <a:off x="6217920" y="5385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B3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 VALUE</a:t>
            </a:r>
            <a:endParaRPr lang="en-US" sz="850" dirty="0"/>
          </a:p>
        </p:txBody>
      </p:sp>
      <p:sp>
        <p:nvSpPr>
          <p:cNvPr id="42" name="Text 36"/>
          <p:cNvSpPr txBox="1"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</a:t>
            </a:r>
            <a:endParaRPr lang="en-US" sz="900" dirty="0"/>
          </a:p>
        </p:txBody>
      </p:sp>
      <p:sp>
        <p:nvSpPr>
          <p:cNvPr id="43" name="Text 37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68712" y="219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개념도 (Concept Overview)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생산현장 데이터를 실시간으로 수집 · 처리 · 분석하여 현업까지 전달하는 End-to-End 플랫폼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8745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3564" y="2130552"/>
            <a:ext cx="621792" cy="621792"/>
          </a:xfrm>
          <a:prstGeom prst="ellipse">
            <a:avLst/>
          </a:prstGeom>
          <a:solidFill>
            <a:srgbClr val="4A5568"/>
          </a:solidFill>
          <a:ln/>
        </p:spPr>
      </p:sp>
      <p:pic>
        <p:nvPicPr>
          <p:cNvPr id="8" name="Image 0" descr="/home/claude/build/icons/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467" y="2270455"/>
            <a:ext cx="341986" cy="34198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807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생산현장</a:t>
            </a: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</a:t>
            </a:r>
            <a:r>
              <a:rPr lang="en-US" altLang="ko-KR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/ PLC / </a:t>
            </a:r>
            <a:r>
              <a:rPr lang="en-US" sz="9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ko-KR" alt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</a:t>
            </a:r>
            <a:r>
              <a:rPr lang="en-US" altLang="ko-KR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368296" y="2788920"/>
            <a:ext cx="384048" cy="0"/>
          </a:xfrm>
          <a:prstGeom prst="line">
            <a:avLst/>
          </a:prstGeom>
          <a:noFill/>
          <a:ln w="285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788920" y="1965960"/>
            <a:ext cx="18745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15284" y="2130552"/>
            <a:ext cx="621792" cy="621792"/>
          </a:xfrm>
          <a:prstGeom prst="ellipse">
            <a:avLst/>
          </a:prstGeom>
          <a:solidFill>
            <a:srgbClr val="4A5568"/>
          </a:solidFill>
          <a:ln/>
        </p:spPr>
      </p:sp>
      <p:pic>
        <p:nvPicPr>
          <p:cNvPr id="14" name="Image 1" descr="/home/claude/build/icons/e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5187" y="2270455"/>
            <a:ext cx="341986" cy="34198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788920" y="2807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83464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Collector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Protocol Adapter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700016" y="2788920"/>
            <a:ext cx="384048" cy="0"/>
          </a:xfrm>
          <a:prstGeom prst="line">
            <a:avLst/>
          </a:prstGeom>
          <a:noFill/>
          <a:ln w="285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120640" y="1965960"/>
            <a:ext cx="18745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47004" y="21305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build/icons/kafk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907" y="2270455"/>
            <a:ext cx="341986" cy="34198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120640" y="2807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저장</a:t>
            </a: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Routing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16636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Confluent Kafka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(Streaming)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7031736" y="2788920"/>
            <a:ext cx="384048" cy="0"/>
          </a:xfrm>
          <a:prstGeom prst="line">
            <a:avLst/>
          </a:prstGeom>
          <a:noFill/>
          <a:ln w="285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7452360" y="1965960"/>
            <a:ext cx="18745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078724" y="2130552"/>
            <a:ext cx="621792" cy="621792"/>
          </a:xfrm>
          <a:prstGeom prst="ellipse">
            <a:avLst/>
          </a:prstGeom>
          <a:solidFill>
            <a:srgbClr val="E07A1F"/>
          </a:solidFill>
          <a:ln/>
        </p:spPr>
      </p:sp>
      <p:pic>
        <p:nvPicPr>
          <p:cNvPr id="26" name="Image 3" descr="/home/claude/build/icons/splu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8627" y="2270455"/>
            <a:ext cx="341986" cy="34198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52360" y="2807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altLang="ko-KR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749808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Splunk Enterprise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(Analytics)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9363456" y="2788920"/>
            <a:ext cx="384048" cy="0"/>
          </a:xfrm>
          <a:prstGeom prst="line">
            <a:avLst/>
          </a:prstGeom>
          <a:noFill/>
          <a:ln w="285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9784080" y="1965960"/>
            <a:ext cx="18745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10410444" y="2130552"/>
            <a:ext cx="621792" cy="62179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2" name="Image 4" descr="/home/claude/build/icons/moni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0347" y="2270455"/>
            <a:ext cx="341986" cy="34198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784080" y="28072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982980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· 장애진단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개발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5047488" y="3931920"/>
            <a:ext cx="4352544" cy="502920"/>
          </a:xfrm>
          <a:prstGeom prst="roundRect">
            <a:avLst>
              <a:gd name="adj" fmla="val 14545"/>
            </a:avLst>
          </a:prstGeom>
          <a:solidFill>
            <a:srgbClr val="12163F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5047488" y="3931920"/>
            <a:ext cx="4352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RHOCP (Red Hat OpenShift Container Platform) 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컨테이너 오케스트레이션 인프라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 flipV="1">
            <a:off x="6172200" y="3648456"/>
            <a:ext cx="0" cy="283464"/>
          </a:xfrm>
          <a:prstGeom prst="line">
            <a:avLst/>
          </a:prstGeom>
          <a:noFill/>
          <a:ln w="19050">
            <a:solidFill>
              <a:srgbClr val="12163F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 flipV="1">
            <a:off x="8275320" y="3648456"/>
            <a:ext cx="0" cy="283464"/>
          </a:xfrm>
          <a:prstGeom prst="line">
            <a:avLst/>
          </a:prstGeom>
          <a:noFill/>
          <a:ln w="19050">
            <a:solidFill>
              <a:srgbClr val="12163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48006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One Platform, Package Delivery : RHOCP 위에 Confluent Platform for Kubernetes(CFK)와 Splunk Enterprise를 함께 구축하여, 수집부터 분석·활용까지 하나의 인프라에서 일관되게 제공합니다.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 Confidential</a:t>
            </a:r>
            <a:endParaRPr lang="en-US" sz="900" dirty="0"/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950BC1FC-9382-4BBA-9647-EDA0E9442B64}"/>
              </a:ext>
            </a:extLst>
          </p:cNvPr>
          <p:cNvCxnSpPr>
            <a:stCxn id="18" idx="0"/>
            <a:endCxn id="30" idx="0"/>
          </p:cNvCxnSpPr>
          <p:nvPr/>
        </p:nvCxnSpPr>
        <p:spPr>
          <a:xfrm rot="5400000" flipH="1" flipV="1">
            <a:off x="8389620" y="-365760"/>
            <a:ext cx="12700" cy="4663440"/>
          </a:xfrm>
          <a:prstGeom prst="bentConnector3">
            <a:avLst>
              <a:gd name="adj1" fmla="val 1800000"/>
            </a:avLst>
          </a:prstGeom>
          <a:noFill/>
          <a:ln w="28575">
            <a:solidFill>
              <a:srgbClr val="9CA3AF"/>
            </a:solidFill>
            <a:prstDash val="solid"/>
            <a:tailEnd type="triangle"/>
          </a:ln>
        </p:spPr>
      </p:cxnSp>
      <p:sp>
        <p:nvSpPr>
          <p:cNvPr id="44" name="Text 22">
            <a:extLst>
              <a:ext uri="{FF2B5EF4-FFF2-40B4-BE49-F238E27FC236}">
                <a16:creationId xmlns:a16="http://schemas.microsoft.com/office/drawing/2014/main" id="{EAAA295A-BCC5-4C8D-9FD7-7BDE44F2556C}"/>
              </a:ext>
            </a:extLst>
          </p:cNvPr>
          <p:cNvSpPr txBox="1"/>
          <p:nvPr/>
        </p:nvSpPr>
        <p:spPr>
          <a:xfrm>
            <a:off x="7342632" y="1353311"/>
            <a:ext cx="2212848" cy="322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ctr">
              <a:lnSpc>
                <a:spcPct val="105000"/>
              </a:lnSpc>
              <a:buNone/>
              <a:defRPr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r>
              <a:rPr lang="ko-KR" altLang="en-US" dirty="0"/>
              <a:t>통계 </a:t>
            </a:r>
            <a:r>
              <a:rPr lang="en-US" altLang="ko-KR" dirty="0"/>
              <a:t>/ </a:t>
            </a:r>
            <a:r>
              <a:rPr lang="ko-KR" altLang="en-US" dirty="0"/>
              <a:t>장애 이벤트 실시간 감시</a:t>
            </a:r>
            <a:endParaRPr lang="en-US" dirty="0"/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1FC9ECA2-CC36-4141-ACEB-9E26CF24AEF5}"/>
              </a:ext>
            </a:extLst>
          </p:cNvPr>
          <p:cNvCxnSpPr>
            <a:stCxn id="30" idx="2"/>
            <a:endCxn id="6" idx="2"/>
          </p:cNvCxnSpPr>
          <p:nvPr/>
        </p:nvCxnSpPr>
        <p:spPr>
          <a:xfrm rot="5400000">
            <a:off x="6057900" y="-1051560"/>
            <a:ext cx="12700" cy="9326880"/>
          </a:xfrm>
          <a:prstGeom prst="bentConnector3">
            <a:avLst>
              <a:gd name="adj1" fmla="val 8355220"/>
            </a:avLst>
          </a:prstGeom>
          <a:noFill/>
          <a:ln w="28575">
            <a:solidFill>
              <a:srgbClr val="9CA3AF"/>
            </a:solidFill>
            <a:prstDash val="solid"/>
            <a:tailEnd type="triangle"/>
          </a:ln>
        </p:spPr>
      </p:cxnSp>
      <p:sp>
        <p:nvSpPr>
          <p:cNvPr id="48" name="Text 22">
            <a:extLst>
              <a:ext uri="{FF2B5EF4-FFF2-40B4-BE49-F238E27FC236}">
                <a16:creationId xmlns:a16="http://schemas.microsoft.com/office/drawing/2014/main" id="{F5D7F0E3-03D8-4C5F-B16A-6A1E3972A187}"/>
              </a:ext>
            </a:extLst>
          </p:cNvPr>
          <p:cNvSpPr txBox="1"/>
          <p:nvPr/>
        </p:nvSpPr>
        <p:spPr>
          <a:xfrm>
            <a:off x="1645920" y="4372839"/>
            <a:ext cx="2212848" cy="270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ctr">
              <a:lnSpc>
                <a:spcPct val="105000"/>
              </a:lnSpc>
              <a:buNone/>
              <a:defRPr sz="95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r>
              <a:rPr lang="en-US" altLang="ko-KR" dirty="0"/>
              <a:t>Feedback</a:t>
            </a:r>
            <a:r>
              <a:rPr lang="ko-KR" altLang="en-US" dirty="0"/>
              <a:t> 개선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68712" y="219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아키텍처 (Solution Architecture)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RHOCP 물리 인프라 위에 Confluent Platform과 Splunk Enterprise를 논리적으로 배치한 통합 구조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EEF0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생산현장 (OT Network)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261872"/>
            <a:ext cx="438912" cy="438912"/>
          </a:xfrm>
          <a:prstGeom prst="ellipse">
            <a:avLst/>
          </a:prstGeom>
          <a:solidFill>
            <a:srgbClr val="4A5568"/>
          </a:solidFill>
          <a:ln/>
        </p:spPr>
      </p:sp>
      <p:pic>
        <p:nvPicPr>
          <p:cNvPr id="9" name="Image 0" descr="/home/claude/build/icons/sen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715" y="1360627"/>
            <a:ext cx="241402" cy="2414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639312" y="117043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/ PLC / </a:t>
            </a:r>
            <a:r>
              <a:rPr lang="en-US" sz="950" dirty="0" err="1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제어기</a:t>
            </a: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ko-KR" alt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</a:t>
            </a:r>
            <a:r>
              <a:rPr lang="en-US" altLang="ko-KR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355080" y="1261872"/>
            <a:ext cx="438912" cy="438912"/>
          </a:xfrm>
          <a:prstGeom prst="ellipse">
            <a:avLst/>
          </a:prstGeom>
          <a:solidFill>
            <a:srgbClr val="4A5568"/>
          </a:solidFill>
          <a:ln/>
        </p:spPr>
      </p:sp>
      <p:pic>
        <p:nvPicPr>
          <p:cNvPr id="12" name="Image 1" descr="/home/claude/build/icons/e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835" y="136062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85432" y="117043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Gateway (Protocol Adapter)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89904" y="1792224"/>
            <a:ext cx="0" cy="420624"/>
          </a:xfrm>
          <a:prstGeom prst="line">
            <a:avLst/>
          </a:prstGeom>
          <a:noFill/>
          <a:ln w="285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Shape 11"/>
          <p:cNvSpPr/>
          <p:nvPr/>
        </p:nvSpPr>
        <p:spPr>
          <a:xfrm>
            <a:off x="457200" y="2194560"/>
            <a:ext cx="11247120" cy="2468880"/>
          </a:xfrm>
          <a:prstGeom prst="roundRect">
            <a:avLst>
              <a:gd name="adj" fmla="val 3704"/>
            </a:avLst>
          </a:prstGeom>
          <a:solidFill>
            <a:srgbClr val="FBFBFD"/>
          </a:solidFill>
          <a:ln w="19050">
            <a:solidFill>
              <a:srgbClr val="C00000"/>
            </a:solidFill>
            <a:prstDash val="dash"/>
          </a:ln>
        </p:spPr>
      </p:sp>
      <p:sp>
        <p:nvSpPr>
          <p:cNvPr id="16" name="Text 12"/>
          <p:cNvSpPr txBox="1"/>
          <p:nvPr/>
        </p:nvSpPr>
        <p:spPr>
          <a:xfrm>
            <a:off x="621792" y="22585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RHOCP Cluster  (Red Hat OpenShift Container Platform — 물리 인프라 / 컨테이너 오케스트레이션)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549640" y="2276856"/>
            <a:ext cx="932688" cy="219456"/>
          </a:xfrm>
          <a:prstGeom prst="roundRect">
            <a:avLst>
              <a:gd name="adj" fmla="val 25000"/>
            </a:avLst>
          </a:prstGeom>
          <a:solidFill>
            <a:srgbClr val="37415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549640" y="22768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 Node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9555480" y="2276856"/>
            <a:ext cx="932688" cy="219456"/>
          </a:xfrm>
          <a:prstGeom prst="roundRect">
            <a:avLst>
              <a:gd name="adj" fmla="val 25000"/>
            </a:avLst>
          </a:prstGeom>
          <a:solidFill>
            <a:srgbClr val="37415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9555480" y="22768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 Node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10561320" y="2276856"/>
            <a:ext cx="932688" cy="219456"/>
          </a:xfrm>
          <a:prstGeom prst="roundRect">
            <a:avLst>
              <a:gd name="adj" fmla="val 25000"/>
            </a:avLst>
          </a:prstGeom>
          <a:solidFill>
            <a:srgbClr val="37415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10561320" y="22768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Node ×N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777240" y="2578608"/>
            <a:ext cx="6035040" cy="1920240"/>
          </a:xfrm>
          <a:prstGeom prst="roundRect">
            <a:avLst>
              <a:gd name="adj" fmla="val 4286"/>
            </a:avLst>
          </a:prstGeom>
          <a:solidFill>
            <a:srgbClr val="EEF0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14400" y="2642616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Namespace: kafka — Confluent Platform for Kubernetes (CFK)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960120" y="2926080"/>
            <a:ext cx="1280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CEE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408176" y="3017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2" descr="/home/claude/build/icons/conn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587" y="3103931"/>
            <a:ext cx="211226" cy="21122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87552" y="34290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Connect</a:t>
            </a:r>
            <a:endParaRPr lang="en-US" sz="7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(Source)</a:t>
            </a:r>
            <a:endParaRPr lang="en-US" sz="780" dirty="0"/>
          </a:p>
        </p:txBody>
      </p:sp>
      <p:sp>
        <p:nvSpPr>
          <p:cNvPr id="29" name="Shape 24"/>
          <p:cNvSpPr/>
          <p:nvPr/>
        </p:nvSpPr>
        <p:spPr>
          <a:xfrm>
            <a:off x="2377440" y="2926080"/>
            <a:ext cx="1280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CEE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825496" y="3017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3" descr="/home/claude/build/icons/kafk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1907" y="3103931"/>
            <a:ext cx="211226" cy="21122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2404872" y="34290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Broker</a:t>
            </a:r>
            <a:endParaRPr lang="en-US" sz="7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Topic / Partition</a:t>
            </a:r>
            <a:endParaRPr lang="en-US" sz="780" dirty="0"/>
          </a:p>
        </p:txBody>
      </p:sp>
      <p:sp>
        <p:nvSpPr>
          <p:cNvPr id="33" name="Shape 27"/>
          <p:cNvSpPr/>
          <p:nvPr/>
        </p:nvSpPr>
        <p:spPr>
          <a:xfrm>
            <a:off x="3794760" y="2926080"/>
            <a:ext cx="1280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CEE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242816" y="3017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4" descr="/home/claude/build/icons/stre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9227" y="3103931"/>
            <a:ext cx="211226" cy="21122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3822192" y="34290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ksqlDB</a:t>
            </a:r>
            <a:endParaRPr lang="en-US" sz="7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(Stream Processing)</a:t>
            </a:r>
            <a:endParaRPr lang="en-US" sz="780" dirty="0"/>
          </a:p>
        </p:txBody>
      </p:sp>
      <p:sp>
        <p:nvSpPr>
          <p:cNvPr id="37" name="Shape 30"/>
          <p:cNvSpPr/>
          <p:nvPr/>
        </p:nvSpPr>
        <p:spPr>
          <a:xfrm>
            <a:off x="5212080" y="2926080"/>
            <a:ext cx="1280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CEE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5660136" y="3017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9" name="Image 5" descr="/home/claude/build/icons/conn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6547" y="3103931"/>
            <a:ext cx="211226" cy="211226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5239512" y="34290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Connect</a:t>
            </a:r>
            <a:endParaRPr lang="en-US" sz="7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(Sink)</a:t>
            </a:r>
            <a:endParaRPr lang="en-US" sz="780" dirty="0"/>
          </a:p>
        </p:txBody>
      </p:sp>
      <p:sp>
        <p:nvSpPr>
          <p:cNvPr id="41" name="Shape 33"/>
          <p:cNvSpPr/>
          <p:nvPr/>
        </p:nvSpPr>
        <p:spPr>
          <a:xfrm>
            <a:off x="2240280" y="3374136"/>
            <a:ext cx="137160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2" name="Shape 34"/>
          <p:cNvSpPr/>
          <p:nvPr/>
        </p:nvSpPr>
        <p:spPr>
          <a:xfrm>
            <a:off x="3657600" y="3374136"/>
            <a:ext cx="137160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3" name="Shape 35"/>
          <p:cNvSpPr/>
          <p:nvPr/>
        </p:nvSpPr>
        <p:spPr>
          <a:xfrm>
            <a:off x="5074920" y="3374136"/>
            <a:ext cx="137160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4" name="Shape 36"/>
          <p:cNvSpPr/>
          <p:nvPr/>
        </p:nvSpPr>
        <p:spPr>
          <a:xfrm>
            <a:off x="2377440" y="4019325"/>
            <a:ext cx="1280160" cy="226711"/>
          </a:xfrm>
          <a:prstGeom prst="roundRect">
            <a:avLst>
              <a:gd name="adj" fmla="val 20000"/>
            </a:avLst>
          </a:prstGeom>
          <a:solidFill>
            <a:srgbClr val="12163F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2377440" y="4019325"/>
            <a:ext cx="1280160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Schema Registry</a:t>
            </a:r>
            <a:endParaRPr lang="en-US" sz="760" dirty="0"/>
          </a:p>
        </p:txBody>
      </p:sp>
      <p:sp>
        <p:nvSpPr>
          <p:cNvPr id="46" name="Shape 38"/>
          <p:cNvSpPr/>
          <p:nvPr/>
        </p:nvSpPr>
        <p:spPr>
          <a:xfrm>
            <a:off x="3017520" y="3822191"/>
            <a:ext cx="0" cy="197133"/>
          </a:xfrm>
          <a:prstGeom prst="line">
            <a:avLst/>
          </a:prstGeom>
          <a:noFill/>
          <a:ln w="15875">
            <a:solidFill>
              <a:srgbClr val="9AA6D6"/>
            </a:solidFill>
            <a:prstDash val="solid"/>
            <a:tailEnd type="triangle"/>
          </a:ln>
        </p:spPr>
      </p:sp>
      <p:sp>
        <p:nvSpPr>
          <p:cNvPr id="47" name="Shape 39"/>
          <p:cNvSpPr/>
          <p:nvPr/>
        </p:nvSpPr>
        <p:spPr>
          <a:xfrm>
            <a:off x="7086600" y="2578608"/>
            <a:ext cx="4480560" cy="1920240"/>
          </a:xfrm>
          <a:prstGeom prst="roundRect">
            <a:avLst>
              <a:gd name="adj" fmla="val 4286"/>
            </a:avLst>
          </a:prstGeom>
          <a:solidFill>
            <a:srgbClr val="FCF1E6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7223760" y="26426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Namespace: splunk — Splunk Enterprise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7269480" y="2926080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0C79A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7379208" y="3035808"/>
            <a:ext cx="384048" cy="384048"/>
          </a:xfrm>
          <a:prstGeom prst="ellipse">
            <a:avLst/>
          </a:prstGeom>
          <a:solidFill>
            <a:srgbClr val="E07A1F"/>
          </a:solidFill>
          <a:ln/>
        </p:spPr>
      </p:sp>
      <p:pic>
        <p:nvPicPr>
          <p:cNvPr id="51" name="Image 6" descr="/home/claude/build/icons/d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5619" y="3122219"/>
            <a:ext cx="211226" cy="211226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7863840" y="292608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7A3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Indexer Cluster (저장/색인)</a:t>
            </a:r>
            <a:endParaRPr lang="en-US" sz="860" dirty="0"/>
          </a:p>
        </p:txBody>
      </p:sp>
      <p:sp>
        <p:nvSpPr>
          <p:cNvPr id="53" name="Shape 44"/>
          <p:cNvSpPr/>
          <p:nvPr/>
        </p:nvSpPr>
        <p:spPr>
          <a:xfrm>
            <a:off x="7269480" y="3657600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0C79A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7379208" y="3767328"/>
            <a:ext cx="384048" cy="384048"/>
          </a:xfrm>
          <a:prstGeom prst="ellipse">
            <a:avLst/>
          </a:prstGeom>
          <a:solidFill>
            <a:srgbClr val="E07A1F"/>
          </a:solidFill>
          <a:ln/>
        </p:spPr>
      </p:sp>
      <p:pic>
        <p:nvPicPr>
          <p:cNvPr id="55" name="Image 7" descr="/home/claude/build/icons/sear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5619" y="3853739"/>
            <a:ext cx="211226" cy="211226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7863840" y="365760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7A3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 Head (검색/대시보드)</a:t>
            </a:r>
            <a:endParaRPr lang="en-US" sz="860" dirty="0"/>
          </a:p>
        </p:txBody>
      </p:sp>
      <p:sp>
        <p:nvSpPr>
          <p:cNvPr id="57" name="Shape 47"/>
          <p:cNvSpPr/>
          <p:nvPr/>
        </p:nvSpPr>
        <p:spPr>
          <a:xfrm>
            <a:off x="9326880" y="3529584"/>
            <a:ext cx="914" cy="128016"/>
          </a:xfrm>
          <a:prstGeom prst="line">
            <a:avLst/>
          </a:prstGeom>
          <a:noFill/>
          <a:ln w="22225">
            <a:solidFill>
              <a:srgbClr val="D98A3D"/>
            </a:solidFill>
            <a:prstDash val="solid"/>
            <a:tailEnd type="triangle"/>
          </a:ln>
        </p:spPr>
      </p:sp>
      <p:sp>
        <p:nvSpPr>
          <p:cNvPr id="58" name="Shape 48"/>
          <p:cNvSpPr/>
          <p:nvPr/>
        </p:nvSpPr>
        <p:spPr>
          <a:xfrm flipV="1">
            <a:off x="6492240" y="3227832"/>
            <a:ext cx="777240" cy="146304"/>
          </a:xfrm>
          <a:prstGeom prst="line">
            <a:avLst/>
          </a:prstGeom>
          <a:noFill/>
          <a:ln w="22225">
            <a:solidFill>
              <a:srgbClr val="6B7280"/>
            </a:solidFill>
            <a:prstDash val="dash"/>
            <a:tailEnd type="triangle"/>
          </a:ln>
        </p:spPr>
      </p:sp>
      <p:sp>
        <p:nvSpPr>
          <p:cNvPr id="59" name="Text 49"/>
          <p:cNvSpPr txBox="1"/>
          <p:nvPr/>
        </p:nvSpPr>
        <p:spPr>
          <a:xfrm>
            <a:off x="6684479" y="284378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Sink Connector</a:t>
            </a:r>
            <a:endParaRPr lang="en-US" sz="6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HEC</a:t>
            </a:r>
            <a:endParaRPr lang="en-US" sz="680" dirty="0"/>
          </a:p>
        </p:txBody>
      </p:sp>
      <p:sp>
        <p:nvSpPr>
          <p:cNvPr id="60" name="Shape 50"/>
          <p:cNvSpPr/>
          <p:nvPr/>
        </p:nvSpPr>
        <p:spPr>
          <a:xfrm>
            <a:off x="9326880" y="4509220"/>
            <a:ext cx="0" cy="428540"/>
          </a:xfrm>
          <a:prstGeom prst="line">
            <a:avLst/>
          </a:prstGeom>
          <a:noFill/>
          <a:ln w="285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1" name="Shape 51"/>
          <p:cNvSpPr/>
          <p:nvPr/>
        </p:nvSpPr>
        <p:spPr>
          <a:xfrm flipH="1">
            <a:off x="3837204" y="4509220"/>
            <a:ext cx="0" cy="492548"/>
          </a:xfrm>
          <a:prstGeom prst="line">
            <a:avLst/>
          </a:prstGeom>
          <a:noFill/>
          <a:ln w="285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2" name="Shape 52"/>
          <p:cNvSpPr/>
          <p:nvPr/>
        </p:nvSpPr>
        <p:spPr>
          <a:xfrm>
            <a:off x="7459352" y="4937760"/>
            <a:ext cx="3657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63" name="Shape 53"/>
          <p:cNvSpPr/>
          <p:nvPr/>
        </p:nvSpPr>
        <p:spPr>
          <a:xfrm>
            <a:off x="7596512" y="5065776"/>
            <a:ext cx="457200" cy="457200"/>
          </a:xfrm>
          <a:prstGeom prst="ellipse">
            <a:avLst/>
          </a:prstGeom>
          <a:solidFill>
            <a:srgbClr val="E07A1F"/>
          </a:solidFill>
          <a:ln/>
        </p:spPr>
      </p:sp>
      <p:pic>
        <p:nvPicPr>
          <p:cNvPr id="64" name="Image 8" descr="/home/claude/build/icons/monit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9382" y="5168646"/>
            <a:ext cx="251460" cy="251460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8145152" y="493776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Splunk Dashboard (모니터링/알림)</a:t>
            </a:r>
            <a:endParaRPr lang="en-US" sz="950" dirty="0"/>
          </a:p>
        </p:txBody>
      </p:sp>
      <p:sp>
        <p:nvSpPr>
          <p:cNvPr id="66" name="Shape 55"/>
          <p:cNvSpPr/>
          <p:nvPr/>
        </p:nvSpPr>
        <p:spPr>
          <a:xfrm>
            <a:off x="1584332" y="4974336"/>
            <a:ext cx="3931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67" name="Shape 56"/>
          <p:cNvSpPr/>
          <p:nvPr/>
        </p:nvSpPr>
        <p:spPr>
          <a:xfrm>
            <a:off x="1721492" y="5102352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8" name="Image 9" descr="/home/claude/build/icons/ap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4362" y="5205222"/>
            <a:ext cx="251460" cy="251460"/>
          </a:xfrm>
          <a:prstGeom prst="rect">
            <a:avLst/>
          </a:prstGeom>
        </p:spPr>
      </p:pic>
      <p:sp>
        <p:nvSpPr>
          <p:cNvPr id="69" name="Text 57"/>
          <p:cNvSpPr txBox="1"/>
          <p:nvPr/>
        </p:nvSpPr>
        <p:spPr>
          <a:xfrm>
            <a:off x="2270132" y="4974336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 Application (Kafka Native Client 직접구독)</a:t>
            </a:r>
            <a:endParaRPr lang="en-US" sz="950" dirty="0"/>
          </a:p>
        </p:txBody>
      </p:sp>
      <p:sp>
        <p:nvSpPr>
          <p:cNvPr id="70" name="Text 58"/>
          <p:cNvSpPr txBox="1"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</a:t>
            </a:r>
            <a:endParaRPr lang="en-US" sz="900" dirty="0"/>
          </a:p>
        </p:txBody>
      </p:sp>
      <p:sp>
        <p:nvSpPr>
          <p:cNvPr id="71" name="Text 59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68712" y="219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RHCOS/RHOCP 보안 강점 (vs 기존 Linux/VM)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불변(Immutable) 운영체제와 선언적 클러스터 관리로 공격표면을 최소화하고 보안 일관성을 자동 확보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298448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RHCOS(Red Hat Enterprise Linux CoreOS)는 컨테이너 실행에 특화된 불변 OS로, 기존 범용 Linux/VM처럼 자유롭게 변경 가능한 구조가 아니라 OpenShift 제어 플레인이 상태를 선언적으로 관리 · 자동 복구합니다.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196596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99339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영역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993392"/>
            <a:ext cx="443484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96312" y="1993392"/>
            <a:ext cx="4288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Linux / VM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1993392"/>
            <a:ext cx="48463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31152" y="1993392"/>
            <a:ext cx="4700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RHCOS / RHOCP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1965960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340864"/>
            <a:ext cx="1783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 구조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2423160" y="2340864"/>
            <a:ext cx="4434840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14600" y="2340864"/>
            <a:ext cx="4251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Mutable OS — 관리자가 임의로 패키지 설치/변경 가능,</a:t>
            </a:r>
            <a:endParaRPr lang="en-US" sz="8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서버마다 상태가 달라짐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6858000" y="2340864"/>
            <a:ext cx="4846320" cy="553212"/>
          </a:xfrm>
          <a:prstGeom prst="rect">
            <a:avLst/>
          </a:prstGeom>
          <a:solidFill>
            <a:srgbClr val="EEF0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2340864"/>
            <a:ext cx="46634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Immutable Filesystem(읽기전용) — rpm-ostree 기반</a:t>
            </a:r>
            <a:endParaRPr lang="en-US" sz="8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9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트랜잭션 이미지 교체, 임의 변경 원천 차단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457200" y="2894076"/>
            <a:ext cx="1965960" cy="553212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894076"/>
            <a:ext cx="1783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패치 / 업데이트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2423160" y="2894076"/>
            <a:ext cx="4434840" cy="553212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14600" y="2894076"/>
            <a:ext cx="4251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별 수동 패치 → 버전 드리프트,</a:t>
            </a:r>
            <a:endParaRPr lang="en-US" sz="8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누락 위험 상존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6858000" y="2894076"/>
            <a:ext cx="4846320" cy="553212"/>
          </a:xfrm>
          <a:prstGeom prst="rect">
            <a:avLst/>
          </a:prstGeom>
          <a:solidFill>
            <a:srgbClr val="EEF0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49440" y="2894076"/>
            <a:ext cx="46634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 Config Operator가 클러스터 전체를 원자적</a:t>
            </a:r>
            <a:endParaRPr lang="en-US" sz="8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9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(Atomic)으로 자동 업데이트, 실패 시 자동 롤백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457200" y="3447288"/>
            <a:ext cx="1965960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447288"/>
            <a:ext cx="1783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통제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2423160" y="3447288"/>
            <a:ext cx="4434840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14600" y="3447288"/>
            <a:ext cx="4251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 기반 개별 서버 접속 · 관리,</a:t>
            </a:r>
            <a:endParaRPr lang="en-US" sz="8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자격증명 유출 시 광범위 침해 가능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6858000" y="3447288"/>
            <a:ext cx="4846320" cy="553212"/>
          </a:xfrm>
          <a:prstGeom prst="rect">
            <a:avLst/>
          </a:prstGeom>
          <a:solidFill>
            <a:srgbClr val="EEF0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49440" y="3447288"/>
            <a:ext cx="46634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 SSH 접근 최소화, API/RBAC 기반 선언적 관리</a:t>
            </a:r>
            <a:endParaRPr lang="en-US" sz="8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9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전 구간 감사로그(Audit Log) 기록</a:t>
            </a:r>
            <a:endParaRPr lang="en-US" sz="890" dirty="0"/>
          </a:p>
        </p:txBody>
      </p:sp>
      <p:sp>
        <p:nvSpPr>
          <p:cNvPr id="32" name="Shape 30"/>
          <p:cNvSpPr/>
          <p:nvPr/>
        </p:nvSpPr>
        <p:spPr>
          <a:xfrm>
            <a:off x="457200" y="4000500"/>
            <a:ext cx="1965960" cy="553212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000500"/>
            <a:ext cx="1783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접근제어(MAC)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2423160" y="4000500"/>
            <a:ext cx="4434840" cy="553212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514600" y="4000500"/>
            <a:ext cx="4251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편의상 SELinux 비활성화 사례 다수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6858000" y="4000500"/>
            <a:ext cx="4846320" cy="553212"/>
          </a:xfrm>
          <a:prstGeom prst="rect">
            <a:avLst/>
          </a:prstGeom>
          <a:solidFill>
            <a:srgbClr val="EEF0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49440" y="4000500"/>
            <a:ext cx="46634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SELinux Enforcing 기본 강제 + Compliance Operator로</a:t>
            </a:r>
            <a:endParaRPr lang="en-US" sz="8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9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STIG/FedRAMP 등 규정 준수 자동 점검</a:t>
            </a:r>
            <a:endParaRPr lang="en-US" sz="890" dirty="0"/>
          </a:p>
        </p:txBody>
      </p:sp>
      <p:sp>
        <p:nvSpPr>
          <p:cNvPr id="38" name="Shape 36"/>
          <p:cNvSpPr/>
          <p:nvPr/>
        </p:nvSpPr>
        <p:spPr>
          <a:xfrm>
            <a:off x="457200" y="4553712"/>
            <a:ext cx="1965960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4553712"/>
            <a:ext cx="1783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 격리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2423160" y="4553712"/>
            <a:ext cx="4434840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514600" y="4553712"/>
            <a:ext cx="4251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VM/OS 단위 격리 위주,</a:t>
            </a:r>
            <a:endParaRPr lang="en-US" sz="8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권한 통제가 상대적으로 느슨</a:t>
            </a:r>
            <a:endParaRPr lang="en-US" sz="890" dirty="0"/>
          </a:p>
        </p:txBody>
      </p:sp>
      <p:sp>
        <p:nvSpPr>
          <p:cNvPr id="42" name="Shape 40"/>
          <p:cNvSpPr/>
          <p:nvPr/>
        </p:nvSpPr>
        <p:spPr>
          <a:xfrm>
            <a:off x="6858000" y="4553712"/>
            <a:ext cx="4846320" cy="553212"/>
          </a:xfrm>
          <a:prstGeom prst="rect">
            <a:avLst/>
          </a:prstGeom>
          <a:solidFill>
            <a:srgbClr val="EEF0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949440" y="4553712"/>
            <a:ext cx="46634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SCC(Security Context Constraints)로 Pod 별 최소 권한</a:t>
            </a:r>
            <a:endParaRPr lang="en-US" sz="8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9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(non-root) 강제, Namespace/cgroups/seccomp 다중 격리</a:t>
            </a:r>
            <a:endParaRPr lang="en-US" sz="890" dirty="0"/>
          </a:p>
        </p:txBody>
      </p:sp>
      <p:sp>
        <p:nvSpPr>
          <p:cNvPr id="44" name="Shape 42"/>
          <p:cNvSpPr/>
          <p:nvPr/>
        </p:nvSpPr>
        <p:spPr>
          <a:xfrm>
            <a:off x="457200" y="5106924"/>
            <a:ext cx="1965960" cy="553212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8640" y="5106924"/>
            <a:ext cx="1783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· 공급망 보안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2423160" y="5106924"/>
            <a:ext cx="4434840" cy="553212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514600" y="5106924"/>
            <a:ext cx="4251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 이미지 서명/스캔 체계가</a:t>
            </a:r>
            <a:endParaRPr lang="en-US" sz="8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표준화되지 않은 경우가 많음</a:t>
            </a:r>
            <a:endParaRPr lang="en-US" sz="890" dirty="0"/>
          </a:p>
        </p:txBody>
      </p:sp>
      <p:sp>
        <p:nvSpPr>
          <p:cNvPr id="48" name="Shape 46"/>
          <p:cNvSpPr/>
          <p:nvPr/>
        </p:nvSpPr>
        <p:spPr>
          <a:xfrm>
            <a:off x="6858000" y="5106924"/>
            <a:ext cx="4846320" cy="553212"/>
          </a:xfrm>
          <a:prstGeom prst="rect">
            <a:avLst/>
          </a:prstGeom>
          <a:solidFill>
            <a:srgbClr val="EEF0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949440" y="5106924"/>
            <a:ext cx="46634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서명 검증(ClusterImagePolicy),</a:t>
            </a:r>
            <a:endParaRPr lang="en-US" sz="8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9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취약점 스캔 연계(ACS), Red Hat 인증 이미지 사용</a:t>
            </a:r>
            <a:endParaRPr lang="en-US" sz="890" dirty="0"/>
          </a:p>
        </p:txBody>
      </p:sp>
      <p:sp>
        <p:nvSpPr>
          <p:cNvPr id="50" name="Shape 48"/>
          <p:cNvSpPr/>
          <p:nvPr/>
        </p:nvSpPr>
        <p:spPr>
          <a:xfrm>
            <a:off x="457200" y="5660136"/>
            <a:ext cx="1965960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8640" y="5660136"/>
            <a:ext cx="1783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일관성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2423160" y="5660136"/>
            <a:ext cx="4434840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514600" y="5660136"/>
            <a:ext cx="4251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별 수동 설정 → Configuration Drift,</a:t>
            </a:r>
            <a:endParaRPr lang="en-US" sz="8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Snowflake 서버 발생</a:t>
            </a:r>
            <a:endParaRPr lang="en-US" sz="890" dirty="0"/>
          </a:p>
        </p:txBody>
      </p:sp>
      <p:sp>
        <p:nvSpPr>
          <p:cNvPr id="54" name="Shape 52"/>
          <p:cNvSpPr/>
          <p:nvPr/>
        </p:nvSpPr>
        <p:spPr>
          <a:xfrm>
            <a:off x="6858000" y="5660136"/>
            <a:ext cx="4846320" cy="553212"/>
          </a:xfrm>
          <a:prstGeom prst="rect">
            <a:avLst/>
          </a:prstGeom>
          <a:solidFill>
            <a:srgbClr val="EEF0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949440" y="5660136"/>
            <a:ext cx="46634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9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GitOps/Operator 기반 선언적 상태 관리로</a:t>
            </a:r>
            <a:endParaRPr lang="en-US" sz="8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9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노드 동일 상태 유지 및 Self-healing</a:t>
            </a:r>
            <a:endParaRPr lang="en-US" sz="890" dirty="0"/>
          </a:p>
        </p:txBody>
      </p:sp>
      <p:sp>
        <p:nvSpPr>
          <p:cNvPr id="56" name="Text 54"/>
          <p:cNvSpPr txBox="1"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9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68712" y="219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처리 흐름 (Data Processing Flow)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데이터가 수집 → 처리 → 분석/활용에 이르는 논리적 파이프라인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48132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591056"/>
            <a:ext cx="475488" cy="475488"/>
          </a:xfrm>
          <a:prstGeom prst="ellipse">
            <a:avLst/>
          </a:prstGeom>
          <a:solidFill>
            <a:srgbClr val="4A5568"/>
          </a:solidFill>
          <a:ln/>
        </p:spPr>
      </p:sp>
      <p:pic>
        <p:nvPicPr>
          <p:cNvPr id="8" name="Image 0" descr="/home/claude/build/icons/sen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5" y="1698041"/>
            <a:ext cx="261518" cy="2615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93776" y="20848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생산설비/센서</a:t>
            </a:r>
            <a:endParaRPr lang="en-US" sz="8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(Data Source)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1965960" y="1988820"/>
            <a:ext cx="27432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267712" y="1463040"/>
            <a:ext cx="148132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70632" y="1591056"/>
            <a:ext cx="475488" cy="475488"/>
          </a:xfrm>
          <a:prstGeom prst="ellipse">
            <a:avLst/>
          </a:prstGeom>
          <a:solidFill>
            <a:srgbClr val="4A5568"/>
          </a:solidFill>
          <a:ln/>
        </p:spPr>
      </p:sp>
      <p:pic>
        <p:nvPicPr>
          <p:cNvPr id="13" name="Image 1" descr="/home/claude/build/icons/e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617" y="16980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304288" y="20848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Collector</a:t>
            </a:r>
            <a:endParaRPr lang="en-US" sz="8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OPC-UA/MQTT/Modbus</a:t>
            </a:r>
            <a:endParaRPr lang="en-US" sz="830" dirty="0"/>
          </a:p>
        </p:txBody>
      </p:sp>
      <p:sp>
        <p:nvSpPr>
          <p:cNvPr id="15" name="Shape 11"/>
          <p:cNvSpPr/>
          <p:nvPr/>
        </p:nvSpPr>
        <p:spPr>
          <a:xfrm>
            <a:off x="3776472" y="1988820"/>
            <a:ext cx="27432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078224" y="1463040"/>
            <a:ext cx="148132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81144" y="159105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build/icons/conn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129" y="1698041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114800" y="20848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Connect</a:t>
            </a:r>
            <a:endParaRPr lang="en-US" sz="8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(Source Connector)</a:t>
            </a:r>
            <a:endParaRPr lang="en-US" sz="830" dirty="0"/>
          </a:p>
        </p:txBody>
      </p:sp>
      <p:sp>
        <p:nvSpPr>
          <p:cNvPr id="20" name="Shape 15"/>
          <p:cNvSpPr/>
          <p:nvPr/>
        </p:nvSpPr>
        <p:spPr>
          <a:xfrm>
            <a:off x="5586984" y="1988820"/>
            <a:ext cx="27432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5888736" y="1463040"/>
            <a:ext cx="148132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91656" y="159105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/home/claude/build/icons/kafk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641" y="1698041"/>
            <a:ext cx="261518" cy="26151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925312" y="20848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Broker</a:t>
            </a:r>
            <a:endParaRPr lang="en-US" sz="8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Topic: RAW-DATA</a:t>
            </a:r>
            <a:endParaRPr lang="en-US" sz="830" dirty="0"/>
          </a:p>
        </p:txBody>
      </p:sp>
      <p:sp>
        <p:nvSpPr>
          <p:cNvPr id="25" name="Shape 19"/>
          <p:cNvSpPr/>
          <p:nvPr/>
        </p:nvSpPr>
        <p:spPr>
          <a:xfrm>
            <a:off x="7397496" y="1988820"/>
            <a:ext cx="27432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7699248" y="1463040"/>
            <a:ext cx="148132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02168" y="159105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4" descr="/home/claude/build/icons/stre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9153" y="1698041"/>
            <a:ext cx="261518" cy="26151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735824" y="20848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ksqlDB</a:t>
            </a:r>
            <a:endParaRPr lang="en-US" sz="8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Filter/Agg/Window</a:t>
            </a:r>
            <a:endParaRPr lang="en-US" sz="830" dirty="0"/>
          </a:p>
        </p:txBody>
      </p:sp>
      <p:sp>
        <p:nvSpPr>
          <p:cNvPr id="30" name="Shape 23"/>
          <p:cNvSpPr/>
          <p:nvPr/>
        </p:nvSpPr>
        <p:spPr>
          <a:xfrm>
            <a:off x="9208008" y="1988820"/>
            <a:ext cx="27432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9509760" y="1463040"/>
            <a:ext cx="148132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0012680" y="159105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5" descr="/home/claude/build/icons/kafk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9665" y="1698041"/>
            <a:ext cx="261518" cy="26151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546336" y="20848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Broker</a:t>
            </a:r>
            <a:endParaRPr lang="en-US" sz="8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Topic: PROCESSED</a:t>
            </a:r>
            <a:endParaRPr lang="en-US" sz="830" dirty="0"/>
          </a:p>
        </p:txBody>
      </p:sp>
      <p:sp>
        <p:nvSpPr>
          <p:cNvPr id="35" name="Shape 27"/>
          <p:cNvSpPr/>
          <p:nvPr/>
        </p:nvSpPr>
        <p:spPr>
          <a:xfrm>
            <a:off x="10250424" y="2514600"/>
            <a:ext cx="914" cy="43891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1325880" y="2953512"/>
            <a:ext cx="892454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1325880" y="2953512"/>
            <a:ext cx="914" cy="30175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9075420" y="2953512"/>
            <a:ext cx="914" cy="30175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9" name="Shape 31"/>
          <p:cNvSpPr/>
          <p:nvPr/>
        </p:nvSpPr>
        <p:spPr>
          <a:xfrm>
            <a:off x="457200" y="3273552"/>
            <a:ext cx="1737360" cy="914400"/>
          </a:xfrm>
          <a:prstGeom prst="roundRect">
            <a:avLst>
              <a:gd name="adj" fmla="val 9000"/>
            </a:avLst>
          </a:prstGeom>
          <a:solidFill>
            <a:srgbClr val="E8F5F4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1106424" y="3364992"/>
            <a:ext cx="438912" cy="43891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1" name="Image 6" descr="/home/claude/build/icons/ap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5179" y="3463747"/>
            <a:ext cx="241402" cy="241402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502920" y="3822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B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Kafka</a:t>
            </a:r>
            <a:endParaRPr lang="en-US" sz="8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B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Consumer Group</a:t>
            </a:r>
            <a:endParaRPr lang="en-US" sz="800" dirty="0"/>
          </a:p>
        </p:txBody>
      </p:sp>
      <p:sp>
        <p:nvSpPr>
          <p:cNvPr id="43" name="Shape 34"/>
          <p:cNvSpPr/>
          <p:nvPr/>
        </p:nvSpPr>
        <p:spPr>
          <a:xfrm>
            <a:off x="2194560" y="3730752"/>
            <a:ext cx="320040" cy="914"/>
          </a:xfrm>
          <a:prstGeom prst="line">
            <a:avLst/>
          </a:prstGeom>
          <a:noFill/>
          <a:ln w="2222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2606040" y="3273552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E8F5F4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3369564" y="3364992"/>
            <a:ext cx="438912" cy="43891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6" name="Image 7" descr="/home/claude/build/icons/monit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8319" y="3463747"/>
            <a:ext cx="241402" cy="241402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2651760" y="382219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B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 End-user App</a:t>
            </a:r>
            <a:endParaRPr lang="en-US" sz="8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B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(모니터링/장애분석)</a:t>
            </a:r>
            <a:endParaRPr lang="en-US" sz="800" dirty="0"/>
          </a:p>
        </p:txBody>
      </p:sp>
      <p:sp>
        <p:nvSpPr>
          <p:cNvPr id="48" name="Shape 38"/>
          <p:cNvSpPr/>
          <p:nvPr/>
        </p:nvSpPr>
        <p:spPr>
          <a:xfrm>
            <a:off x="6629400" y="3273552"/>
            <a:ext cx="1508760" cy="914400"/>
          </a:xfrm>
          <a:prstGeom prst="roundRect">
            <a:avLst>
              <a:gd name="adj" fmla="val 9000"/>
            </a:avLst>
          </a:prstGeom>
          <a:solidFill>
            <a:srgbClr val="FDEEDD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7164324" y="3364992"/>
            <a:ext cx="438912" cy="438912"/>
          </a:xfrm>
          <a:prstGeom prst="ellipse">
            <a:avLst/>
          </a:prstGeom>
          <a:solidFill>
            <a:srgbClr val="E07A1F"/>
          </a:solidFill>
          <a:ln/>
        </p:spPr>
      </p:sp>
      <p:pic>
        <p:nvPicPr>
          <p:cNvPr id="50" name="Image 8" descr="/home/claude/build/icons/conn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3079" y="3463747"/>
            <a:ext cx="241402" cy="24140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6656832" y="382219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8A4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Connect</a:t>
            </a:r>
            <a:endParaRPr lang="en-US" sz="7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8A4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(Sink Connector)</a:t>
            </a:r>
            <a:endParaRPr lang="en-US" sz="780" dirty="0"/>
          </a:p>
        </p:txBody>
      </p:sp>
      <p:sp>
        <p:nvSpPr>
          <p:cNvPr id="52" name="Shape 41"/>
          <p:cNvSpPr/>
          <p:nvPr/>
        </p:nvSpPr>
        <p:spPr>
          <a:xfrm>
            <a:off x="8156448" y="3730752"/>
            <a:ext cx="146304" cy="914"/>
          </a:xfrm>
          <a:prstGeom prst="line">
            <a:avLst/>
          </a:prstGeom>
          <a:noFill/>
          <a:ln w="19050">
            <a:solidFill>
              <a:srgbClr val="E07A1F"/>
            </a:solidFill>
            <a:prstDash val="solid"/>
            <a:tailEnd type="triangle"/>
          </a:ln>
        </p:spPr>
      </p:sp>
      <p:sp>
        <p:nvSpPr>
          <p:cNvPr id="53" name="Shape 42"/>
          <p:cNvSpPr/>
          <p:nvPr/>
        </p:nvSpPr>
        <p:spPr>
          <a:xfrm>
            <a:off x="8321040" y="3273552"/>
            <a:ext cx="1508760" cy="914400"/>
          </a:xfrm>
          <a:prstGeom prst="roundRect">
            <a:avLst>
              <a:gd name="adj" fmla="val 9000"/>
            </a:avLst>
          </a:prstGeom>
          <a:solidFill>
            <a:srgbClr val="FDEEDD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8855964" y="3364992"/>
            <a:ext cx="438912" cy="438912"/>
          </a:xfrm>
          <a:prstGeom prst="ellipse">
            <a:avLst/>
          </a:prstGeom>
          <a:solidFill>
            <a:srgbClr val="E07A1F"/>
          </a:solidFill>
          <a:ln/>
        </p:spPr>
      </p:sp>
      <p:pic>
        <p:nvPicPr>
          <p:cNvPr id="55" name="Image 9" descr="/home/claude/build/icons/splu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4719" y="3463747"/>
            <a:ext cx="241402" cy="241402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8348472" y="382219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8A4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Splunk HEC /</a:t>
            </a:r>
            <a:endParaRPr lang="en-US" sz="7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8A4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Indexer Cluster</a:t>
            </a:r>
            <a:endParaRPr lang="en-US" sz="780" dirty="0"/>
          </a:p>
        </p:txBody>
      </p:sp>
      <p:sp>
        <p:nvSpPr>
          <p:cNvPr id="57" name="Shape 45"/>
          <p:cNvSpPr/>
          <p:nvPr/>
        </p:nvSpPr>
        <p:spPr>
          <a:xfrm>
            <a:off x="9848088" y="3730752"/>
            <a:ext cx="146304" cy="914"/>
          </a:xfrm>
          <a:prstGeom prst="line">
            <a:avLst/>
          </a:prstGeom>
          <a:noFill/>
          <a:ln w="19050">
            <a:solidFill>
              <a:srgbClr val="E07A1F"/>
            </a:solidFill>
            <a:prstDash val="solid"/>
            <a:tailEnd type="triangle"/>
          </a:ln>
        </p:spPr>
      </p:sp>
      <p:sp>
        <p:nvSpPr>
          <p:cNvPr id="58" name="Shape 46"/>
          <p:cNvSpPr/>
          <p:nvPr/>
        </p:nvSpPr>
        <p:spPr>
          <a:xfrm>
            <a:off x="10012680" y="3273552"/>
            <a:ext cx="1508760" cy="914400"/>
          </a:xfrm>
          <a:prstGeom prst="roundRect">
            <a:avLst>
              <a:gd name="adj" fmla="val 9000"/>
            </a:avLst>
          </a:prstGeom>
          <a:solidFill>
            <a:srgbClr val="FDEEDD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10547604" y="3364992"/>
            <a:ext cx="438912" cy="438912"/>
          </a:xfrm>
          <a:prstGeom prst="ellipse">
            <a:avLst/>
          </a:prstGeom>
          <a:solidFill>
            <a:srgbClr val="E07A1F"/>
          </a:solidFill>
          <a:ln/>
        </p:spPr>
      </p:sp>
      <p:pic>
        <p:nvPicPr>
          <p:cNvPr id="60" name="Image 10" descr="/home/claude/build/icons/searc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46359" y="3463747"/>
            <a:ext cx="241402" cy="241402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10040112" y="382219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8A4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 Head</a:t>
            </a:r>
            <a:endParaRPr lang="en-US" sz="7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8A4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 / Alert</a:t>
            </a:r>
            <a:endParaRPr lang="en-US" sz="780" dirty="0"/>
          </a:p>
        </p:txBody>
      </p:sp>
      <p:sp>
        <p:nvSpPr>
          <p:cNvPr id="62" name="Text 49"/>
          <p:cNvSpPr txBox="1"/>
          <p:nvPr/>
        </p:nvSpPr>
        <p:spPr>
          <a:xfrm>
            <a:off x="7246620" y="26791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Branch A · 통합 분석/알림 (Splunk)</a:t>
            </a:r>
            <a:endParaRPr lang="en-US" sz="900" dirty="0"/>
          </a:p>
        </p:txBody>
      </p:sp>
      <p:sp>
        <p:nvSpPr>
          <p:cNvPr id="63" name="Text 50"/>
          <p:cNvSpPr txBox="1"/>
          <p:nvPr/>
        </p:nvSpPr>
        <p:spPr>
          <a:xfrm>
            <a:off x="457200" y="26791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Branch B · 실시간 App 연동 (Kafka Native)</a:t>
            </a:r>
            <a:endParaRPr lang="en-US" sz="900" dirty="0"/>
          </a:p>
        </p:txBody>
      </p:sp>
      <p:sp>
        <p:nvSpPr>
          <p:cNvPr id="64" name="Text 51"/>
          <p:cNvSpPr txBox="1"/>
          <p:nvPr/>
        </p:nvSpPr>
        <p:spPr>
          <a:xfrm>
            <a:off x="457200" y="450799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Topic 기반 Pub/Sub — 동일 Topic을 여러 Consumer Group이 독립적으로 구독 (선택적 구독의 단위 = Topic 설계)</a:t>
            </a:r>
            <a:endParaRPr lang="en-US" sz="1050" dirty="0"/>
          </a:p>
        </p:txBody>
      </p:sp>
      <p:sp>
        <p:nvSpPr>
          <p:cNvPr id="65" name="Text 52"/>
          <p:cNvSpPr txBox="1"/>
          <p:nvPr/>
        </p:nvSpPr>
        <p:spPr>
          <a:xfrm>
            <a:off x="457200" y="4809744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Kafka Native Client(Java/Python/Go)를 지원하는 End App은 Connector 없이 Broker를 직접 구독합니다. Connector는 Splunk와 같이 Kafka-native가 아닌 시스템을 연동하는 브리지 역할입니다.</a:t>
            </a:r>
            <a:endParaRPr lang="en-US" sz="950" dirty="0"/>
          </a:p>
        </p:txBody>
      </p:sp>
      <p:sp>
        <p:nvSpPr>
          <p:cNvPr id="66" name="Text 53"/>
          <p:cNvSpPr txBox="1"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</a:t>
            </a:r>
            <a:endParaRPr lang="en-US" sz="900" dirty="0"/>
          </a:p>
        </p:txBody>
      </p:sp>
      <p:sp>
        <p:nvSpPr>
          <p:cNvPr id="67" name="Text 54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68712" y="219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시나리오 (Application Scenarios)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플랫폼이 지원하는 대표 업무 활용 사례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733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build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" y="1813255"/>
            <a:ext cx="341986" cy="34198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6916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생산 모니터링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2860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상태, 생산량, 가동률(OEE)을 실시간 대시보드로 가시화하여 현장 의사결정을 지원합니다.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4173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19672" y="1673352"/>
            <a:ext cx="621792" cy="621792"/>
          </a:xfrm>
          <a:prstGeom prst="ellipse">
            <a:avLst/>
          </a:prstGeom>
          <a:solidFill>
            <a:srgbClr val="C00000"/>
          </a:solidFill>
          <a:ln/>
        </p:spPr>
      </p:sp>
      <p:pic>
        <p:nvPicPr>
          <p:cNvPr id="13" name="Image 1" descr="/home/claude/build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575" y="1813255"/>
            <a:ext cx="341986" cy="34198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15200" y="16916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고장 · </a:t>
            </a:r>
            <a:r>
              <a:rPr lang="en-US" sz="15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</a:t>
            </a: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altLang="ko-KR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운용</a:t>
            </a: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(RCA)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22860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Correlation 기반 이벤트 연관분석으로 다중 설비 간 인과관계를 파악, 근본원인(Root Cause)을 신속히 도출합니다.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7033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3232" y="3959352"/>
            <a:ext cx="621792" cy="621792"/>
          </a:xfrm>
          <a:prstGeom prst="ellipse">
            <a:avLst/>
          </a:prstGeom>
          <a:solidFill>
            <a:srgbClr val="E07A1F"/>
          </a:solidFill>
          <a:ln/>
        </p:spPr>
      </p:sp>
      <p:pic>
        <p:nvPicPr>
          <p:cNvPr id="18" name="Image 2" descr="/home/claude/build/icons/chart_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" y="4099255"/>
            <a:ext cx="341986" cy="34198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39776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예지보전 (Predictive Maintenance)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45720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축적된 이력 데이터 기반 이상 징후를 사전에 탐지하여 계획 정비로 비가동 손실을 최소화합니다.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63640" y="37033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19672" y="3959352"/>
            <a:ext cx="621792" cy="62179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3" name="Image 3" descr="/home/claude/build/icons/ap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9575" y="4099255"/>
            <a:ext cx="341986" cy="34198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15200" y="39776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 Application 개발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583680" y="45720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Native Client(Java/Python/Go)로 표준 Topic을 직접 구독, 사내 시스템·App에 실시간 데이터를 즉시 연동합니다.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0" y="10515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C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융합소프트웨어 &amp; IT 솔루션 전문기업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0" y="13716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Convergence Software &amp; IT Solution Specialist Opasnet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82796" y="1965960"/>
            <a:ext cx="4023360" cy="0"/>
          </a:xfrm>
          <a:prstGeom prst="line">
            <a:avLst/>
          </a:prstGeom>
          <a:noFill/>
          <a:ln w="12700">
            <a:solidFill>
              <a:srgbClr val="45507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0" y="23317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614416" y="3977640"/>
            <a:ext cx="960120" cy="96012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45507A"/>
            </a:solidFill>
            <a:prstDash val="solid"/>
          </a:ln>
        </p:spPr>
      </p:sp>
      <p:pic>
        <p:nvPicPr>
          <p:cNvPr id="10" name="Image 0" descr="/home/claude/build/icons/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642" y="4188866"/>
            <a:ext cx="537667" cy="53766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68712" y="219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구성요소 기능 및 연동 (Component Function &amp; Interaction)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플랫폼을 구성하는 주요 컴포넌트의 역할과 상호 동작 방식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7889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0352" y="1371600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구성요소 (Component)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37033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19272" y="1371600"/>
            <a:ext cx="3557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(Role)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49440" y="1371600"/>
            <a:ext cx="47548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22592" y="137160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동작 및 연동 (Interaction)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278892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737360"/>
            <a:ext cx="2606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Collector /</a:t>
            </a:r>
            <a:endParaRPr lang="en-US" sz="97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Protocol Adapter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3246120" y="1737360"/>
            <a:ext cx="370332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37560" y="1737360"/>
            <a:ext cx="3520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프로토콜(OPC-UA, MQTT, Modbus 등)을</a:t>
            </a:r>
            <a:endParaRPr lang="en-US" sz="93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이벤트로 변환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949440" y="1737360"/>
            <a:ext cx="475488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0" y="1737360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Connect Source Connector를 통해</a:t>
            </a:r>
            <a:endParaRPr lang="en-US" sz="93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Broker로 Produce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57200" y="2272284"/>
            <a:ext cx="2788920" cy="534924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272284"/>
            <a:ext cx="2606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Broker</a:t>
            </a:r>
            <a:endParaRPr lang="en-US" sz="97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(Confluent Platform, CFK)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3246120" y="2272284"/>
            <a:ext cx="3703320" cy="534924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37560" y="2272284"/>
            <a:ext cx="3520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Topic/Partition 기반 메시지 저장 및 분산 처리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949440" y="2272284"/>
            <a:ext cx="4754880" cy="534924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0880" y="2272284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Producer·Consumer 간 비동기 디커플링,</a:t>
            </a:r>
            <a:endParaRPr lang="en-US" sz="93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Replication 기반 고가용성 제공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57200" y="2807208"/>
            <a:ext cx="278892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2807208"/>
            <a:ext cx="2606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Schema Registry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3246120" y="2807208"/>
            <a:ext cx="370332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37560" y="2807208"/>
            <a:ext cx="3520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스키마(Avro/JSON Schema)</a:t>
            </a:r>
            <a:endParaRPr lang="en-US" sz="93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관리 및 검증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949440" y="2807208"/>
            <a:ext cx="475488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40880" y="2807208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Producer/Consumer 간 데이터 정합성 보장,</a:t>
            </a:r>
            <a:endParaRPr lang="en-US" sz="93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호환성 자동 검증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457200" y="3342132"/>
            <a:ext cx="2788920" cy="534924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342132"/>
            <a:ext cx="2606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ksqlDB</a:t>
            </a:r>
            <a:endParaRPr lang="en-US" sz="97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(Stream Processing)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3246120" y="3342132"/>
            <a:ext cx="3703320" cy="534924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37560" y="3342132"/>
            <a:ext cx="3520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Filter / Aggregation / Window 연산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949440" y="3342132"/>
            <a:ext cx="4754880" cy="534924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40880" y="3342132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Topic 구독 후 가공 결과를</a:t>
            </a:r>
            <a:endParaRPr lang="en-US" sz="93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Topic으로 재발행 (Stream-Stream Join 등)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457200" y="3877056"/>
            <a:ext cx="278892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3877056"/>
            <a:ext cx="2606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Connect</a:t>
            </a:r>
            <a:endParaRPr lang="en-US" sz="97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(Sink Connector)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3246120" y="3877056"/>
            <a:ext cx="370332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337560" y="3877056"/>
            <a:ext cx="3520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비Kafka-native 시스템 연동 브리지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6949440" y="3877056"/>
            <a:ext cx="475488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40880" y="3877056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Topic → Splunk HEC/Index로 전송</a:t>
            </a:r>
            <a:endParaRPr lang="en-US" sz="93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(N:1 데이터 브리지, 선택적 라우팅 아님)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457200" y="4411980"/>
            <a:ext cx="2788920" cy="534924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4411980"/>
            <a:ext cx="2606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Splunk Indexer Cluster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3246120" y="4411980"/>
            <a:ext cx="3703320" cy="534924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337560" y="4411980"/>
            <a:ext cx="3520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데이터 인덱싱 및 분산 저장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6949440" y="4411980"/>
            <a:ext cx="4754880" cy="534924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040880" y="4411980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성능 확보를 위한 분산 저장 구조,</a:t>
            </a:r>
            <a:endParaRPr lang="en-US" sz="93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HEC/Forwarder로부터 데이터 수신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457200" y="4946904"/>
            <a:ext cx="278892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48640" y="4946904"/>
            <a:ext cx="2606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Splunk Search Head</a:t>
            </a:r>
            <a:endParaRPr lang="en-US" sz="970" dirty="0"/>
          </a:p>
        </p:txBody>
      </p:sp>
      <p:sp>
        <p:nvSpPr>
          <p:cNvPr id="50" name="Shape 48"/>
          <p:cNvSpPr/>
          <p:nvPr/>
        </p:nvSpPr>
        <p:spPr>
          <a:xfrm>
            <a:off x="3246120" y="4946904"/>
            <a:ext cx="370332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337560" y="4946904"/>
            <a:ext cx="3520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쿼리 처리, 대시보드/알림(Alert) 제공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6949440" y="4946904"/>
            <a:ext cx="475488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040880" y="4946904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Indexer Cluster 조회 → 사용자 UI/대시보드 제공,</a:t>
            </a:r>
            <a:endParaRPr lang="en-US" sz="93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임계치 기반 알림 발송</a:t>
            </a:r>
            <a:endParaRPr lang="en-US" sz="930" dirty="0"/>
          </a:p>
        </p:txBody>
      </p:sp>
      <p:sp>
        <p:nvSpPr>
          <p:cNvPr id="54" name="Shape 52"/>
          <p:cNvSpPr/>
          <p:nvPr/>
        </p:nvSpPr>
        <p:spPr>
          <a:xfrm>
            <a:off x="457200" y="5481828"/>
            <a:ext cx="2788920" cy="534924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8640" y="5481828"/>
            <a:ext cx="2606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End-user Application</a:t>
            </a:r>
            <a:endParaRPr lang="en-US" sz="97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(Kafka Native Client)</a:t>
            </a:r>
            <a:endParaRPr lang="en-US" sz="970" dirty="0"/>
          </a:p>
        </p:txBody>
      </p:sp>
      <p:sp>
        <p:nvSpPr>
          <p:cNvPr id="56" name="Shape 54"/>
          <p:cNvSpPr/>
          <p:nvPr/>
        </p:nvSpPr>
        <p:spPr>
          <a:xfrm>
            <a:off x="3246120" y="5481828"/>
            <a:ext cx="3703320" cy="534924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337560" y="5481828"/>
            <a:ext cx="3520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Broker 직접 구독(Consumer Group)</a:t>
            </a:r>
            <a:endParaRPr lang="en-US" sz="930" dirty="0"/>
          </a:p>
        </p:txBody>
      </p:sp>
      <p:sp>
        <p:nvSpPr>
          <p:cNvPr id="58" name="Shape 56"/>
          <p:cNvSpPr/>
          <p:nvPr/>
        </p:nvSpPr>
        <p:spPr>
          <a:xfrm>
            <a:off x="6949440" y="5481828"/>
            <a:ext cx="4754880" cy="534924"/>
          </a:xfrm>
          <a:prstGeom prst="rect">
            <a:avLst/>
          </a:prstGeom>
          <a:solidFill>
            <a:srgbClr val="F5F6FA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040880" y="5481828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Connector 없이 Topic 실시간 구독,</a:t>
            </a:r>
            <a:endParaRPr lang="en-US" sz="93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모니터링/장애분석 App 신속 개발</a:t>
            </a:r>
            <a:endParaRPr lang="en-US" sz="930" dirty="0"/>
          </a:p>
        </p:txBody>
      </p:sp>
      <p:sp>
        <p:nvSpPr>
          <p:cNvPr id="60" name="Shape 58"/>
          <p:cNvSpPr/>
          <p:nvPr/>
        </p:nvSpPr>
        <p:spPr>
          <a:xfrm>
            <a:off x="457200" y="6016752"/>
            <a:ext cx="278892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48640" y="6016752"/>
            <a:ext cx="2606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RHOCP</a:t>
            </a:r>
            <a:endParaRPr lang="en-US" sz="97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(Red Hat OpenShift)</a:t>
            </a:r>
            <a:endParaRPr lang="en-US" sz="970" dirty="0"/>
          </a:p>
        </p:txBody>
      </p:sp>
      <p:sp>
        <p:nvSpPr>
          <p:cNvPr id="62" name="Shape 60"/>
          <p:cNvSpPr/>
          <p:nvPr/>
        </p:nvSpPr>
        <p:spPr>
          <a:xfrm>
            <a:off x="3246120" y="6016752"/>
            <a:ext cx="370332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337560" y="6016752"/>
            <a:ext cx="3520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오케스트레이션 인프라</a:t>
            </a:r>
            <a:endParaRPr lang="en-US" sz="930" dirty="0"/>
          </a:p>
        </p:txBody>
      </p:sp>
      <p:sp>
        <p:nvSpPr>
          <p:cNvPr id="64" name="Shape 62"/>
          <p:cNvSpPr/>
          <p:nvPr/>
        </p:nvSpPr>
        <p:spPr>
          <a:xfrm>
            <a:off x="6949440" y="6016752"/>
            <a:ext cx="475488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040880" y="6016752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Kafka·Splunk·App 워크로드의 배포/스케일링/</a:t>
            </a:r>
            <a:endParaRPr lang="en-US" sz="93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93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복구(Self-healing) 담당</a:t>
            </a:r>
            <a:endParaRPr lang="en-US" sz="930" dirty="0"/>
          </a:p>
        </p:txBody>
      </p:sp>
      <p:sp>
        <p:nvSpPr>
          <p:cNvPr id="66" name="Text 64"/>
          <p:cNvSpPr txBox="1"/>
          <p:nvPr/>
        </p:nvSpPr>
        <p:spPr>
          <a:xfrm>
            <a:off x="111831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OPASNET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1356</Words>
  <Application>Microsoft Office PowerPoint</Application>
  <PresentationFormat>사용자 지정</PresentationFormat>
  <Paragraphs>251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Kevin Hwang</cp:lastModifiedBy>
  <cp:revision>5</cp:revision>
  <dcterms:created xsi:type="dcterms:W3CDTF">2026-09-09T06:22:49Z</dcterms:created>
  <dcterms:modified xsi:type="dcterms:W3CDTF">2026-09-09T07:14:21Z</dcterms:modified>
</cp:coreProperties>
</file>