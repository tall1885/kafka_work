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3" r:id="rId4"/>
    <p:sldId id="259" r:id="rId5"/>
    <p:sldId id="266" r:id="rId6"/>
    <p:sldId id="260" r:id="rId7"/>
    <p:sldId id="268" r:id="rId8"/>
    <p:sldId id="256" r:id="rId9"/>
    <p:sldId id="258" r:id="rId10"/>
    <p:sldId id="261" r:id="rId11"/>
    <p:sldId id="269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B465F-5F97-49F6-A285-736DC4929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6B36E3-5B3F-44AE-88A5-FC81F1280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84980-E86F-4A4A-B68E-4C932928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54A969-1A0B-434B-802B-71B00744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5F18DC-F67E-41F2-A516-DA3C6BA47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03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501FA-07E5-4430-A979-E3A98C8C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CCF3F8-A6C1-49F1-BBE3-F6C642C4B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48064-3760-4E36-9FA2-029B1651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AF3EB6-AB31-498E-AD1E-D971CF7F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464F4-F575-4AA5-BFCE-61B27BF2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7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586C9-5E74-41D4-9B9C-98990388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07DC6B-1AD6-46BA-9089-896B0C2A0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72C89A-2518-40D3-B7A6-EA986844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18621-2978-4316-8E50-D6B19736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91CBBC-F935-46D4-91F9-E9012F52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61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A10A78-E208-4900-8B2E-39D0B4D5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5F3AC-CC23-46A4-AB52-34726CE69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A15A0B-46E2-4DE0-A0F6-865A0644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17C34-7111-49A6-8AFC-123AB268E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3B06CD-0183-4DEF-8304-3C4DB743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C87FFB-0ECC-4445-B9FE-D339758F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94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246B6-0B56-4F31-9AE8-B85543BF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53D512-F06F-47A6-978B-01DC90E84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36CDEB-02E0-40AD-9F5D-78AC62AF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9C0AF-CC2D-4D3F-B69B-4BBFC42C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A406E6-73D2-480E-A757-0B777F407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B0B7E6-F688-448A-AD49-208D8AA6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058199-65EC-4CB9-A351-B06A0517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ADA9F8-BEE4-40CE-B822-36F1505F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54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337DA-2F9D-47B8-BB8D-03C3134D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CF3151-4056-42F1-B660-F38E3E1B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E63D75-854F-4E63-B51A-30E04D97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2B5018-1326-4FD1-B5D3-C875AE32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43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E0AE33-011B-4BFB-946E-5F61D298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806B14-6BED-45EF-A05E-6D5DFA06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5B888-6291-48F3-8F5B-4E92355A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6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32A00-1A79-4D3B-A735-02536CEC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E4D457-070F-43F1-BB2A-0E8D20CF9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36D764-6AC9-4A68-98D2-28A3DFC86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69060D-68F6-4525-B4B7-279C3FC1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D99CC4-155B-4988-984E-4F22DCE8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0484C9-A85B-4B09-8690-B6017FA6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1D1B3-AABC-41A3-BC80-B0C1F213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3665DC-27B6-4A55-8B81-069B9115B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8A7163-432A-437E-B4C8-2C3355240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E72296-AB8C-448E-98FB-D32666E9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99EA0-74BF-417F-8DF4-E281FDEC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8A833C-8C59-463A-B094-B1EC4BD5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27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B71F4-3D40-426A-A039-F59FFBA6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87B9D8-041D-4687-9FB3-85C50453F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69932D-6443-4536-B360-159A08C9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1BA52-5D3F-417A-BB66-1314E4F1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46F99-DD10-448C-A5E7-0885B7DC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03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5442FC-B7CA-404A-8770-F43CE455D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A47280-0D8D-4031-A6D4-66D474DC4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862DE-8EDB-4128-A476-5CD36864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C37E2-A3F5-4D87-82C2-CB5992A3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BCABB3-815D-4E88-8042-FA4F8283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52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BA2DD9-CEEE-4481-BF20-3CC2B2E6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FE1781-4E3F-4318-9C70-A53A5CA1E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392C6-87AB-4384-973D-EFA96C0DC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8AF62-DA53-48A2-8F4B-7876801C2AA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BA3F41-E938-4DBB-AE74-8AC4FC8B4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B6B68F-C2C6-4FFE-A024-6F5C061C5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775A8-E25A-4AE0-A1A7-149397DD8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4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(주)오파스넷">
            <a:extLst>
              <a:ext uri="{FF2B5EF4-FFF2-40B4-BE49-F238E27FC236}">
                <a16:creationId xmlns:a16="http://schemas.microsoft.com/office/drawing/2014/main" id="{556D2720-E2D7-4639-B29E-9C7FDCAB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024" y="2541098"/>
            <a:ext cx="1415562" cy="62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8FCE14-9C20-4D5D-890E-3F721A077B19}"/>
              </a:ext>
            </a:extLst>
          </p:cNvPr>
          <p:cNvSpPr txBox="1"/>
          <p:nvPr/>
        </p:nvSpPr>
        <p:spPr>
          <a:xfrm>
            <a:off x="1896742" y="3161618"/>
            <a:ext cx="137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㈜</a:t>
            </a:r>
            <a:r>
              <a:rPr lang="ko-KR" altLang="en-US" dirty="0" err="1"/>
              <a:t>오파스넷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00CD58-4629-40EF-8042-2E3996E48B93}"/>
              </a:ext>
            </a:extLst>
          </p:cNvPr>
          <p:cNvSpPr/>
          <p:nvPr/>
        </p:nvSpPr>
        <p:spPr>
          <a:xfrm>
            <a:off x="1957753" y="3782138"/>
            <a:ext cx="81358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0" i="0" dirty="0" err="1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오파스넷의</a:t>
            </a:r>
            <a:r>
              <a:rPr lang="ko-KR" altLang="en-US" b="0" i="0" dirty="0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ko-KR" altLang="en-US" b="1" i="0" dirty="0">
                <a:solidFill>
                  <a:srgbClr val="D81A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땀과 기술</a:t>
            </a:r>
            <a:r>
              <a:rPr lang="ko-KR" altLang="en-US" b="0" i="0" dirty="0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 늘 함께 합니다</a:t>
            </a:r>
            <a:r>
              <a:rPr lang="en-US" altLang="ko-KR" b="0" i="0" dirty="0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b="0" i="0" dirty="0" err="1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오파스넷은</a:t>
            </a:r>
            <a:r>
              <a:rPr lang="ko-KR" altLang="en-US" b="0" i="0" dirty="0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</a:t>
            </a:r>
            <a:r>
              <a:rPr lang="ko-KR" altLang="en-US" b="1" i="0" dirty="0">
                <a:solidFill>
                  <a:srgbClr val="D81A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최고의 파트너</a:t>
            </a:r>
            <a:r>
              <a:rPr lang="ko-KR" altLang="en-US" b="0" i="0" dirty="0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 입니다</a:t>
            </a:r>
            <a:r>
              <a:rPr lang="en-US" altLang="ko-KR" b="0" i="0" dirty="0">
                <a:solidFill>
                  <a:srgbClr val="2C2C2C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4227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B02D9FF-3132-4CD8-8B93-B6F8AAF7E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5553"/>
            <a:ext cx="12192000" cy="570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1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115D544-FE4B-480F-9D36-BC6DA4706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03"/>
            <a:ext cx="12192000" cy="680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2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01">
            <a:extLst>
              <a:ext uri="{FF2B5EF4-FFF2-40B4-BE49-F238E27FC236}">
                <a16:creationId xmlns:a16="http://schemas.microsoft.com/office/drawing/2014/main" id="{89387771-36D1-4204-BCB1-4782177FFC2F}"/>
              </a:ext>
            </a:extLst>
          </p:cNvPr>
          <p:cNvSpPr>
            <a:spLocks noGrp="1"/>
          </p:cNvSpPr>
          <p:nvPr/>
        </p:nvSpPr>
        <p:spPr>
          <a:xfrm>
            <a:off x="427291" y="218759"/>
            <a:ext cx="10715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ko-KR" altLang="en-US" sz="27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제품명 </a:t>
            </a:r>
            <a:r>
              <a:rPr lang="en-US" altLang="ko-KR" sz="27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: </a:t>
            </a:r>
            <a:r>
              <a:rPr lang="ko-KR" altLang="en-US" sz="27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Ｏ</a:t>
            </a:r>
            <a:r>
              <a:rPr lang="en-US" altLang="ko-KR" sz="2775" b="1" dirty="0" err="1"/>
              <a:t>FactoryPulse</a:t>
            </a:r>
            <a:endParaRPr sz="27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4FB9049-3547-4306-838C-493670F76573}"/>
              </a:ext>
            </a:extLst>
          </p:cNvPr>
          <p:cNvSpPr/>
          <p:nvPr/>
        </p:nvSpPr>
        <p:spPr>
          <a:xfrm>
            <a:off x="495300" y="2396732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A66D927-30B0-409B-9A45-B51C00459483}"/>
              </a:ext>
            </a:extLst>
          </p:cNvPr>
          <p:cNvSpPr/>
          <p:nvPr/>
        </p:nvSpPr>
        <p:spPr>
          <a:xfrm>
            <a:off x="1121664" y="2561324"/>
            <a:ext cx="621792" cy="621792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home/claude/build/icons/factory.png">
            <a:extLst>
              <a:ext uri="{FF2B5EF4-FFF2-40B4-BE49-F238E27FC236}">
                <a16:creationId xmlns:a16="http://schemas.microsoft.com/office/drawing/2014/main" id="{5D4031BA-CD39-43F5-9562-89E6B593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567" y="2701227"/>
            <a:ext cx="341986" cy="341986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9D17D0E6-4041-4089-BC4E-CE6EE6C27734}"/>
              </a:ext>
            </a:extLst>
          </p:cNvPr>
          <p:cNvSpPr txBox="1"/>
          <p:nvPr/>
        </p:nvSpPr>
        <p:spPr>
          <a:xfrm>
            <a:off x="495300" y="32379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생산현장</a:t>
            </a: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r>
              <a:rPr lang="en-US" altLang="ko-KR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57028DE-2863-4EBC-9BAF-B4DA3063865A}"/>
              </a:ext>
            </a:extLst>
          </p:cNvPr>
          <p:cNvSpPr txBox="1"/>
          <p:nvPr/>
        </p:nvSpPr>
        <p:spPr>
          <a:xfrm>
            <a:off x="541020" y="34940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/ PLC / </a:t>
            </a:r>
            <a:r>
              <a:rPr lang="en-US" sz="9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ko-KR" alt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</a:t>
            </a:r>
            <a:r>
              <a:rPr lang="en-US" altLang="ko-KR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endParaRPr lang="en-US" sz="9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944348A-719E-4D72-94AC-8D86E7A5161F}"/>
              </a:ext>
            </a:extLst>
          </p:cNvPr>
          <p:cNvSpPr/>
          <p:nvPr/>
        </p:nvSpPr>
        <p:spPr>
          <a:xfrm>
            <a:off x="2406396" y="3219692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4EB3BCEA-C3A1-4446-819D-1A00AD022DBE}"/>
              </a:ext>
            </a:extLst>
          </p:cNvPr>
          <p:cNvSpPr/>
          <p:nvPr/>
        </p:nvSpPr>
        <p:spPr>
          <a:xfrm>
            <a:off x="2827020" y="2396732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ACBF8FB-4876-4E41-B9E9-2232F2B9578A}"/>
              </a:ext>
            </a:extLst>
          </p:cNvPr>
          <p:cNvSpPr/>
          <p:nvPr/>
        </p:nvSpPr>
        <p:spPr>
          <a:xfrm>
            <a:off x="3453384" y="2561324"/>
            <a:ext cx="621792" cy="621792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/home/claude/build/icons/edge.png">
            <a:extLst>
              <a:ext uri="{FF2B5EF4-FFF2-40B4-BE49-F238E27FC236}">
                <a16:creationId xmlns:a16="http://schemas.microsoft.com/office/drawing/2014/main" id="{DCA33088-BBE6-47E7-B24C-CF70366A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287" y="2701227"/>
            <a:ext cx="341986" cy="341986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CA108A2E-1C19-42A8-BE3F-C284AC31D4FD}"/>
              </a:ext>
            </a:extLst>
          </p:cNvPr>
          <p:cNvSpPr txBox="1"/>
          <p:nvPr/>
        </p:nvSpPr>
        <p:spPr>
          <a:xfrm>
            <a:off x="2827020" y="32379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3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73DD193-DBE5-4B57-A433-F92B791CDD68}"/>
              </a:ext>
            </a:extLst>
          </p:cNvPr>
          <p:cNvSpPr txBox="1"/>
          <p:nvPr/>
        </p:nvSpPr>
        <p:spPr>
          <a:xfrm>
            <a:off x="2872740" y="34940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Collector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Protocol Adapter</a:t>
            </a:r>
            <a:endParaRPr lang="en-US" sz="95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6D49C0D-C60B-4C43-A6A6-2BD770F871FA}"/>
              </a:ext>
            </a:extLst>
          </p:cNvPr>
          <p:cNvSpPr/>
          <p:nvPr/>
        </p:nvSpPr>
        <p:spPr>
          <a:xfrm>
            <a:off x="4738116" y="3219692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080419B5-9E31-4DAF-A6A3-E122461789D3}"/>
              </a:ext>
            </a:extLst>
          </p:cNvPr>
          <p:cNvSpPr/>
          <p:nvPr/>
        </p:nvSpPr>
        <p:spPr>
          <a:xfrm>
            <a:off x="5158740" y="2396732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4E6409CA-FEB6-4DED-889A-53FDE9AFF432}"/>
              </a:ext>
            </a:extLst>
          </p:cNvPr>
          <p:cNvSpPr/>
          <p:nvPr/>
        </p:nvSpPr>
        <p:spPr>
          <a:xfrm>
            <a:off x="5785104" y="256132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/home/claude/build/icons/kafka.png">
            <a:extLst>
              <a:ext uri="{FF2B5EF4-FFF2-40B4-BE49-F238E27FC236}">
                <a16:creationId xmlns:a16="http://schemas.microsoft.com/office/drawing/2014/main" id="{1DF3815C-CA38-46DD-8A94-A109DFC00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07" y="2701227"/>
            <a:ext cx="341986" cy="341986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58795A34-E36C-4586-B534-4FE981FC17C7}"/>
              </a:ext>
            </a:extLst>
          </p:cNvPr>
          <p:cNvSpPr txBox="1"/>
          <p:nvPr/>
        </p:nvSpPr>
        <p:spPr>
          <a:xfrm>
            <a:off x="5158740" y="32379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저장</a:t>
            </a: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Routing</a:t>
            </a:r>
            <a:endParaRPr lang="en-US" sz="13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6671E2BC-1EC7-4CD9-9AC7-E4E3A1730AB2}"/>
              </a:ext>
            </a:extLst>
          </p:cNvPr>
          <p:cNvSpPr txBox="1"/>
          <p:nvPr/>
        </p:nvSpPr>
        <p:spPr>
          <a:xfrm>
            <a:off x="5204460" y="34940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Confluent Kafka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(Streaming)</a:t>
            </a:r>
            <a:endParaRPr lang="en-US" sz="95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32874451-2993-49D4-B7C5-88E0D76CF3AF}"/>
              </a:ext>
            </a:extLst>
          </p:cNvPr>
          <p:cNvSpPr/>
          <p:nvPr/>
        </p:nvSpPr>
        <p:spPr>
          <a:xfrm>
            <a:off x="7069836" y="3219692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67AEC831-0E52-4F5C-843C-0778B7B3BDA9}"/>
              </a:ext>
            </a:extLst>
          </p:cNvPr>
          <p:cNvSpPr/>
          <p:nvPr/>
        </p:nvSpPr>
        <p:spPr>
          <a:xfrm>
            <a:off x="7490460" y="2396732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5B2E98A6-6C54-49F3-B0C9-C46FE69249BF}"/>
              </a:ext>
            </a:extLst>
          </p:cNvPr>
          <p:cNvSpPr/>
          <p:nvPr/>
        </p:nvSpPr>
        <p:spPr>
          <a:xfrm>
            <a:off x="8116824" y="2561324"/>
            <a:ext cx="621792" cy="621792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/home/claude/build/icons/splunk.png">
            <a:extLst>
              <a:ext uri="{FF2B5EF4-FFF2-40B4-BE49-F238E27FC236}">
                <a16:creationId xmlns:a16="http://schemas.microsoft.com/office/drawing/2014/main" id="{5CDFDC37-6CE4-433C-B027-183A5D38F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727" y="2701227"/>
            <a:ext cx="341986" cy="341986"/>
          </a:xfrm>
          <a:prstGeom prst="rect">
            <a:avLst/>
          </a:prstGeom>
        </p:spPr>
      </p:pic>
      <p:sp>
        <p:nvSpPr>
          <p:cNvPr id="29" name="Text 21">
            <a:extLst>
              <a:ext uri="{FF2B5EF4-FFF2-40B4-BE49-F238E27FC236}">
                <a16:creationId xmlns:a16="http://schemas.microsoft.com/office/drawing/2014/main" id="{19BB8C14-63E5-4EA2-98A3-15FDF00E2D45}"/>
              </a:ext>
            </a:extLst>
          </p:cNvPr>
          <p:cNvSpPr txBox="1"/>
          <p:nvPr/>
        </p:nvSpPr>
        <p:spPr>
          <a:xfrm>
            <a:off x="7490460" y="32379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AB3DA581-523A-4043-9FBA-7279380D5C3E}"/>
              </a:ext>
            </a:extLst>
          </p:cNvPr>
          <p:cNvSpPr txBox="1"/>
          <p:nvPr/>
        </p:nvSpPr>
        <p:spPr>
          <a:xfrm>
            <a:off x="7536180" y="34940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Enterprise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(Analytics)</a:t>
            </a:r>
            <a:endParaRPr lang="en-US" sz="95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F5D3EC4B-EF14-49E8-8997-16814F3DCB64}"/>
              </a:ext>
            </a:extLst>
          </p:cNvPr>
          <p:cNvSpPr/>
          <p:nvPr/>
        </p:nvSpPr>
        <p:spPr>
          <a:xfrm>
            <a:off x="9401556" y="3219692"/>
            <a:ext cx="384048" cy="0"/>
          </a:xfrm>
          <a:prstGeom prst="line">
            <a:avLst/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0E8AF02A-65E1-4DC1-8FB0-A57CED564AFF}"/>
              </a:ext>
            </a:extLst>
          </p:cNvPr>
          <p:cNvSpPr/>
          <p:nvPr/>
        </p:nvSpPr>
        <p:spPr>
          <a:xfrm>
            <a:off x="9822180" y="2396732"/>
            <a:ext cx="18745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006F9133-7025-417B-B0AD-2B551BB4E4BF}"/>
              </a:ext>
            </a:extLst>
          </p:cNvPr>
          <p:cNvSpPr/>
          <p:nvPr/>
        </p:nvSpPr>
        <p:spPr>
          <a:xfrm>
            <a:off x="10448544" y="2561324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/home/claude/build/icons/monitor.png">
            <a:extLst>
              <a:ext uri="{FF2B5EF4-FFF2-40B4-BE49-F238E27FC236}">
                <a16:creationId xmlns:a16="http://schemas.microsoft.com/office/drawing/2014/main" id="{32E23FCD-FBDA-4D17-A66F-A1A86B4AAF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447" y="2701227"/>
            <a:ext cx="341986" cy="341986"/>
          </a:xfrm>
          <a:prstGeom prst="rect">
            <a:avLst/>
          </a:prstGeom>
        </p:spPr>
      </p:pic>
      <p:sp>
        <p:nvSpPr>
          <p:cNvPr id="35" name="Text 26">
            <a:extLst>
              <a:ext uri="{FF2B5EF4-FFF2-40B4-BE49-F238E27FC236}">
                <a16:creationId xmlns:a16="http://schemas.microsoft.com/office/drawing/2014/main" id="{FEBEA9D9-323C-4006-B806-0D50006F4CE9}"/>
              </a:ext>
            </a:extLst>
          </p:cNvPr>
          <p:cNvSpPr txBox="1"/>
          <p:nvPr/>
        </p:nvSpPr>
        <p:spPr>
          <a:xfrm>
            <a:off x="9822180" y="32379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130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79D657A-DA75-441D-9FD8-FE71A003ADF2}"/>
              </a:ext>
            </a:extLst>
          </p:cNvPr>
          <p:cNvSpPr txBox="1"/>
          <p:nvPr/>
        </p:nvSpPr>
        <p:spPr>
          <a:xfrm>
            <a:off x="9867900" y="34940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· 장애진단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개발</a:t>
            </a:r>
            <a:endParaRPr lang="en-US" sz="95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329275C7-C088-4AB4-82C8-8D6E676BA1CC}"/>
              </a:ext>
            </a:extLst>
          </p:cNvPr>
          <p:cNvSpPr/>
          <p:nvPr/>
        </p:nvSpPr>
        <p:spPr>
          <a:xfrm>
            <a:off x="5085588" y="4362692"/>
            <a:ext cx="4352544" cy="502920"/>
          </a:xfrm>
          <a:prstGeom prst="roundRect">
            <a:avLst>
              <a:gd name="adj" fmla="val 14545"/>
            </a:avLst>
          </a:prstGeom>
          <a:solidFill>
            <a:srgbClr val="121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E1A63D38-F682-4DD2-9154-9F7D0869626C}"/>
              </a:ext>
            </a:extLst>
          </p:cNvPr>
          <p:cNvSpPr txBox="1"/>
          <p:nvPr/>
        </p:nvSpPr>
        <p:spPr>
          <a:xfrm>
            <a:off x="5085588" y="4362692"/>
            <a:ext cx="4352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 (Red Hat OpenShift Container Platform)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컨테이너 오케스트레이션 인프라</a:t>
            </a:r>
            <a:endParaRPr lang="en-US" sz="11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51812779-3913-499D-BA93-F5A968AC312D}"/>
              </a:ext>
            </a:extLst>
          </p:cNvPr>
          <p:cNvSpPr/>
          <p:nvPr/>
        </p:nvSpPr>
        <p:spPr>
          <a:xfrm flipV="1">
            <a:off x="6210300" y="4079228"/>
            <a:ext cx="0" cy="283464"/>
          </a:xfrm>
          <a:prstGeom prst="line">
            <a:avLst/>
          </a:prstGeom>
          <a:noFill/>
          <a:ln w="19050">
            <a:solidFill>
              <a:srgbClr val="12163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197EFE8F-5021-47DF-A7A1-243AFDDAD7C8}"/>
              </a:ext>
            </a:extLst>
          </p:cNvPr>
          <p:cNvSpPr/>
          <p:nvPr/>
        </p:nvSpPr>
        <p:spPr>
          <a:xfrm flipV="1">
            <a:off x="8313420" y="4079228"/>
            <a:ext cx="0" cy="283464"/>
          </a:xfrm>
          <a:prstGeom prst="line">
            <a:avLst/>
          </a:prstGeom>
          <a:noFill/>
          <a:ln w="19050">
            <a:solidFill>
              <a:srgbClr val="12163F"/>
            </a:solidFill>
            <a:prstDash val="solid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50BC1FC-9382-4BBA-9647-EDA0E9442B64}"/>
              </a:ext>
            </a:extLst>
          </p:cNvPr>
          <p:cNvCxnSpPr>
            <a:cxnSpLocks/>
            <a:stCxn id="20" idx="0"/>
            <a:endCxn id="32" idx="0"/>
          </p:cNvCxnSpPr>
          <p:nvPr/>
        </p:nvCxnSpPr>
        <p:spPr>
          <a:xfrm rot="5400000" flipH="1" flipV="1">
            <a:off x="8427720" y="65012"/>
            <a:ext cx="12700" cy="4663440"/>
          </a:xfrm>
          <a:prstGeom prst="bentConnector3">
            <a:avLst>
              <a:gd name="adj1" fmla="val 1800000"/>
            </a:avLst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cxnSp>
      <p:sp>
        <p:nvSpPr>
          <p:cNvPr id="42" name="Text 22">
            <a:extLst>
              <a:ext uri="{FF2B5EF4-FFF2-40B4-BE49-F238E27FC236}">
                <a16:creationId xmlns:a16="http://schemas.microsoft.com/office/drawing/2014/main" id="{EAAA295A-BCC5-4C8D-9FD7-7BDE44F2556C}"/>
              </a:ext>
            </a:extLst>
          </p:cNvPr>
          <p:cNvSpPr txBox="1"/>
          <p:nvPr/>
        </p:nvSpPr>
        <p:spPr>
          <a:xfrm>
            <a:off x="7380732" y="1644207"/>
            <a:ext cx="2212848" cy="322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통계 </a:t>
            </a:r>
            <a:r>
              <a:rPr lang="en-US" altLang="ko-KR" dirty="0"/>
              <a:t>/ </a:t>
            </a:r>
            <a:r>
              <a:rPr lang="ko-KR" altLang="en-US" dirty="0"/>
              <a:t>장애 이벤트 실시간 감시</a:t>
            </a:r>
            <a:endParaRPr lang="en-US" dirty="0"/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1FC9ECA2-CC36-4141-ACEB-9E26CF24AEF5}"/>
              </a:ext>
            </a:extLst>
          </p:cNvPr>
          <p:cNvCxnSpPr>
            <a:cxnSpLocks/>
            <a:stCxn id="32" idx="2"/>
            <a:endCxn id="8" idx="2"/>
          </p:cNvCxnSpPr>
          <p:nvPr/>
        </p:nvCxnSpPr>
        <p:spPr>
          <a:xfrm rot="5400000">
            <a:off x="6096000" y="-620788"/>
            <a:ext cx="12700" cy="9326880"/>
          </a:xfrm>
          <a:prstGeom prst="bentConnector3">
            <a:avLst>
              <a:gd name="adj1" fmla="val 8355220"/>
            </a:avLst>
          </a:prstGeom>
          <a:noFill/>
          <a:ln w="28575">
            <a:solidFill>
              <a:srgbClr val="9CA3AF"/>
            </a:solidFill>
            <a:prstDash val="solid"/>
            <a:tailEnd type="triangle"/>
          </a:ln>
        </p:spPr>
      </p:cxnSp>
      <p:sp>
        <p:nvSpPr>
          <p:cNvPr id="44" name="Text 22">
            <a:extLst>
              <a:ext uri="{FF2B5EF4-FFF2-40B4-BE49-F238E27FC236}">
                <a16:creationId xmlns:a16="http://schemas.microsoft.com/office/drawing/2014/main" id="{F5D7F0E3-03D8-4C5F-B16A-6A1E3972A187}"/>
              </a:ext>
            </a:extLst>
          </p:cNvPr>
          <p:cNvSpPr txBox="1"/>
          <p:nvPr/>
        </p:nvSpPr>
        <p:spPr>
          <a:xfrm>
            <a:off x="1684020" y="4803611"/>
            <a:ext cx="2212848" cy="27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Feedback</a:t>
            </a:r>
            <a:r>
              <a:rPr lang="ko-KR" altLang="en-US" dirty="0"/>
              <a:t> 개선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7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C8E3BEB-0CC2-47C1-A12E-2E89986CB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37" y="869895"/>
            <a:ext cx="9692101" cy="545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7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">
            <a:extLst>
              <a:ext uri="{FF2B5EF4-FFF2-40B4-BE49-F238E27FC236}">
                <a16:creationId xmlns:a16="http://schemas.microsoft.com/office/drawing/2014/main" id="{481FBFB7-F53C-4D29-97B4-5B3E6286C111}"/>
              </a:ext>
            </a:extLst>
          </p:cNvPr>
          <p:cNvSpPr/>
          <p:nvPr/>
        </p:nvSpPr>
        <p:spPr>
          <a:xfrm>
            <a:off x="472440" y="117043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EEF0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18B7F1EA-3FB8-4C2A-ABA3-56DA3C746607}"/>
              </a:ext>
            </a:extLst>
          </p:cNvPr>
          <p:cNvSpPr txBox="1"/>
          <p:nvPr/>
        </p:nvSpPr>
        <p:spPr>
          <a:xfrm>
            <a:off x="637032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생산현장 (OT Network)</a:t>
            </a:r>
            <a:endParaRPr lang="en-US" sz="100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26AF448C-4392-412B-8BCE-0E17B0B1F957}"/>
              </a:ext>
            </a:extLst>
          </p:cNvPr>
          <p:cNvSpPr/>
          <p:nvPr/>
        </p:nvSpPr>
        <p:spPr>
          <a:xfrm>
            <a:off x="3124200" y="1261872"/>
            <a:ext cx="438912" cy="438912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0" descr="/home/claude/build/icons/sensor.png">
            <a:extLst>
              <a:ext uri="{FF2B5EF4-FFF2-40B4-BE49-F238E27FC236}">
                <a16:creationId xmlns:a16="http://schemas.microsoft.com/office/drawing/2014/main" id="{680019B0-0871-490E-A8E2-C1D3F27B4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955" y="1360627"/>
            <a:ext cx="241402" cy="241402"/>
          </a:xfrm>
          <a:prstGeom prst="rect">
            <a:avLst/>
          </a:prstGeom>
        </p:spPr>
      </p:pic>
      <p:sp>
        <p:nvSpPr>
          <p:cNvPr id="49" name="Text 7">
            <a:extLst>
              <a:ext uri="{FF2B5EF4-FFF2-40B4-BE49-F238E27FC236}">
                <a16:creationId xmlns:a16="http://schemas.microsoft.com/office/drawing/2014/main" id="{026B3C73-7158-4E59-99A5-ABDA3B7B84D3}"/>
              </a:ext>
            </a:extLst>
          </p:cNvPr>
          <p:cNvSpPr txBox="1"/>
          <p:nvPr/>
        </p:nvSpPr>
        <p:spPr>
          <a:xfrm>
            <a:off x="3654552" y="11704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/ PLC / </a:t>
            </a:r>
            <a:r>
              <a:rPr lang="en-US" sz="9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제어기</a:t>
            </a: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ko-KR" alt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</a:t>
            </a:r>
            <a:r>
              <a:rPr lang="en-US" altLang="ko-KR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endParaRPr lang="en-US" sz="95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5E645241-734A-49CE-868E-2DEBCD664F0E}"/>
              </a:ext>
            </a:extLst>
          </p:cNvPr>
          <p:cNvSpPr/>
          <p:nvPr/>
        </p:nvSpPr>
        <p:spPr>
          <a:xfrm>
            <a:off x="6370320" y="1261872"/>
            <a:ext cx="438912" cy="438912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" descr="/home/claude/build/icons/edge.png">
            <a:extLst>
              <a:ext uri="{FF2B5EF4-FFF2-40B4-BE49-F238E27FC236}">
                <a16:creationId xmlns:a16="http://schemas.microsoft.com/office/drawing/2014/main" id="{62D6B9D3-A15F-4170-B3D6-AFF6FDBDB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075" y="1360627"/>
            <a:ext cx="241402" cy="241402"/>
          </a:xfrm>
          <a:prstGeom prst="rect">
            <a:avLst/>
          </a:prstGeom>
        </p:spPr>
      </p:pic>
      <p:sp>
        <p:nvSpPr>
          <p:cNvPr id="52" name="Text 9">
            <a:extLst>
              <a:ext uri="{FF2B5EF4-FFF2-40B4-BE49-F238E27FC236}">
                <a16:creationId xmlns:a16="http://schemas.microsoft.com/office/drawing/2014/main" id="{EB1054E7-F772-4DF4-8593-8728F2EDC72D}"/>
              </a:ext>
            </a:extLst>
          </p:cNvPr>
          <p:cNvSpPr txBox="1"/>
          <p:nvPr/>
        </p:nvSpPr>
        <p:spPr>
          <a:xfrm>
            <a:off x="6900672" y="11704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Gateway (Protocol Adapter)</a:t>
            </a:r>
            <a:endParaRPr lang="en-US" sz="950" dirty="0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E2C7C2CB-858D-42D2-8578-BB30D1562AF3}"/>
              </a:ext>
            </a:extLst>
          </p:cNvPr>
          <p:cNvSpPr/>
          <p:nvPr/>
        </p:nvSpPr>
        <p:spPr>
          <a:xfrm>
            <a:off x="6105144" y="1792224"/>
            <a:ext cx="0" cy="420624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77979EE0-796A-4582-989C-DB734CF2FC3F}"/>
              </a:ext>
            </a:extLst>
          </p:cNvPr>
          <p:cNvSpPr/>
          <p:nvPr/>
        </p:nvSpPr>
        <p:spPr>
          <a:xfrm>
            <a:off x="472440" y="219456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FBFBFD"/>
          </a:solidFill>
          <a:ln w="19050">
            <a:solidFill>
              <a:srgbClr val="C000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C2CF9259-C487-4929-90AF-121C2247592E}"/>
              </a:ext>
            </a:extLst>
          </p:cNvPr>
          <p:cNvSpPr txBox="1"/>
          <p:nvPr/>
        </p:nvSpPr>
        <p:spPr>
          <a:xfrm>
            <a:off x="637032" y="22585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 Cluster  (Red Hat OpenShift Container Platform — 물리 인프라 / 컨테이너 오케스트레이션)</a:t>
            </a:r>
            <a:endParaRPr lang="en-US" sz="1000" dirty="0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C79F7E84-4058-4529-8698-0C4BEC25C5BA}"/>
              </a:ext>
            </a:extLst>
          </p:cNvPr>
          <p:cNvSpPr/>
          <p:nvPr/>
        </p:nvSpPr>
        <p:spPr>
          <a:xfrm>
            <a:off x="8564880" y="2276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D51E7ED2-CCE5-46A6-83DC-8552BF8E9DCF}"/>
              </a:ext>
            </a:extLst>
          </p:cNvPr>
          <p:cNvSpPr txBox="1"/>
          <p:nvPr/>
        </p:nvSpPr>
        <p:spPr>
          <a:xfrm>
            <a:off x="8564880" y="2276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Node</a:t>
            </a:r>
            <a:endParaRPr lang="en-US" sz="730" dirty="0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5E0904F6-2E4D-411F-9B03-673E62008A31}"/>
              </a:ext>
            </a:extLst>
          </p:cNvPr>
          <p:cNvSpPr/>
          <p:nvPr/>
        </p:nvSpPr>
        <p:spPr>
          <a:xfrm>
            <a:off x="9570720" y="2276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CD06E158-8723-4660-B98F-546E86F8D0AE}"/>
              </a:ext>
            </a:extLst>
          </p:cNvPr>
          <p:cNvSpPr txBox="1"/>
          <p:nvPr/>
        </p:nvSpPr>
        <p:spPr>
          <a:xfrm>
            <a:off x="9570720" y="2276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Node</a:t>
            </a:r>
            <a:endParaRPr lang="en-US" sz="730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75B7369B-C408-4F00-9781-E00488BDFBF7}"/>
              </a:ext>
            </a:extLst>
          </p:cNvPr>
          <p:cNvSpPr/>
          <p:nvPr/>
        </p:nvSpPr>
        <p:spPr>
          <a:xfrm>
            <a:off x="10576560" y="2276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A88BD3A7-C813-45C4-BAF5-6DC4110987D0}"/>
              </a:ext>
            </a:extLst>
          </p:cNvPr>
          <p:cNvSpPr txBox="1"/>
          <p:nvPr/>
        </p:nvSpPr>
        <p:spPr>
          <a:xfrm>
            <a:off x="10576560" y="2276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Node ×N</a:t>
            </a:r>
            <a:endParaRPr lang="en-US" sz="730" dirty="0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1701147D-1368-4A2A-A847-003D1CBD4800}"/>
              </a:ext>
            </a:extLst>
          </p:cNvPr>
          <p:cNvSpPr/>
          <p:nvPr/>
        </p:nvSpPr>
        <p:spPr>
          <a:xfrm>
            <a:off x="792480" y="2578608"/>
            <a:ext cx="6035040" cy="1920240"/>
          </a:xfrm>
          <a:prstGeom prst="roundRect">
            <a:avLst>
              <a:gd name="adj" fmla="val 4286"/>
            </a:avLst>
          </a:prstGeom>
          <a:solidFill>
            <a:srgbClr val="EEF0FA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D072A0A2-E1C3-4FFA-AED4-F44D668E096E}"/>
              </a:ext>
            </a:extLst>
          </p:cNvPr>
          <p:cNvSpPr txBox="1"/>
          <p:nvPr/>
        </p:nvSpPr>
        <p:spPr>
          <a:xfrm>
            <a:off x="929640" y="264261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Namespace: kafka — Confluent Platform for Kubernetes (CFK)</a:t>
            </a:r>
            <a:endParaRPr lang="en-US" sz="950" dirty="0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D099D078-1E50-4580-9274-9419EB93A60D}"/>
              </a:ext>
            </a:extLst>
          </p:cNvPr>
          <p:cNvSpPr/>
          <p:nvPr/>
        </p:nvSpPr>
        <p:spPr>
          <a:xfrm>
            <a:off x="97536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22">
            <a:extLst>
              <a:ext uri="{FF2B5EF4-FFF2-40B4-BE49-F238E27FC236}">
                <a16:creationId xmlns:a16="http://schemas.microsoft.com/office/drawing/2014/main" id="{39D48E47-200A-4B1F-8000-1A4681F87BA3}"/>
              </a:ext>
            </a:extLst>
          </p:cNvPr>
          <p:cNvSpPr/>
          <p:nvPr/>
        </p:nvSpPr>
        <p:spPr>
          <a:xfrm>
            <a:off x="142341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2" descr="/home/claude/build/icons/connect.png">
            <a:extLst>
              <a:ext uri="{FF2B5EF4-FFF2-40B4-BE49-F238E27FC236}">
                <a16:creationId xmlns:a16="http://schemas.microsoft.com/office/drawing/2014/main" id="{B2CCEF3F-FFCD-4601-891A-D79F33054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827" y="3103931"/>
            <a:ext cx="211226" cy="211226"/>
          </a:xfrm>
          <a:prstGeom prst="rect">
            <a:avLst/>
          </a:prstGeom>
        </p:spPr>
      </p:pic>
      <p:sp>
        <p:nvSpPr>
          <p:cNvPr id="67" name="Text 23">
            <a:extLst>
              <a:ext uri="{FF2B5EF4-FFF2-40B4-BE49-F238E27FC236}">
                <a16:creationId xmlns:a16="http://schemas.microsoft.com/office/drawing/2014/main" id="{E9AFF28C-E2C5-4115-AEE8-22EBCF3AB992}"/>
              </a:ext>
            </a:extLst>
          </p:cNvPr>
          <p:cNvSpPr txBox="1"/>
          <p:nvPr/>
        </p:nvSpPr>
        <p:spPr>
          <a:xfrm>
            <a:off x="100279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(Source)</a:t>
            </a:r>
            <a:endParaRPr lang="en-US" sz="78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B5ADBA25-9146-4FE1-B604-A771644AB9B4}"/>
              </a:ext>
            </a:extLst>
          </p:cNvPr>
          <p:cNvSpPr/>
          <p:nvPr/>
        </p:nvSpPr>
        <p:spPr>
          <a:xfrm>
            <a:off x="239268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5186AF5E-0078-4382-8F9C-E21F3120B576}"/>
              </a:ext>
            </a:extLst>
          </p:cNvPr>
          <p:cNvSpPr/>
          <p:nvPr/>
        </p:nvSpPr>
        <p:spPr>
          <a:xfrm>
            <a:off x="284073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3" descr="/home/claude/build/icons/kafka.png">
            <a:extLst>
              <a:ext uri="{FF2B5EF4-FFF2-40B4-BE49-F238E27FC236}">
                <a16:creationId xmlns:a16="http://schemas.microsoft.com/office/drawing/2014/main" id="{5EC4799B-ED83-4C65-AE00-1869C5AFB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147" y="3103931"/>
            <a:ext cx="211226" cy="211226"/>
          </a:xfrm>
          <a:prstGeom prst="rect">
            <a:avLst/>
          </a:prstGeom>
        </p:spPr>
      </p:pic>
      <p:sp>
        <p:nvSpPr>
          <p:cNvPr id="71" name="Text 26">
            <a:extLst>
              <a:ext uri="{FF2B5EF4-FFF2-40B4-BE49-F238E27FC236}">
                <a16:creationId xmlns:a16="http://schemas.microsoft.com/office/drawing/2014/main" id="{D50D9148-F354-42E3-A5A6-3597F2C82085}"/>
              </a:ext>
            </a:extLst>
          </p:cNvPr>
          <p:cNvSpPr txBox="1"/>
          <p:nvPr/>
        </p:nvSpPr>
        <p:spPr>
          <a:xfrm>
            <a:off x="242011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Broker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Topic / Partition</a:t>
            </a:r>
            <a:endParaRPr lang="en-US" sz="780" dirty="0"/>
          </a:p>
        </p:txBody>
      </p:sp>
      <p:sp>
        <p:nvSpPr>
          <p:cNvPr id="72" name="Shape 27">
            <a:extLst>
              <a:ext uri="{FF2B5EF4-FFF2-40B4-BE49-F238E27FC236}">
                <a16:creationId xmlns:a16="http://schemas.microsoft.com/office/drawing/2014/main" id="{DEA54035-6563-47B1-AF36-68BD5BA17959}"/>
              </a:ext>
            </a:extLst>
          </p:cNvPr>
          <p:cNvSpPr/>
          <p:nvPr/>
        </p:nvSpPr>
        <p:spPr>
          <a:xfrm>
            <a:off x="381000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F08635F3-517E-45EA-8374-812A6B860870}"/>
              </a:ext>
            </a:extLst>
          </p:cNvPr>
          <p:cNvSpPr/>
          <p:nvPr/>
        </p:nvSpPr>
        <p:spPr>
          <a:xfrm>
            <a:off x="425805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4" name="Image 4" descr="/home/claude/build/icons/stream.png">
            <a:extLst>
              <a:ext uri="{FF2B5EF4-FFF2-40B4-BE49-F238E27FC236}">
                <a16:creationId xmlns:a16="http://schemas.microsoft.com/office/drawing/2014/main" id="{E04E9137-ED69-43F1-BE86-068D21FB5E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467" y="3103931"/>
            <a:ext cx="211226" cy="211226"/>
          </a:xfrm>
          <a:prstGeom prst="rect">
            <a:avLst/>
          </a:prstGeom>
        </p:spPr>
      </p:pic>
      <p:sp>
        <p:nvSpPr>
          <p:cNvPr id="75" name="Text 29">
            <a:extLst>
              <a:ext uri="{FF2B5EF4-FFF2-40B4-BE49-F238E27FC236}">
                <a16:creationId xmlns:a16="http://schemas.microsoft.com/office/drawing/2014/main" id="{398A9362-B855-47D0-BDEB-9FCA0210DE34}"/>
              </a:ext>
            </a:extLst>
          </p:cNvPr>
          <p:cNvSpPr txBox="1"/>
          <p:nvPr/>
        </p:nvSpPr>
        <p:spPr>
          <a:xfrm>
            <a:off x="383743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ksqlDB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(Stream Processing)</a:t>
            </a:r>
            <a:endParaRPr lang="en-US" sz="780" dirty="0"/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EA08C9CE-C80C-4C08-8976-E3D4D07102F5}"/>
              </a:ext>
            </a:extLst>
          </p:cNvPr>
          <p:cNvSpPr/>
          <p:nvPr/>
        </p:nvSpPr>
        <p:spPr>
          <a:xfrm>
            <a:off x="5227320" y="2926080"/>
            <a:ext cx="12801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C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31">
            <a:extLst>
              <a:ext uri="{FF2B5EF4-FFF2-40B4-BE49-F238E27FC236}">
                <a16:creationId xmlns:a16="http://schemas.microsoft.com/office/drawing/2014/main" id="{477DA2C9-745D-4787-BF2F-1CC307304386}"/>
              </a:ext>
            </a:extLst>
          </p:cNvPr>
          <p:cNvSpPr/>
          <p:nvPr/>
        </p:nvSpPr>
        <p:spPr>
          <a:xfrm>
            <a:off x="5675376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8" name="Image 5" descr="/home/claude/build/icons/connect.png">
            <a:extLst>
              <a:ext uri="{FF2B5EF4-FFF2-40B4-BE49-F238E27FC236}">
                <a16:creationId xmlns:a16="http://schemas.microsoft.com/office/drawing/2014/main" id="{709D0B23-457E-43EB-93E8-C0E272190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787" y="3103931"/>
            <a:ext cx="211226" cy="211226"/>
          </a:xfrm>
          <a:prstGeom prst="rect">
            <a:avLst/>
          </a:prstGeom>
        </p:spPr>
      </p:pic>
      <p:sp>
        <p:nvSpPr>
          <p:cNvPr id="79" name="Text 32">
            <a:extLst>
              <a:ext uri="{FF2B5EF4-FFF2-40B4-BE49-F238E27FC236}">
                <a16:creationId xmlns:a16="http://schemas.microsoft.com/office/drawing/2014/main" id="{BB180604-3CFF-4AD5-A91C-1D0FF391B93D}"/>
              </a:ext>
            </a:extLst>
          </p:cNvPr>
          <p:cNvSpPr txBox="1"/>
          <p:nvPr/>
        </p:nvSpPr>
        <p:spPr>
          <a:xfrm>
            <a:off x="5254752" y="34290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Connect</a:t>
            </a:r>
            <a:endParaRPr lang="en-US" sz="7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(Sink)</a:t>
            </a:r>
            <a:endParaRPr lang="en-US" sz="780" dirty="0"/>
          </a:p>
        </p:txBody>
      </p:sp>
      <p:sp>
        <p:nvSpPr>
          <p:cNvPr id="80" name="Shape 33">
            <a:extLst>
              <a:ext uri="{FF2B5EF4-FFF2-40B4-BE49-F238E27FC236}">
                <a16:creationId xmlns:a16="http://schemas.microsoft.com/office/drawing/2014/main" id="{17D14AF1-1FFD-4B62-9887-30F44DCC002F}"/>
              </a:ext>
            </a:extLst>
          </p:cNvPr>
          <p:cNvSpPr/>
          <p:nvPr/>
        </p:nvSpPr>
        <p:spPr>
          <a:xfrm>
            <a:off x="2255520" y="3374136"/>
            <a:ext cx="13716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E189B126-82E0-4103-9AD3-8881DCFAE7BA}"/>
              </a:ext>
            </a:extLst>
          </p:cNvPr>
          <p:cNvSpPr/>
          <p:nvPr/>
        </p:nvSpPr>
        <p:spPr>
          <a:xfrm>
            <a:off x="3672840" y="3374136"/>
            <a:ext cx="13716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2975D768-1672-40A6-9CBD-BBFD129CCB4F}"/>
              </a:ext>
            </a:extLst>
          </p:cNvPr>
          <p:cNvSpPr/>
          <p:nvPr/>
        </p:nvSpPr>
        <p:spPr>
          <a:xfrm>
            <a:off x="5090160" y="3374136"/>
            <a:ext cx="13716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7D6A8F8C-7A8B-4D54-9E68-374BCDE0833C}"/>
              </a:ext>
            </a:extLst>
          </p:cNvPr>
          <p:cNvSpPr/>
          <p:nvPr/>
        </p:nvSpPr>
        <p:spPr>
          <a:xfrm>
            <a:off x="2392680" y="4019325"/>
            <a:ext cx="1280160" cy="226711"/>
          </a:xfrm>
          <a:prstGeom prst="roundRect">
            <a:avLst>
              <a:gd name="adj" fmla="val 20000"/>
            </a:avLst>
          </a:prstGeom>
          <a:solidFill>
            <a:srgbClr val="121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28A297CE-B57F-4077-A6F6-5679250DA5F3}"/>
              </a:ext>
            </a:extLst>
          </p:cNvPr>
          <p:cNvSpPr txBox="1"/>
          <p:nvPr/>
        </p:nvSpPr>
        <p:spPr>
          <a:xfrm>
            <a:off x="2392680" y="4019325"/>
            <a:ext cx="1280160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 Registry</a:t>
            </a:r>
            <a:endParaRPr lang="en-US" sz="760" dirty="0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71632A6A-DF54-4B0B-90B5-EB96BA091E8B}"/>
              </a:ext>
            </a:extLst>
          </p:cNvPr>
          <p:cNvSpPr/>
          <p:nvPr/>
        </p:nvSpPr>
        <p:spPr>
          <a:xfrm>
            <a:off x="3032760" y="3822191"/>
            <a:ext cx="0" cy="197133"/>
          </a:xfrm>
          <a:prstGeom prst="line">
            <a:avLst/>
          </a:prstGeom>
          <a:noFill/>
          <a:ln w="15875">
            <a:solidFill>
              <a:srgbClr val="9AA6D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926CF78B-3BCD-4812-BD8D-95AF4C530348}"/>
              </a:ext>
            </a:extLst>
          </p:cNvPr>
          <p:cNvSpPr/>
          <p:nvPr/>
        </p:nvSpPr>
        <p:spPr>
          <a:xfrm>
            <a:off x="7101840" y="2578608"/>
            <a:ext cx="4480560" cy="1920240"/>
          </a:xfrm>
          <a:prstGeom prst="roundRect">
            <a:avLst>
              <a:gd name="adj" fmla="val 4286"/>
            </a:avLst>
          </a:prstGeom>
          <a:solidFill>
            <a:srgbClr val="FCF1E6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E64A1A1A-C7C2-4920-8333-6CC1A46E0172}"/>
              </a:ext>
            </a:extLst>
          </p:cNvPr>
          <p:cNvSpPr txBox="1"/>
          <p:nvPr/>
        </p:nvSpPr>
        <p:spPr>
          <a:xfrm>
            <a:off x="7239000" y="26426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B8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Namespace: splunk — Splunk Enterprise</a:t>
            </a:r>
            <a:endParaRPr lang="en-US" sz="950" dirty="0"/>
          </a:p>
        </p:txBody>
      </p:sp>
      <p:sp>
        <p:nvSpPr>
          <p:cNvPr id="88" name="Shape 41">
            <a:extLst>
              <a:ext uri="{FF2B5EF4-FFF2-40B4-BE49-F238E27FC236}">
                <a16:creationId xmlns:a16="http://schemas.microsoft.com/office/drawing/2014/main" id="{595E063B-FC79-4785-9970-FE59D544394F}"/>
              </a:ext>
            </a:extLst>
          </p:cNvPr>
          <p:cNvSpPr/>
          <p:nvPr/>
        </p:nvSpPr>
        <p:spPr>
          <a:xfrm>
            <a:off x="7284720" y="292608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0C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35D62FB1-6E96-4D4D-A115-CA17C8253F25}"/>
              </a:ext>
            </a:extLst>
          </p:cNvPr>
          <p:cNvSpPr/>
          <p:nvPr/>
        </p:nvSpPr>
        <p:spPr>
          <a:xfrm>
            <a:off x="7394448" y="3035808"/>
            <a:ext cx="384048" cy="384048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0" name="Image 6" descr="/home/claude/build/icons/db.png">
            <a:extLst>
              <a:ext uri="{FF2B5EF4-FFF2-40B4-BE49-F238E27FC236}">
                <a16:creationId xmlns:a16="http://schemas.microsoft.com/office/drawing/2014/main" id="{83FFFD5D-3BEC-4E39-BC99-7DCBDCFA05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0859" y="3122219"/>
            <a:ext cx="211226" cy="211226"/>
          </a:xfrm>
          <a:prstGeom prst="rect">
            <a:avLst/>
          </a:prstGeom>
        </p:spPr>
      </p:pic>
      <p:sp>
        <p:nvSpPr>
          <p:cNvPr id="91" name="Text 43">
            <a:extLst>
              <a:ext uri="{FF2B5EF4-FFF2-40B4-BE49-F238E27FC236}">
                <a16:creationId xmlns:a16="http://schemas.microsoft.com/office/drawing/2014/main" id="{6BE0D7E8-C8D0-4FDE-A7C5-BA35D3D5A820}"/>
              </a:ext>
            </a:extLst>
          </p:cNvPr>
          <p:cNvSpPr txBox="1"/>
          <p:nvPr/>
        </p:nvSpPr>
        <p:spPr>
          <a:xfrm>
            <a:off x="7879080" y="292608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7A3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Indexer Cluster (저장/색인)</a:t>
            </a:r>
            <a:endParaRPr lang="en-US" sz="860" dirty="0"/>
          </a:p>
        </p:txBody>
      </p:sp>
      <p:sp>
        <p:nvSpPr>
          <p:cNvPr id="92" name="Shape 44">
            <a:extLst>
              <a:ext uri="{FF2B5EF4-FFF2-40B4-BE49-F238E27FC236}">
                <a16:creationId xmlns:a16="http://schemas.microsoft.com/office/drawing/2014/main" id="{DCE72B1A-52E1-43D0-B662-B407D40F3190}"/>
              </a:ext>
            </a:extLst>
          </p:cNvPr>
          <p:cNvSpPr/>
          <p:nvPr/>
        </p:nvSpPr>
        <p:spPr>
          <a:xfrm>
            <a:off x="7284720" y="365760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0C7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AEECC762-7BB9-4093-9BBA-3D8AE81195C5}"/>
              </a:ext>
            </a:extLst>
          </p:cNvPr>
          <p:cNvSpPr/>
          <p:nvPr/>
        </p:nvSpPr>
        <p:spPr>
          <a:xfrm>
            <a:off x="7394448" y="3767328"/>
            <a:ext cx="384048" cy="384048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4" name="Image 7" descr="/home/claude/build/icons/search.png">
            <a:extLst>
              <a:ext uri="{FF2B5EF4-FFF2-40B4-BE49-F238E27FC236}">
                <a16:creationId xmlns:a16="http://schemas.microsoft.com/office/drawing/2014/main" id="{C6B90B87-7688-4222-AD88-0FADCA517C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0859" y="3853739"/>
            <a:ext cx="211226" cy="211226"/>
          </a:xfrm>
          <a:prstGeom prst="rect">
            <a:avLst/>
          </a:prstGeom>
        </p:spPr>
      </p:pic>
      <p:sp>
        <p:nvSpPr>
          <p:cNvPr id="95" name="Text 46">
            <a:extLst>
              <a:ext uri="{FF2B5EF4-FFF2-40B4-BE49-F238E27FC236}">
                <a16:creationId xmlns:a16="http://schemas.microsoft.com/office/drawing/2014/main" id="{230D35A1-B61E-4041-8353-BB5CA91F29EB}"/>
              </a:ext>
            </a:extLst>
          </p:cNvPr>
          <p:cNvSpPr txBox="1"/>
          <p:nvPr/>
        </p:nvSpPr>
        <p:spPr>
          <a:xfrm>
            <a:off x="7879080" y="36576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7A3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 Head (검색/대시보드)</a:t>
            </a:r>
            <a:endParaRPr lang="en-US" sz="860" dirty="0"/>
          </a:p>
        </p:txBody>
      </p:sp>
      <p:sp>
        <p:nvSpPr>
          <p:cNvPr id="96" name="Shape 47">
            <a:extLst>
              <a:ext uri="{FF2B5EF4-FFF2-40B4-BE49-F238E27FC236}">
                <a16:creationId xmlns:a16="http://schemas.microsoft.com/office/drawing/2014/main" id="{419124E2-FFC4-4F18-867F-B57BDE4B670B}"/>
              </a:ext>
            </a:extLst>
          </p:cNvPr>
          <p:cNvSpPr/>
          <p:nvPr/>
        </p:nvSpPr>
        <p:spPr>
          <a:xfrm>
            <a:off x="9342120" y="3529584"/>
            <a:ext cx="914" cy="128016"/>
          </a:xfrm>
          <a:prstGeom prst="line">
            <a:avLst/>
          </a:prstGeom>
          <a:noFill/>
          <a:ln w="22225">
            <a:solidFill>
              <a:srgbClr val="D98A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48">
            <a:extLst>
              <a:ext uri="{FF2B5EF4-FFF2-40B4-BE49-F238E27FC236}">
                <a16:creationId xmlns:a16="http://schemas.microsoft.com/office/drawing/2014/main" id="{E2D2A0AC-A2C1-4178-9501-6ED1F812D0CA}"/>
              </a:ext>
            </a:extLst>
          </p:cNvPr>
          <p:cNvSpPr/>
          <p:nvPr/>
        </p:nvSpPr>
        <p:spPr>
          <a:xfrm flipV="1">
            <a:off x="6507480" y="3227832"/>
            <a:ext cx="777240" cy="146304"/>
          </a:xfrm>
          <a:prstGeom prst="line">
            <a:avLst/>
          </a:prstGeom>
          <a:noFill/>
          <a:ln w="22225">
            <a:solidFill>
              <a:srgbClr val="6B728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49">
            <a:extLst>
              <a:ext uri="{FF2B5EF4-FFF2-40B4-BE49-F238E27FC236}">
                <a16:creationId xmlns:a16="http://schemas.microsoft.com/office/drawing/2014/main" id="{8308F2CE-01DB-433A-BA4E-7482C60C6B44}"/>
              </a:ext>
            </a:extLst>
          </p:cNvPr>
          <p:cNvSpPr txBox="1"/>
          <p:nvPr/>
        </p:nvSpPr>
        <p:spPr>
          <a:xfrm>
            <a:off x="6699719" y="284378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Sink Connector</a:t>
            </a:r>
            <a:endParaRPr lang="en-US" sz="6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HEC</a:t>
            </a:r>
            <a:endParaRPr lang="en-US" sz="680" dirty="0"/>
          </a:p>
        </p:txBody>
      </p:sp>
      <p:sp>
        <p:nvSpPr>
          <p:cNvPr id="99" name="Shape 50">
            <a:extLst>
              <a:ext uri="{FF2B5EF4-FFF2-40B4-BE49-F238E27FC236}">
                <a16:creationId xmlns:a16="http://schemas.microsoft.com/office/drawing/2014/main" id="{6D387DD7-B31D-44DC-81DA-5C4179431BC0}"/>
              </a:ext>
            </a:extLst>
          </p:cNvPr>
          <p:cNvSpPr/>
          <p:nvPr/>
        </p:nvSpPr>
        <p:spPr>
          <a:xfrm>
            <a:off x="9342120" y="4509220"/>
            <a:ext cx="0" cy="428540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00" name="Shape 51">
            <a:extLst>
              <a:ext uri="{FF2B5EF4-FFF2-40B4-BE49-F238E27FC236}">
                <a16:creationId xmlns:a16="http://schemas.microsoft.com/office/drawing/2014/main" id="{8264D2B8-5CA7-4E9D-A6F2-00053239C5FD}"/>
              </a:ext>
            </a:extLst>
          </p:cNvPr>
          <p:cNvSpPr/>
          <p:nvPr/>
        </p:nvSpPr>
        <p:spPr>
          <a:xfrm flipH="1">
            <a:off x="3852444" y="4509220"/>
            <a:ext cx="0" cy="492548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01" name="Shape 52">
            <a:extLst>
              <a:ext uri="{FF2B5EF4-FFF2-40B4-BE49-F238E27FC236}">
                <a16:creationId xmlns:a16="http://schemas.microsoft.com/office/drawing/2014/main" id="{77110EF6-2379-4107-A223-6DB2F9816597}"/>
              </a:ext>
            </a:extLst>
          </p:cNvPr>
          <p:cNvSpPr/>
          <p:nvPr/>
        </p:nvSpPr>
        <p:spPr>
          <a:xfrm>
            <a:off x="7474592" y="493776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53">
            <a:extLst>
              <a:ext uri="{FF2B5EF4-FFF2-40B4-BE49-F238E27FC236}">
                <a16:creationId xmlns:a16="http://schemas.microsoft.com/office/drawing/2014/main" id="{DF5D0093-BA21-4631-A007-7A26DBA58BF4}"/>
              </a:ext>
            </a:extLst>
          </p:cNvPr>
          <p:cNvSpPr/>
          <p:nvPr/>
        </p:nvSpPr>
        <p:spPr>
          <a:xfrm>
            <a:off x="7611752" y="5065776"/>
            <a:ext cx="457200" cy="457200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3" name="Image 8" descr="/home/claude/build/icons/monitor.png">
            <a:extLst>
              <a:ext uri="{FF2B5EF4-FFF2-40B4-BE49-F238E27FC236}">
                <a16:creationId xmlns:a16="http://schemas.microsoft.com/office/drawing/2014/main" id="{0976974C-074D-4A52-B6BD-3216006DD8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4622" y="5168646"/>
            <a:ext cx="251460" cy="251460"/>
          </a:xfrm>
          <a:prstGeom prst="rect">
            <a:avLst/>
          </a:prstGeom>
        </p:spPr>
      </p:pic>
      <p:sp>
        <p:nvSpPr>
          <p:cNvPr id="104" name="Text 54">
            <a:extLst>
              <a:ext uri="{FF2B5EF4-FFF2-40B4-BE49-F238E27FC236}">
                <a16:creationId xmlns:a16="http://schemas.microsoft.com/office/drawing/2014/main" id="{65E21B09-1D34-43F5-BA0D-2463DE0EE3A0}"/>
              </a:ext>
            </a:extLst>
          </p:cNvPr>
          <p:cNvSpPr txBox="1"/>
          <p:nvPr/>
        </p:nvSpPr>
        <p:spPr>
          <a:xfrm>
            <a:off x="8160392" y="493776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Splunk Dashboard (모니터링/알림)</a:t>
            </a:r>
            <a:endParaRPr lang="en-US" sz="950" dirty="0"/>
          </a:p>
        </p:txBody>
      </p:sp>
      <p:sp>
        <p:nvSpPr>
          <p:cNvPr id="105" name="Shape 55">
            <a:extLst>
              <a:ext uri="{FF2B5EF4-FFF2-40B4-BE49-F238E27FC236}">
                <a16:creationId xmlns:a16="http://schemas.microsoft.com/office/drawing/2014/main" id="{168D4278-FF50-4D8E-AC22-BE86DFDE301D}"/>
              </a:ext>
            </a:extLst>
          </p:cNvPr>
          <p:cNvSpPr/>
          <p:nvPr/>
        </p:nvSpPr>
        <p:spPr>
          <a:xfrm>
            <a:off x="1599572" y="4974336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56">
            <a:extLst>
              <a:ext uri="{FF2B5EF4-FFF2-40B4-BE49-F238E27FC236}">
                <a16:creationId xmlns:a16="http://schemas.microsoft.com/office/drawing/2014/main" id="{EB4865F8-0BA4-4FEB-8E69-A5837592A9DC}"/>
              </a:ext>
            </a:extLst>
          </p:cNvPr>
          <p:cNvSpPr/>
          <p:nvPr/>
        </p:nvSpPr>
        <p:spPr>
          <a:xfrm>
            <a:off x="1736732" y="510235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7" name="Image 9" descr="/home/claude/build/icons/app.png">
            <a:extLst>
              <a:ext uri="{FF2B5EF4-FFF2-40B4-BE49-F238E27FC236}">
                <a16:creationId xmlns:a16="http://schemas.microsoft.com/office/drawing/2014/main" id="{18FB5347-D173-4A19-B0A8-FF0857D7E0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9602" y="5205222"/>
            <a:ext cx="251460" cy="251460"/>
          </a:xfrm>
          <a:prstGeom prst="rect">
            <a:avLst/>
          </a:prstGeom>
        </p:spPr>
      </p:pic>
      <p:sp>
        <p:nvSpPr>
          <p:cNvPr id="108" name="Text 57">
            <a:extLst>
              <a:ext uri="{FF2B5EF4-FFF2-40B4-BE49-F238E27FC236}">
                <a16:creationId xmlns:a16="http://schemas.microsoft.com/office/drawing/2014/main" id="{0449830A-EF8D-444D-A12A-C8B3FA9AA02F}"/>
              </a:ext>
            </a:extLst>
          </p:cNvPr>
          <p:cNvSpPr txBox="1"/>
          <p:nvPr/>
        </p:nvSpPr>
        <p:spPr>
          <a:xfrm>
            <a:off x="2285372" y="497433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Application (Kafka Native Client 직접구독)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39569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101B2E3-115D-425D-BE8A-DF4CDCE89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34" y="845212"/>
            <a:ext cx="9725543" cy="54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4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BF400C6-DDAA-435D-951F-15B18F758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28" y="0"/>
            <a:ext cx="10229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3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4115153-0B98-4445-8CAF-2B350D30E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01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4">
            <a:extLst>
              <a:ext uri="{FF2B5EF4-FFF2-40B4-BE49-F238E27FC236}">
                <a16:creationId xmlns:a16="http://schemas.microsoft.com/office/drawing/2014/main" id="{2BCE3F37-4F34-4AB3-9912-BD60533FDD14}"/>
              </a:ext>
            </a:extLst>
          </p:cNvPr>
          <p:cNvSpPr/>
          <p:nvPr/>
        </p:nvSpPr>
        <p:spPr>
          <a:xfrm>
            <a:off x="472440" y="13030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5">
            <a:extLst>
              <a:ext uri="{FF2B5EF4-FFF2-40B4-BE49-F238E27FC236}">
                <a16:creationId xmlns:a16="http://schemas.microsoft.com/office/drawing/2014/main" id="{2799884F-0B55-46EC-8292-A914DABBD092}"/>
              </a:ext>
            </a:extLst>
          </p:cNvPr>
          <p:cNvSpPr/>
          <p:nvPr/>
        </p:nvSpPr>
        <p:spPr>
          <a:xfrm>
            <a:off x="728472" y="15590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1" name="Image 0" descr="/home/claude/build/icons/monitor.png">
            <a:extLst>
              <a:ext uri="{FF2B5EF4-FFF2-40B4-BE49-F238E27FC236}">
                <a16:creationId xmlns:a16="http://schemas.microsoft.com/office/drawing/2014/main" id="{D45CAD0A-17EE-49D9-9452-43A7DB282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75" y="1698955"/>
            <a:ext cx="341986" cy="341986"/>
          </a:xfrm>
          <a:prstGeom prst="rect">
            <a:avLst/>
          </a:prstGeom>
        </p:spPr>
      </p:pic>
      <p:sp>
        <p:nvSpPr>
          <p:cNvPr id="112" name="Text 6">
            <a:extLst>
              <a:ext uri="{FF2B5EF4-FFF2-40B4-BE49-F238E27FC236}">
                <a16:creationId xmlns:a16="http://schemas.microsoft.com/office/drawing/2014/main" id="{1B1774ED-E147-4B5E-8127-1D4F4FA6D853}"/>
              </a:ext>
            </a:extLst>
          </p:cNvPr>
          <p:cNvSpPr txBox="1"/>
          <p:nvPr/>
        </p:nvSpPr>
        <p:spPr>
          <a:xfrm>
            <a:off x="1524000" y="15773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생산 모니터링</a:t>
            </a:r>
            <a:endParaRPr lang="en-US" sz="1500" dirty="0"/>
          </a:p>
        </p:txBody>
      </p:sp>
      <p:sp>
        <p:nvSpPr>
          <p:cNvPr id="113" name="Text 7">
            <a:extLst>
              <a:ext uri="{FF2B5EF4-FFF2-40B4-BE49-F238E27FC236}">
                <a16:creationId xmlns:a16="http://schemas.microsoft.com/office/drawing/2014/main" id="{23E596AD-B90A-46AA-A425-D3022BBD6D90}"/>
              </a:ext>
            </a:extLst>
          </p:cNvPr>
          <p:cNvSpPr txBox="1"/>
          <p:nvPr/>
        </p:nvSpPr>
        <p:spPr>
          <a:xfrm>
            <a:off x="792480" y="2171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상태, 생산량, 가동률(OEE)을 실시간 대시보드로 가시화하여 현장 의사결정을 지원합니다.</a:t>
            </a:r>
            <a:endParaRPr lang="en-US" sz="1100" dirty="0"/>
          </a:p>
        </p:txBody>
      </p:sp>
      <p:sp>
        <p:nvSpPr>
          <p:cNvPr id="114" name="Shape 8">
            <a:extLst>
              <a:ext uri="{FF2B5EF4-FFF2-40B4-BE49-F238E27FC236}">
                <a16:creationId xmlns:a16="http://schemas.microsoft.com/office/drawing/2014/main" id="{665E004C-2BA1-40FF-9001-F646B362116E}"/>
              </a:ext>
            </a:extLst>
          </p:cNvPr>
          <p:cNvSpPr/>
          <p:nvPr/>
        </p:nvSpPr>
        <p:spPr>
          <a:xfrm>
            <a:off x="6278880" y="13030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9">
            <a:extLst>
              <a:ext uri="{FF2B5EF4-FFF2-40B4-BE49-F238E27FC236}">
                <a16:creationId xmlns:a16="http://schemas.microsoft.com/office/drawing/2014/main" id="{DC004000-E103-406D-B369-A5BA1EE690A1}"/>
              </a:ext>
            </a:extLst>
          </p:cNvPr>
          <p:cNvSpPr/>
          <p:nvPr/>
        </p:nvSpPr>
        <p:spPr>
          <a:xfrm>
            <a:off x="6534912" y="1559052"/>
            <a:ext cx="621792" cy="621792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6" name="Image 1" descr="/home/claude/build/icons/alert.png">
            <a:extLst>
              <a:ext uri="{FF2B5EF4-FFF2-40B4-BE49-F238E27FC236}">
                <a16:creationId xmlns:a16="http://schemas.microsoft.com/office/drawing/2014/main" id="{CDACD9AB-1B9F-4693-9281-2B27BEDD8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815" y="1698955"/>
            <a:ext cx="341986" cy="341986"/>
          </a:xfrm>
          <a:prstGeom prst="rect">
            <a:avLst/>
          </a:prstGeom>
        </p:spPr>
      </p:pic>
      <p:sp>
        <p:nvSpPr>
          <p:cNvPr id="117" name="Text 10">
            <a:extLst>
              <a:ext uri="{FF2B5EF4-FFF2-40B4-BE49-F238E27FC236}">
                <a16:creationId xmlns:a16="http://schemas.microsoft.com/office/drawing/2014/main" id="{F3D8FE4E-A946-45FC-823B-12FFF423FA91}"/>
              </a:ext>
            </a:extLst>
          </p:cNvPr>
          <p:cNvSpPr txBox="1"/>
          <p:nvPr/>
        </p:nvSpPr>
        <p:spPr>
          <a:xfrm>
            <a:off x="7330440" y="15773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고장 · </a:t>
            </a:r>
            <a:r>
              <a:rPr lang="en-US" sz="15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</a:t>
            </a: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운용</a:t>
            </a: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(RCA)</a:t>
            </a:r>
            <a:endParaRPr lang="en-US" sz="1500" dirty="0"/>
          </a:p>
        </p:txBody>
      </p:sp>
      <p:sp>
        <p:nvSpPr>
          <p:cNvPr id="118" name="Text 11">
            <a:extLst>
              <a:ext uri="{FF2B5EF4-FFF2-40B4-BE49-F238E27FC236}">
                <a16:creationId xmlns:a16="http://schemas.microsoft.com/office/drawing/2014/main" id="{72B8F58E-20C3-4800-BE0B-228CD219BE81}"/>
              </a:ext>
            </a:extLst>
          </p:cNvPr>
          <p:cNvSpPr txBox="1"/>
          <p:nvPr/>
        </p:nvSpPr>
        <p:spPr>
          <a:xfrm>
            <a:off x="6598920" y="2171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Correlation 기반 이벤트 연관분석으로 다중 설비 간 인과관계를 파악, 근본원인(Root Cause)을 신속히 도출합니다.</a:t>
            </a:r>
            <a:endParaRPr lang="en-US" sz="1100" dirty="0"/>
          </a:p>
        </p:txBody>
      </p:sp>
      <p:sp>
        <p:nvSpPr>
          <p:cNvPr id="119" name="Shape 12">
            <a:extLst>
              <a:ext uri="{FF2B5EF4-FFF2-40B4-BE49-F238E27FC236}">
                <a16:creationId xmlns:a16="http://schemas.microsoft.com/office/drawing/2014/main" id="{D64E5FC5-8A4F-4FA1-92CC-8422633B65AD}"/>
              </a:ext>
            </a:extLst>
          </p:cNvPr>
          <p:cNvSpPr/>
          <p:nvPr/>
        </p:nvSpPr>
        <p:spPr>
          <a:xfrm>
            <a:off x="472440" y="35890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3">
            <a:extLst>
              <a:ext uri="{FF2B5EF4-FFF2-40B4-BE49-F238E27FC236}">
                <a16:creationId xmlns:a16="http://schemas.microsoft.com/office/drawing/2014/main" id="{6F9E1A32-80E0-4169-B3F5-3E2772898F7A}"/>
              </a:ext>
            </a:extLst>
          </p:cNvPr>
          <p:cNvSpPr/>
          <p:nvPr/>
        </p:nvSpPr>
        <p:spPr>
          <a:xfrm>
            <a:off x="728472" y="3845052"/>
            <a:ext cx="621792" cy="621792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1" name="Image 2" descr="/home/claude/build/icons/chart_up.png">
            <a:extLst>
              <a:ext uri="{FF2B5EF4-FFF2-40B4-BE49-F238E27FC236}">
                <a16:creationId xmlns:a16="http://schemas.microsoft.com/office/drawing/2014/main" id="{EE6B515E-8293-45D9-998B-6F6AE3D70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75" y="3984955"/>
            <a:ext cx="341986" cy="341986"/>
          </a:xfrm>
          <a:prstGeom prst="rect">
            <a:avLst/>
          </a:prstGeom>
        </p:spPr>
      </p:pic>
      <p:sp>
        <p:nvSpPr>
          <p:cNvPr id="122" name="Text 14">
            <a:extLst>
              <a:ext uri="{FF2B5EF4-FFF2-40B4-BE49-F238E27FC236}">
                <a16:creationId xmlns:a16="http://schemas.microsoft.com/office/drawing/2014/main" id="{3ACB557F-72DE-437F-8F38-B558AF53A951}"/>
              </a:ext>
            </a:extLst>
          </p:cNvPr>
          <p:cNvSpPr txBox="1"/>
          <p:nvPr/>
        </p:nvSpPr>
        <p:spPr>
          <a:xfrm>
            <a:off x="1524000" y="38633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 (Predictive Maintenance)</a:t>
            </a:r>
            <a:endParaRPr lang="en-US" sz="1500" dirty="0"/>
          </a:p>
        </p:txBody>
      </p:sp>
      <p:sp>
        <p:nvSpPr>
          <p:cNvPr id="123" name="Text 15">
            <a:extLst>
              <a:ext uri="{FF2B5EF4-FFF2-40B4-BE49-F238E27FC236}">
                <a16:creationId xmlns:a16="http://schemas.microsoft.com/office/drawing/2014/main" id="{E3859C0E-D7D0-4DFF-B31F-21438B12C7F7}"/>
              </a:ext>
            </a:extLst>
          </p:cNvPr>
          <p:cNvSpPr txBox="1"/>
          <p:nvPr/>
        </p:nvSpPr>
        <p:spPr>
          <a:xfrm>
            <a:off x="792480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이력 데이터 기반 이상 징후를 사전에 탐지하여 계획 정비로 비가동 손실을 최소화합니다.</a:t>
            </a:r>
            <a:endParaRPr lang="en-US" sz="1100" dirty="0"/>
          </a:p>
        </p:txBody>
      </p:sp>
      <p:sp>
        <p:nvSpPr>
          <p:cNvPr id="124" name="Shape 16">
            <a:extLst>
              <a:ext uri="{FF2B5EF4-FFF2-40B4-BE49-F238E27FC236}">
                <a16:creationId xmlns:a16="http://schemas.microsoft.com/office/drawing/2014/main" id="{F9FC0669-318F-4531-8F89-CC0CBB1A0DF0}"/>
              </a:ext>
            </a:extLst>
          </p:cNvPr>
          <p:cNvSpPr/>
          <p:nvPr/>
        </p:nvSpPr>
        <p:spPr>
          <a:xfrm>
            <a:off x="6278880" y="35890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7">
            <a:extLst>
              <a:ext uri="{FF2B5EF4-FFF2-40B4-BE49-F238E27FC236}">
                <a16:creationId xmlns:a16="http://schemas.microsoft.com/office/drawing/2014/main" id="{183FC8E8-C822-454B-BFE6-ADE6C3DBE765}"/>
              </a:ext>
            </a:extLst>
          </p:cNvPr>
          <p:cNvSpPr/>
          <p:nvPr/>
        </p:nvSpPr>
        <p:spPr>
          <a:xfrm>
            <a:off x="6534912" y="3845052"/>
            <a:ext cx="621792" cy="621792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6" name="Image 3" descr="/home/claude/build/icons/app.png">
            <a:extLst>
              <a:ext uri="{FF2B5EF4-FFF2-40B4-BE49-F238E27FC236}">
                <a16:creationId xmlns:a16="http://schemas.microsoft.com/office/drawing/2014/main" id="{99D1BA94-1EAF-41E0-B332-30182CE66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815" y="3984955"/>
            <a:ext cx="341986" cy="341986"/>
          </a:xfrm>
          <a:prstGeom prst="rect">
            <a:avLst/>
          </a:prstGeom>
        </p:spPr>
      </p:pic>
      <p:sp>
        <p:nvSpPr>
          <p:cNvPr id="127" name="Text 18">
            <a:extLst>
              <a:ext uri="{FF2B5EF4-FFF2-40B4-BE49-F238E27FC236}">
                <a16:creationId xmlns:a16="http://schemas.microsoft.com/office/drawing/2014/main" id="{B98F4D1F-28F6-4678-951B-40478E7DED20}"/>
              </a:ext>
            </a:extLst>
          </p:cNvPr>
          <p:cNvSpPr txBox="1"/>
          <p:nvPr/>
        </p:nvSpPr>
        <p:spPr>
          <a:xfrm>
            <a:off x="7330440" y="38633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Application 개발</a:t>
            </a:r>
            <a:endParaRPr lang="en-US" sz="1500" dirty="0"/>
          </a:p>
        </p:txBody>
      </p:sp>
      <p:sp>
        <p:nvSpPr>
          <p:cNvPr id="128" name="Text 19">
            <a:extLst>
              <a:ext uri="{FF2B5EF4-FFF2-40B4-BE49-F238E27FC236}">
                <a16:creationId xmlns:a16="http://schemas.microsoft.com/office/drawing/2014/main" id="{A98D42EA-80D6-4BAB-846D-ED805A296D97}"/>
              </a:ext>
            </a:extLst>
          </p:cNvPr>
          <p:cNvSpPr txBox="1"/>
          <p:nvPr/>
        </p:nvSpPr>
        <p:spPr>
          <a:xfrm>
            <a:off x="6598920" y="44577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2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Native Client(Java/Python/Go)로 표준 Topic을 직접 구독, 사내 시스템·App에 실시간 데이터를 즉시 연동합니다.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615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62CA28C-EA1B-424B-89A5-47B1653F7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8086"/>
            <a:ext cx="12192000" cy="472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4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opasnet.co.kr/images/sub/it1_1.jpg">
            <a:extLst>
              <a:ext uri="{FF2B5EF4-FFF2-40B4-BE49-F238E27FC236}">
                <a16:creationId xmlns:a16="http://schemas.microsoft.com/office/drawing/2014/main" id="{AA440F67-F27B-4A8C-9648-1279DBDDE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33500"/>
            <a:ext cx="11430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25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7198</TotalTime>
  <Words>298</Words>
  <Application>Microsoft Office PowerPoint</Application>
  <PresentationFormat>와이드스크린</PresentationFormat>
  <Paragraphs>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박규남</dc:creator>
  <cp:lastModifiedBy>박규남</cp:lastModifiedBy>
  <cp:revision>14</cp:revision>
  <dcterms:created xsi:type="dcterms:W3CDTF">2026-09-16T01:43:11Z</dcterms:created>
  <dcterms:modified xsi:type="dcterms:W3CDTF">2026-09-21T01:41:41Z</dcterms:modified>
</cp:coreProperties>
</file>