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8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12192000" cy="6858000"/>
  <p:notesSz cx="6735763" cy="98663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001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79690" tIns="39845" rIns="79690" bIns="3984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79690" tIns="39845" rIns="79690" bIns="39845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69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361880" y="1367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</a:rPr>
              <a:t>Management Cluster </a:t>
            </a:r>
            <a:r>
              <a:rPr lang="en-US" sz="2200" b="1" dirty="0" err="1">
                <a:solidFill>
                  <a:srgbClr val="1B2A4A"/>
                </a:solidFill>
              </a:rPr>
              <a:t>운영</a:t>
            </a:r>
            <a:r>
              <a:rPr lang="en-US" sz="2200" b="1" dirty="0">
                <a:solidFill>
                  <a:srgbClr val="1B2A4A"/>
                </a:solidFill>
              </a:rPr>
              <a:t> 아키텍처 — 네트워크 구성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89823" y="61859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</a:rPr>
              <a:t>각 Cluster 내부(Machine·Storage·CNF MacVLAN·SR-IOV·OOB) 레인 구성 · RHAAP 제어/</a:t>
            </a:r>
            <a:r>
              <a:rPr lang="en-US" sz="1050" dirty="0">
                <a:solidFill>
                  <a:srgbClr val="555555"/>
                </a:solidFill>
                <a:highlight>
                  <a:srgbClr val="FFFF00"/>
                </a:highlight>
              </a:rPr>
              <a:t>Kafka 수집</a:t>
            </a:r>
            <a:r>
              <a:rPr lang="en-US" sz="1050" dirty="0">
                <a:solidFill>
                  <a:srgbClr val="555555"/>
                </a:solidFill>
              </a:rPr>
              <a:t>/NOC 전송 경로 구분 · VPN 관리망 통합 · VIP(</a:t>
            </a:r>
            <a:r>
              <a:rPr lang="en-US" sz="1050" dirty="0" err="1">
                <a:solidFill>
                  <a:srgbClr val="555555"/>
                </a:solidFill>
              </a:rPr>
              <a:t>스위치</a:t>
            </a:r>
            <a:r>
              <a:rPr lang="en-US" sz="1050" dirty="0">
                <a:solidFill>
                  <a:srgbClr val="555555"/>
                </a:solidFill>
              </a:rPr>
              <a:t> </a:t>
            </a:r>
            <a:r>
              <a:rPr lang="ko-KR" altLang="en-US" sz="1050" dirty="0">
                <a:solidFill>
                  <a:srgbClr val="555555"/>
                </a:solidFill>
              </a:rPr>
              <a:t>이중화</a:t>
            </a:r>
            <a:r>
              <a:rPr lang="en-US" altLang="ko-KR" sz="1050" dirty="0">
                <a:solidFill>
                  <a:srgbClr val="555555"/>
                </a:solidFill>
              </a:rPr>
              <a:t> </a:t>
            </a:r>
            <a:r>
              <a:rPr lang="ko-KR" altLang="en-US" sz="1050" dirty="0">
                <a:solidFill>
                  <a:srgbClr val="555555"/>
                </a:solidFill>
              </a:rPr>
              <a:t>구성</a:t>
            </a:r>
            <a:r>
              <a:rPr lang="en-US" altLang="ko-KR" sz="1050" dirty="0">
                <a:solidFill>
                  <a:srgbClr val="555555"/>
                </a:solidFill>
              </a:rPr>
              <a:t>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599" y="1739224"/>
            <a:ext cx="1055743" cy="687146"/>
          </a:xfrm>
          <a:prstGeom prst="roundRect">
            <a:avLst>
              <a:gd name="adj" fmla="val 9231"/>
            </a:avLst>
          </a:prstGeom>
          <a:solidFill>
            <a:srgbClr val="FDEDEE"/>
          </a:solidFill>
          <a:ln w="7332">
            <a:solidFill>
              <a:srgbClr val="C027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36290" y="984838"/>
            <a:ext cx="1794762" cy="359111"/>
          </a:xfrm>
          <a:prstGeom prst="roundRect">
            <a:avLst>
              <a:gd name="adj" fmla="val 9231"/>
            </a:avLst>
          </a:prstGeom>
          <a:solidFill>
            <a:srgbClr val="FDEDEE"/>
          </a:solidFill>
          <a:ln w="7332">
            <a:solidFill>
              <a:srgbClr val="C027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82726" y="1775948"/>
            <a:ext cx="5964945" cy="1737543"/>
          </a:xfrm>
          <a:prstGeom prst="roundRect">
            <a:avLst>
              <a:gd name="adj" fmla="val 1835"/>
            </a:avLst>
          </a:prstGeom>
          <a:solidFill>
            <a:srgbClr val="EEF2F8"/>
          </a:solidFill>
          <a:ln w="10753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59" y="1941824"/>
            <a:ext cx="760135" cy="280141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49285" y="1941825"/>
            <a:ext cx="739020" cy="290792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39150" y="1916714"/>
            <a:ext cx="1154416" cy="33035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82452" y="1916714"/>
            <a:ext cx="935957" cy="305252"/>
          </a:xfrm>
          <a:prstGeom prst="roundRect">
            <a:avLst>
              <a:gd name="adj" fmla="val 10909"/>
            </a:avLst>
          </a:prstGeom>
          <a:solidFill>
            <a:srgbClr val="FFFF00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44728" y="1916714"/>
            <a:ext cx="860323" cy="298281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65357" y="2253758"/>
            <a:ext cx="1028696" cy="420443"/>
          </a:xfrm>
          <a:prstGeom prst="roundRect">
            <a:avLst>
              <a:gd name="adj" fmla="val 15000"/>
            </a:avLst>
          </a:prstGeom>
          <a:solidFill>
            <a:srgbClr val="F5F0E8"/>
          </a:solidFill>
          <a:ln w="7332">
            <a:solidFill>
              <a:srgbClr val="854F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09724" y="3150216"/>
            <a:ext cx="4753737" cy="284699"/>
          </a:xfrm>
          <a:prstGeom prst="roundRect">
            <a:avLst>
              <a:gd name="adj" fmla="val 13333"/>
            </a:avLst>
          </a:prstGeom>
          <a:solidFill>
            <a:srgbClr val="FFF4E8"/>
          </a:solidFill>
          <a:ln w="7332">
            <a:solidFill>
              <a:srgbClr val="BA7517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005800" y="1485343"/>
            <a:ext cx="1055743" cy="215715"/>
          </a:xfrm>
          <a:prstGeom prst="roundRect">
            <a:avLst>
              <a:gd name="adj" fmla="val 22222"/>
            </a:avLst>
          </a:prstGeom>
          <a:solidFill>
            <a:srgbClr val="FDEDEE"/>
          </a:solidFill>
          <a:ln w="7332">
            <a:solidFill>
              <a:srgbClr val="C027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68137" y="4332479"/>
            <a:ext cx="3640178" cy="2357825"/>
          </a:xfrm>
          <a:prstGeom prst="roundRect">
            <a:avLst>
              <a:gd name="adj" fmla="val 1250"/>
            </a:avLst>
          </a:prstGeom>
          <a:solidFill>
            <a:srgbClr val="EAF6F2"/>
          </a:solidFill>
          <a:ln w="10753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" name="Shape 26"/>
          <p:cNvSpPr/>
          <p:nvPr/>
        </p:nvSpPr>
        <p:spPr>
          <a:xfrm>
            <a:off x="2317846" y="4490840"/>
            <a:ext cx="703828" cy="287289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62440" y="4493992"/>
            <a:ext cx="774211" cy="284137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77417" y="4493992"/>
            <a:ext cx="774211" cy="2783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95167" y="5546583"/>
            <a:ext cx="35191" cy="35191"/>
          </a:xfrm>
          <a:prstGeom prst="ellipse">
            <a:avLst/>
          </a:prstGeom>
          <a:solidFill>
            <a:srgbClr val="E24B4A"/>
          </a:solidFill>
          <a:ln w="3175">
            <a:solidFill>
              <a:srgbClr val="E24B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95167" y="5828115"/>
            <a:ext cx="35191" cy="35191"/>
          </a:xfrm>
          <a:prstGeom prst="ellipse">
            <a:avLst/>
          </a:prstGeom>
          <a:solidFill>
            <a:srgbClr val="7F77DD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17846" y="6398074"/>
            <a:ext cx="2533782" cy="168919"/>
          </a:xfrm>
          <a:prstGeom prst="roundRect">
            <a:avLst>
              <a:gd name="adj" fmla="val 12500"/>
            </a:avLst>
          </a:prstGeom>
          <a:solidFill>
            <a:srgbClr val="FFF4E8"/>
          </a:solidFill>
          <a:ln w="7332">
            <a:solidFill>
              <a:srgbClr val="BA7517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2844041" y="2235508"/>
            <a:ext cx="0" cy="63284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6" name="Shape 64"/>
          <p:cNvSpPr/>
          <p:nvPr/>
        </p:nvSpPr>
        <p:spPr>
          <a:xfrm>
            <a:off x="2575154" y="2864923"/>
            <a:ext cx="4792585" cy="0"/>
          </a:xfrm>
          <a:prstGeom prst="line">
            <a:avLst/>
          </a:prstGeom>
          <a:noFill/>
          <a:ln w="11242">
            <a:solidFill>
              <a:srgbClr val="1F6FB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80105" y="3011419"/>
            <a:ext cx="4757393" cy="0"/>
          </a:xfrm>
          <a:prstGeom prst="line">
            <a:avLst/>
          </a:prstGeom>
          <a:noFill/>
          <a:ln w="11242">
            <a:solidFill>
              <a:srgbClr val="0F6E5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37943" y="2247067"/>
            <a:ext cx="0" cy="924284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7" name="Shape 95"/>
          <p:cNvSpPr/>
          <p:nvPr/>
        </p:nvSpPr>
        <p:spPr>
          <a:xfrm>
            <a:off x="2388228" y="5278680"/>
            <a:ext cx="2570573" cy="0"/>
          </a:xfrm>
          <a:prstGeom prst="line">
            <a:avLst/>
          </a:prstGeom>
          <a:noFill/>
          <a:ln w="11242">
            <a:solidFill>
              <a:srgbClr val="0E8FA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8" name="Shape 96"/>
          <p:cNvSpPr/>
          <p:nvPr/>
        </p:nvSpPr>
        <p:spPr>
          <a:xfrm>
            <a:off x="2388228" y="5564178"/>
            <a:ext cx="2160000" cy="0"/>
          </a:xfrm>
          <a:prstGeom prst="line">
            <a:avLst/>
          </a:prstGeom>
          <a:noFill/>
          <a:ln w="11242">
            <a:solidFill>
              <a:srgbClr val="E24B4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388228" y="5845710"/>
            <a:ext cx="2160000" cy="0"/>
          </a:xfrm>
          <a:prstGeom prst="line">
            <a:avLst/>
          </a:prstGeom>
          <a:noFill/>
          <a:ln w="11242">
            <a:solidFill>
              <a:srgbClr val="7F77D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H="1">
            <a:off x="4412762" y="4778129"/>
            <a:ext cx="0" cy="1606749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2" name="Shape 100"/>
          <p:cNvSpPr/>
          <p:nvPr/>
        </p:nvSpPr>
        <p:spPr>
          <a:xfrm>
            <a:off x="2388228" y="6139510"/>
            <a:ext cx="2357825" cy="0"/>
          </a:xfrm>
          <a:prstGeom prst="line">
            <a:avLst/>
          </a:prstGeom>
          <a:noFill/>
          <a:ln w="11242">
            <a:solidFill>
              <a:srgbClr val="0F6E5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2669758" y="4786095"/>
            <a:ext cx="0" cy="1589489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105" name="Shape 103"/>
          <p:cNvSpPr/>
          <p:nvPr/>
        </p:nvSpPr>
        <p:spPr>
          <a:xfrm>
            <a:off x="3438319" y="4800878"/>
            <a:ext cx="0" cy="1595613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106" name="Shape 104"/>
          <p:cNvSpPr/>
          <p:nvPr/>
        </p:nvSpPr>
        <p:spPr>
          <a:xfrm flipH="1">
            <a:off x="4182228" y="4800878"/>
            <a:ext cx="0" cy="1584000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2" name="Text 170"/>
          <p:cNvSpPr txBox="1"/>
          <p:nvPr/>
        </p:nvSpPr>
        <p:spPr>
          <a:xfrm>
            <a:off x="51599" y="1732186"/>
            <a:ext cx="1055743" cy="29149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VPN 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</a:t>
            </a:r>
            <a:endParaRPr lang="en-US" sz="800" dirty="0"/>
          </a:p>
        </p:txBody>
      </p:sp>
      <p:sp>
        <p:nvSpPr>
          <p:cNvPr id="173" name="Text 171"/>
          <p:cNvSpPr txBox="1"/>
          <p:nvPr/>
        </p:nvSpPr>
        <p:spPr>
          <a:xfrm>
            <a:off x="84362" y="1536465"/>
            <a:ext cx="1055743" cy="157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</a:t>
            </a:r>
            <a:endParaRPr lang="en-US" sz="800" dirty="0">
              <a:solidFill>
                <a:srgbClr val="55555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74" name="Text 172"/>
          <p:cNvSpPr txBox="1"/>
          <p:nvPr/>
        </p:nvSpPr>
        <p:spPr>
          <a:xfrm>
            <a:off x="5040991" y="1040921"/>
            <a:ext cx="985360" cy="11437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Operating Center (NOC)</a:t>
            </a:r>
            <a:endParaRPr lang="en-US" sz="800" dirty="0"/>
          </a:p>
        </p:txBody>
      </p:sp>
      <p:sp>
        <p:nvSpPr>
          <p:cNvPr id="175" name="Text 173"/>
          <p:cNvSpPr txBox="1"/>
          <p:nvPr/>
        </p:nvSpPr>
        <p:spPr>
          <a:xfrm>
            <a:off x="5040991" y="1172889"/>
            <a:ext cx="985360" cy="131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·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</a:t>
            </a:r>
            <a:endParaRPr lang="en-US" sz="800" dirty="0"/>
          </a:p>
        </p:txBody>
      </p:sp>
      <p:sp>
        <p:nvSpPr>
          <p:cNvPr id="176" name="Text 174"/>
          <p:cNvSpPr txBox="1"/>
          <p:nvPr/>
        </p:nvSpPr>
        <p:spPr>
          <a:xfrm>
            <a:off x="2418226" y="1811140"/>
            <a:ext cx="2181868" cy="1055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A — 관리용 특수목적 RHOCP (RHAAP + </a:t>
            </a:r>
            <a:r>
              <a:rPr lang="en-US" sz="900" b="1" dirty="0">
                <a:solidFill>
                  <a:srgbClr val="1B2A4A"/>
                </a:solidFill>
                <a:highlight>
                  <a:srgbClr val="FFFF0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</a:t>
            </a:r>
            <a:r>
              <a:rPr lang="en-US" sz="9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900" dirty="0"/>
          </a:p>
        </p:txBody>
      </p:sp>
      <p:sp>
        <p:nvSpPr>
          <p:cNvPr id="177" name="Text 175"/>
          <p:cNvSpPr txBox="1"/>
          <p:nvPr/>
        </p:nvSpPr>
        <p:spPr>
          <a:xfrm>
            <a:off x="2468908" y="1959913"/>
            <a:ext cx="668637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Bastion-A</a:t>
            </a:r>
            <a:endParaRPr lang="en-US" sz="800" dirty="0"/>
          </a:p>
        </p:txBody>
      </p:sp>
      <p:sp>
        <p:nvSpPr>
          <p:cNvPr id="178" name="Text 176"/>
          <p:cNvSpPr txBox="1"/>
          <p:nvPr/>
        </p:nvSpPr>
        <p:spPr>
          <a:xfrm>
            <a:off x="2468908" y="2062406"/>
            <a:ext cx="668637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 / 설치 CLI</a:t>
            </a:r>
            <a:endParaRPr lang="en-US" sz="800" dirty="0"/>
          </a:p>
        </p:txBody>
      </p:sp>
      <p:sp>
        <p:nvSpPr>
          <p:cNvPr id="179" name="Text 177"/>
          <p:cNvSpPr txBox="1"/>
          <p:nvPr/>
        </p:nvSpPr>
        <p:spPr>
          <a:xfrm>
            <a:off x="3370332" y="1959913"/>
            <a:ext cx="739020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Master-A ×3</a:t>
            </a:r>
            <a:endParaRPr lang="en-US" sz="800" dirty="0"/>
          </a:p>
        </p:txBody>
      </p:sp>
      <p:sp>
        <p:nvSpPr>
          <p:cNvPr id="180" name="Text 178"/>
          <p:cNvSpPr txBox="1"/>
          <p:nvPr/>
        </p:nvSpPr>
        <p:spPr>
          <a:xfrm>
            <a:off x="3349285" y="2090687"/>
            <a:ext cx="739020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181" name="Text 179"/>
          <p:cNvSpPr txBox="1"/>
          <p:nvPr/>
        </p:nvSpPr>
        <p:spPr>
          <a:xfrm>
            <a:off x="4349816" y="1959913"/>
            <a:ext cx="781786" cy="11347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RHAAP</a:t>
            </a:r>
            <a:endParaRPr lang="en-US" sz="800" dirty="0"/>
          </a:p>
        </p:txBody>
      </p:sp>
      <p:sp>
        <p:nvSpPr>
          <p:cNvPr id="182" name="Text 180"/>
          <p:cNvSpPr txBox="1"/>
          <p:nvPr/>
        </p:nvSpPr>
        <p:spPr>
          <a:xfrm>
            <a:off x="4328698" y="2068699"/>
            <a:ext cx="967306" cy="10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Automation Platform</a:t>
            </a:r>
            <a:endParaRPr lang="en-US" sz="800" dirty="0"/>
          </a:p>
        </p:txBody>
      </p:sp>
      <p:sp>
        <p:nvSpPr>
          <p:cNvPr id="183" name="Text 181"/>
          <p:cNvSpPr txBox="1"/>
          <p:nvPr/>
        </p:nvSpPr>
        <p:spPr>
          <a:xfrm>
            <a:off x="5663864" y="1927639"/>
            <a:ext cx="812451" cy="13643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Cluster</a:t>
            </a:r>
            <a:endParaRPr lang="en-US" sz="800" dirty="0"/>
          </a:p>
        </p:txBody>
      </p:sp>
      <p:sp>
        <p:nvSpPr>
          <p:cNvPr id="184" name="Text 182"/>
          <p:cNvSpPr txBox="1"/>
          <p:nvPr/>
        </p:nvSpPr>
        <p:spPr>
          <a:xfrm>
            <a:off x="5584847" y="2072471"/>
            <a:ext cx="957726" cy="12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통계/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/Log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800" dirty="0"/>
          </a:p>
        </p:txBody>
      </p:sp>
      <p:sp>
        <p:nvSpPr>
          <p:cNvPr id="185" name="Text 183"/>
          <p:cNvSpPr txBox="1"/>
          <p:nvPr/>
        </p:nvSpPr>
        <p:spPr>
          <a:xfrm>
            <a:off x="6689634" y="1959913"/>
            <a:ext cx="815417" cy="9008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Storage-A (CSI)</a:t>
            </a:r>
            <a:endParaRPr lang="en-US" sz="800" dirty="0"/>
          </a:p>
        </p:txBody>
      </p:sp>
      <p:sp>
        <p:nvSpPr>
          <p:cNvPr id="186" name="Text 184"/>
          <p:cNvSpPr txBox="1"/>
          <p:nvPr/>
        </p:nvSpPr>
        <p:spPr>
          <a:xfrm>
            <a:off x="6598334" y="2062406"/>
            <a:ext cx="906718" cy="10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A 전용</a:t>
            </a:r>
            <a:endParaRPr lang="en-US" sz="800" dirty="0"/>
          </a:p>
        </p:txBody>
      </p:sp>
      <p:sp>
        <p:nvSpPr>
          <p:cNvPr id="187" name="Text 185"/>
          <p:cNvSpPr txBox="1"/>
          <p:nvPr/>
        </p:nvSpPr>
        <p:spPr>
          <a:xfrm>
            <a:off x="4645387" y="2266954"/>
            <a:ext cx="668637" cy="15547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EE (Job Pod)</a:t>
            </a:r>
            <a:endParaRPr lang="en-US" sz="800" dirty="0"/>
          </a:p>
        </p:txBody>
      </p:sp>
      <p:sp>
        <p:nvSpPr>
          <p:cNvPr id="188" name="Text 186"/>
          <p:cNvSpPr txBox="1"/>
          <p:nvPr/>
        </p:nvSpPr>
        <p:spPr>
          <a:xfrm>
            <a:off x="4652376" y="2408348"/>
            <a:ext cx="654658" cy="13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Multus+Whereabouts</a:t>
            </a:r>
            <a:endParaRPr lang="en-US" sz="800" dirty="0"/>
          </a:p>
        </p:txBody>
      </p:sp>
      <p:sp>
        <p:nvSpPr>
          <p:cNvPr id="189" name="Text 187"/>
          <p:cNvSpPr txBox="1"/>
          <p:nvPr/>
        </p:nvSpPr>
        <p:spPr>
          <a:xfrm>
            <a:off x="1798857" y="2667218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800" dirty="0"/>
          </a:p>
        </p:txBody>
      </p:sp>
      <p:sp>
        <p:nvSpPr>
          <p:cNvPr id="190" name="Text 188"/>
          <p:cNvSpPr txBox="1"/>
          <p:nvPr/>
        </p:nvSpPr>
        <p:spPr>
          <a:xfrm>
            <a:off x="2670215" y="2749628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1000 · 172.30.10.0/24 · GW .1</a:t>
            </a:r>
            <a:endParaRPr lang="en-US" sz="800" dirty="0"/>
          </a:p>
        </p:txBody>
      </p:sp>
      <p:sp>
        <p:nvSpPr>
          <p:cNvPr id="191" name="Text 189"/>
          <p:cNvSpPr txBox="1"/>
          <p:nvPr/>
        </p:nvSpPr>
        <p:spPr>
          <a:xfrm>
            <a:off x="1814289" y="2959448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800" dirty="0"/>
          </a:p>
        </p:txBody>
      </p:sp>
      <p:sp>
        <p:nvSpPr>
          <p:cNvPr id="193" name="Text 191"/>
          <p:cNvSpPr txBox="1"/>
          <p:nvPr/>
        </p:nvSpPr>
        <p:spPr>
          <a:xfrm>
            <a:off x="3213552" y="3146250"/>
            <a:ext cx="2991271" cy="15237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MGMT</a:t>
            </a:r>
            <a:r>
              <a:rPr lang="ko-KR" alt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network:</a:t>
            </a:r>
            <a:r>
              <a:rPr lang="ko-KR" alt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</a:t>
            </a: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/iDRAC + ToR </a:t>
            </a:r>
            <a:r>
              <a:rPr lang="en-US" sz="8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</a:t>
            </a: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 cluster A</a:t>
            </a:r>
            <a:endParaRPr lang="en-US" sz="800" dirty="0"/>
          </a:p>
        </p:txBody>
      </p:sp>
      <p:sp>
        <p:nvSpPr>
          <p:cNvPr id="194" name="Text 192"/>
          <p:cNvSpPr txBox="1"/>
          <p:nvPr/>
        </p:nvSpPr>
        <p:spPr>
          <a:xfrm>
            <a:off x="3213552" y="3304386"/>
            <a:ext cx="2991271" cy="151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172.30.99.1</a:t>
            </a:r>
            <a:endParaRPr lang="en-US" sz="800" dirty="0"/>
          </a:p>
        </p:txBody>
      </p:sp>
      <p:sp>
        <p:nvSpPr>
          <p:cNvPr id="202" name="Text 200"/>
          <p:cNvSpPr txBox="1"/>
          <p:nvPr/>
        </p:nvSpPr>
        <p:spPr>
          <a:xfrm>
            <a:off x="5068736" y="1495049"/>
            <a:ext cx="929871" cy="203657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Egress LB</a:t>
            </a:r>
            <a:endParaRPr lang="en-US" sz="800" dirty="0"/>
          </a:p>
        </p:txBody>
      </p:sp>
      <p:sp>
        <p:nvSpPr>
          <p:cNvPr id="203" name="Text 201"/>
          <p:cNvSpPr txBox="1"/>
          <p:nvPr/>
        </p:nvSpPr>
        <p:spPr>
          <a:xfrm>
            <a:off x="6118298" y="1443615"/>
            <a:ext cx="1132783" cy="204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172.30.1.30:443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(NOC Pull/Push)</a:t>
            </a:r>
            <a:endParaRPr lang="en-US" sz="800" dirty="0"/>
          </a:p>
        </p:txBody>
      </p:sp>
      <p:sp>
        <p:nvSpPr>
          <p:cNvPr id="211" name="Text 209"/>
          <p:cNvSpPr txBox="1"/>
          <p:nvPr/>
        </p:nvSpPr>
        <p:spPr>
          <a:xfrm>
            <a:off x="1416576" y="4367670"/>
            <a:ext cx="1150498" cy="1087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B — 5G CNF </a:t>
            </a:r>
            <a:endParaRPr lang="en-US" sz="900" dirty="0"/>
          </a:p>
        </p:txBody>
      </p:sp>
      <p:sp>
        <p:nvSpPr>
          <p:cNvPr id="212" name="Text 210"/>
          <p:cNvSpPr txBox="1"/>
          <p:nvPr/>
        </p:nvSpPr>
        <p:spPr>
          <a:xfrm>
            <a:off x="2317846" y="4522662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Bastion-B</a:t>
            </a:r>
            <a:endParaRPr lang="en-US" sz="800" dirty="0"/>
          </a:p>
        </p:txBody>
      </p:sp>
      <p:sp>
        <p:nvSpPr>
          <p:cNvPr id="213" name="Text 211"/>
          <p:cNvSpPr txBox="1"/>
          <p:nvPr/>
        </p:nvSpPr>
        <p:spPr>
          <a:xfrm>
            <a:off x="2317846" y="4618938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 / 설치 CLI</a:t>
            </a:r>
            <a:endParaRPr lang="en-US" sz="800" dirty="0"/>
          </a:p>
        </p:txBody>
      </p:sp>
      <p:sp>
        <p:nvSpPr>
          <p:cNvPr id="214" name="Text 212"/>
          <p:cNvSpPr txBox="1"/>
          <p:nvPr/>
        </p:nvSpPr>
        <p:spPr>
          <a:xfrm>
            <a:off x="3162440" y="4522662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Master-B ×3</a:t>
            </a:r>
            <a:endParaRPr lang="en-US" sz="800" dirty="0"/>
          </a:p>
        </p:txBody>
      </p:sp>
      <p:sp>
        <p:nvSpPr>
          <p:cNvPr id="215" name="Text 213"/>
          <p:cNvSpPr txBox="1"/>
          <p:nvPr/>
        </p:nvSpPr>
        <p:spPr>
          <a:xfrm>
            <a:off x="3162440" y="4618938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216" name="Text 214"/>
          <p:cNvSpPr txBox="1"/>
          <p:nvPr/>
        </p:nvSpPr>
        <p:spPr>
          <a:xfrm>
            <a:off x="4077417" y="4522662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Worker-B</a:t>
            </a:r>
            <a:endParaRPr lang="en-US" sz="800" dirty="0"/>
          </a:p>
        </p:txBody>
      </p:sp>
      <p:sp>
        <p:nvSpPr>
          <p:cNvPr id="217" name="Text 215"/>
          <p:cNvSpPr txBox="1"/>
          <p:nvPr/>
        </p:nvSpPr>
        <p:spPr>
          <a:xfrm>
            <a:off x="4077417" y="4644275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AMF/SMF/UPF</a:t>
            </a:r>
            <a:endParaRPr lang="en-US" sz="800" dirty="0"/>
          </a:p>
        </p:txBody>
      </p:sp>
      <p:sp>
        <p:nvSpPr>
          <p:cNvPr id="218" name="Text 216"/>
          <p:cNvSpPr txBox="1"/>
          <p:nvPr/>
        </p:nvSpPr>
        <p:spPr>
          <a:xfrm>
            <a:off x="4429254" y="5094876"/>
            <a:ext cx="497396" cy="1461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 Switch </a:t>
            </a:r>
            <a:endParaRPr lang="en-US" sz="600" dirty="0"/>
          </a:p>
        </p:txBody>
      </p:sp>
      <p:sp>
        <p:nvSpPr>
          <p:cNvPr id="219" name="Text 217"/>
          <p:cNvSpPr txBox="1"/>
          <p:nvPr/>
        </p:nvSpPr>
        <p:spPr>
          <a:xfrm>
            <a:off x="4467628" y="5334576"/>
            <a:ext cx="711837" cy="9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172.31.99.2</a:t>
            </a:r>
            <a:endParaRPr lang="en-US" sz="600" dirty="0"/>
          </a:p>
        </p:txBody>
      </p:sp>
      <p:sp>
        <p:nvSpPr>
          <p:cNvPr id="220" name="Text 218"/>
          <p:cNvSpPr txBox="1"/>
          <p:nvPr/>
        </p:nvSpPr>
        <p:spPr>
          <a:xfrm>
            <a:off x="1771144" y="518059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21" name="Text 219"/>
          <p:cNvSpPr txBox="1"/>
          <p:nvPr/>
        </p:nvSpPr>
        <p:spPr>
          <a:xfrm>
            <a:off x="2437496" y="5179888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1000 · 172.31.10.0/24</a:t>
            </a:r>
            <a:endParaRPr lang="en-US" sz="600" dirty="0"/>
          </a:p>
        </p:txBody>
      </p:sp>
      <p:sp>
        <p:nvSpPr>
          <p:cNvPr id="222" name="Text 220"/>
          <p:cNvSpPr txBox="1"/>
          <p:nvPr/>
        </p:nvSpPr>
        <p:spPr>
          <a:xfrm>
            <a:off x="1786199" y="5479720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MacVLAN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(SBI/N2,N4)</a:t>
            </a:r>
            <a:endParaRPr lang="en-US" sz="600" dirty="0"/>
          </a:p>
        </p:txBody>
      </p:sp>
      <p:sp>
        <p:nvSpPr>
          <p:cNvPr id="223" name="Text 221"/>
          <p:cNvSpPr txBox="1"/>
          <p:nvPr/>
        </p:nvSpPr>
        <p:spPr>
          <a:xfrm>
            <a:off x="2437496" y="5479720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1100/2000 · 10.31.0.0/27,/28</a:t>
            </a:r>
            <a:endParaRPr lang="en-US" sz="600" dirty="0"/>
          </a:p>
        </p:txBody>
      </p:sp>
      <p:sp>
        <p:nvSpPr>
          <p:cNvPr id="224" name="Text 222"/>
          <p:cNvSpPr txBox="1"/>
          <p:nvPr/>
        </p:nvSpPr>
        <p:spPr>
          <a:xfrm>
            <a:off x="1798857" y="576916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SR-IOV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(N3/N6,UPF)</a:t>
            </a:r>
            <a:endParaRPr lang="en-US" sz="600" dirty="0"/>
          </a:p>
        </p:txBody>
      </p:sp>
      <p:sp>
        <p:nvSpPr>
          <p:cNvPr id="225" name="Text 223"/>
          <p:cNvSpPr txBox="1"/>
          <p:nvPr/>
        </p:nvSpPr>
        <p:spPr>
          <a:xfrm>
            <a:off x="2437496" y="5761251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3000/3100 · vfio-pci(DPDK)</a:t>
            </a:r>
            <a:endParaRPr lang="en-US" sz="600" dirty="0"/>
          </a:p>
        </p:txBody>
      </p:sp>
      <p:sp>
        <p:nvSpPr>
          <p:cNvPr id="228" name="Text 226"/>
          <p:cNvSpPr txBox="1"/>
          <p:nvPr/>
        </p:nvSpPr>
        <p:spPr>
          <a:xfrm>
            <a:off x="1789734" y="605974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29" name="Text 227"/>
          <p:cNvSpPr txBox="1"/>
          <p:nvPr/>
        </p:nvSpPr>
        <p:spPr>
          <a:xfrm>
            <a:off x="2437496" y="6067274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1200 · 172.31.20.0/24</a:t>
            </a:r>
            <a:endParaRPr lang="en-US" sz="600" dirty="0"/>
          </a:p>
        </p:txBody>
      </p:sp>
      <p:sp>
        <p:nvSpPr>
          <p:cNvPr id="230" name="Text 228"/>
          <p:cNvSpPr txBox="1"/>
          <p:nvPr/>
        </p:nvSpPr>
        <p:spPr>
          <a:xfrm>
            <a:off x="2317846" y="6411587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/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MGMT network: Server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/iDRAC +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 cluster B</a:t>
            </a:r>
            <a:endParaRPr lang="en-US" sz="600" dirty="0"/>
          </a:p>
        </p:txBody>
      </p:sp>
      <p:sp>
        <p:nvSpPr>
          <p:cNvPr id="231" name="Text 229"/>
          <p:cNvSpPr txBox="1"/>
          <p:nvPr/>
        </p:nvSpPr>
        <p:spPr>
          <a:xfrm>
            <a:off x="2317846" y="6479155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172.31.99.1</a:t>
            </a:r>
            <a:endParaRPr lang="en-US" sz="600" dirty="0"/>
          </a:p>
        </p:txBody>
      </p:sp>
      <p:sp>
        <p:nvSpPr>
          <p:cNvPr id="255" name="Text 171">
            <a:extLst>
              <a:ext uri="{FF2B5EF4-FFF2-40B4-BE49-F238E27FC236}">
                <a16:creationId xmlns:a16="http://schemas.microsoft.com/office/drawing/2014/main" id="{97660401-3718-4FD5-8A71-DFF51EFFA65D}"/>
              </a:ext>
            </a:extLst>
          </p:cNvPr>
          <p:cNvSpPr txBox="1"/>
          <p:nvPr/>
        </p:nvSpPr>
        <p:spPr>
          <a:xfrm>
            <a:off x="227099" y="2044544"/>
            <a:ext cx="770271" cy="173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Bastion </a:t>
            </a:r>
          </a:p>
          <a:p>
            <a:pPr marL="0" indent="0" algn="ctr">
              <a:buNone/>
            </a:pP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관리 경로</a:t>
            </a:r>
            <a:endParaRPr lang="en-US" sz="800" dirty="0"/>
          </a:p>
        </p:txBody>
      </p:sp>
      <p:sp>
        <p:nvSpPr>
          <p:cNvPr id="256" name="Shape 32">
            <a:extLst>
              <a:ext uri="{FF2B5EF4-FFF2-40B4-BE49-F238E27FC236}">
                <a16:creationId xmlns:a16="http://schemas.microsoft.com/office/drawing/2014/main" id="{74C0E114-6A93-4619-9BC6-691142F8E9E4}"/>
              </a:ext>
            </a:extLst>
          </p:cNvPr>
          <p:cNvSpPr/>
          <p:nvPr/>
        </p:nvSpPr>
        <p:spPr>
          <a:xfrm>
            <a:off x="4395167" y="6121915"/>
            <a:ext cx="35191" cy="35191"/>
          </a:xfrm>
          <a:prstGeom prst="ellipse">
            <a:avLst/>
          </a:prstGeom>
          <a:solidFill>
            <a:srgbClr val="00B050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259" name="Shape 98">
            <a:extLst>
              <a:ext uri="{FF2B5EF4-FFF2-40B4-BE49-F238E27FC236}">
                <a16:creationId xmlns:a16="http://schemas.microsoft.com/office/drawing/2014/main" id="{F10F9FA5-A44F-4955-8EDD-261AF17C7D79}"/>
              </a:ext>
            </a:extLst>
          </p:cNvPr>
          <p:cNvSpPr/>
          <p:nvPr/>
        </p:nvSpPr>
        <p:spPr>
          <a:xfrm flipH="1">
            <a:off x="3617177" y="4770196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Shape 30"/>
          <p:cNvSpPr/>
          <p:nvPr/>
        </p:nvSpPr>
        <p:spPr>
          <a:xfrm>
            <a:off x="4395167" y="526108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258" name="Shape 30">
            <a:extLst>
              <a:ext uri="{FF2B5EF4-FFF2-40B4-BE49-F238E27FC236}">
                <a16:creationId xmlns:a16="http://schemas.microsoft.com/office/drawing/2014/main" id="{77FC20C8-589B-43BD-AFA9-4D6C99080C3B}"/>
              </a:ext>
            </a:extLst>
          </p:cNvPr>
          <p:cNvSpPr/>
          <p:nvPr/>
        </p:nvSpPr>
        <p:spPr>
          <a:xfrm>
            <a:off x="3599543" y="526108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260" name="Shape 98">
            <a:extLst>
              <a:ext uri="{FF2B5EF4-FFF2-40B4-BE49-F238E27FC236}">
                <a16:creationId xmlns:a16="http://schemas.microsoft.com/office/drawing/2014/main" id="{073537D6-7EF4-4D79-AC51-BF881FB01B22}"/>
              </a:ext>
            </a:extLst>
          </p:cNvPr>
          <p:cNvSpPr/>
          <p:nvPr/>
        </p:nvSpPr>
        <p:spPr>
          <a:xfrm flipH="1">
            <a:off x="2807470" y="4772372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1" name="Shape 30">
            <a:extLst>
              <a:ext uri="{FF2B5EF4-FFF2-40B4-BE49-F238E27FC236}">
                <a16:creationId xmlns:a16="http://schemas.microsoft.com/office/drawing/2014/main" id="{D9D3C2C2-FF2D-41A4-A45D-C110A02ABC78}"/>
              </a:ext>
            </a:extLst>
          </p:cNvPr>
          <p:cNvSpPr/>
          <p:nvPr/>
        </p:nvSpPr>
        <p:spPr>
          <a:xfrm>
            <a:off x="2789836" y="526108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262" name="Shape 25">
            <a:extLst>
              <a:ext uri="{FF2B5EF4-FFF2-40B4-BE49-F238E27FC236}">
                <a16:creationId xmlns:a16="http://schemas.microsoft.com/office/drawing/2014/main" id="{73D81B14-9C05-45D5-B571-40A117DC25BB}"/>
              </a:ext>
            </a:extLst>
          </p:cNvPr>
          <p:cNvSpPr/>
          <p:nvPr/>
        </p:nvSpPr>
        <p:spPr>
          <a:xfrm>
            <a:off x="7286550" y="4354859"/>
            <a:ext cx="3640178" cy="2357825"/>
          </a:xfrm>
          <a:prstGeom prst="roundRect">
            <a:avLst>
              <a:gd name="adj" fmla="val 1250"/>
            </a:avLst>
          </a:prstGeom>
          <a:solidFill>
            <a:srgbClr val="EAF6F2"/>
          </a:solidFill>
          <a:ln w="10753">
            <a:solidFill>
              <a:srgbClr val="0F6E56"/>
            </a:solidFill>
            <a:prstDash val="solid"/>
          </a:ln>
        </p:spPr>
      </p:sp>
      <p:sp>
        <p:nvSpPr>
          <p:cNvPr id="263" name="Shape 26">
            <a:extLst>
              <a:ext uri="{FF2B5EF4-FFF2-40B4-BE49-F238E27FC236}">
                <a16:creationId xmlns:a16="http://schemas.microsoft.com/office/drawing/2014/main" id="{73896CB2-8849-4275-A5B9-C4F5D1A6EB65}"/>
              </a:ext>
            </a:extLst>
          </p:cNvPr>
          <p:cNvSpPr/>
          <p:nvPr/>
        </p:nvSpPr>
        <p:spPr>
          <a:xfrm>
            <a:off x="8236259" y="4513220"/>
            <a:ext cx="703828" cy="287289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64" name="Shape 27">
            <a:extLst>
              <a:ext uri="{FF2B5EF4-FFF2-40B4-BE49-F238E27FC236}">
                <a16:creationId xmlns:a16="http://schemas.microsoft.com/office/drawing/2014/main" id="{1192560E-B3DC-41E1-BB90-7417B83D49A1}"/>
              </a:ext>
            </a:extLst>
          </p:cNvPr>
          <p:cNvSpPr/>
          <p:nvPr/>
        </p:nvSpPr>
        <p:spPr>
          <a:xfrm>
            <a:off x="9080853" y="4516372"/>
            <a:ext cx="774211" cy="284137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65" name="Shape 28">
            <a:extLst>
              <a:ext uri="{FF2B5EF4-FFF2-40B4-BE49-F238E27FC236}">
                <a16:creationId xmlns:a16="http://schemas.microsoft.com/office/drawing/2014/main" id="{76B69E4F-0EB0-4C4D-A93B-3AF1E31F0DF1}"/>
              </a:ext>
            </a:extLst>
          </p:cNvPr>
          <p:cNvSpPr/>
          <p:nvPr/>
        </p:nvSpPr>
        <p:spPr>
          <a:xfrm>
            <a:off x="9995830" y="4516372"/>
            <a:ext cx="774211" cy="2783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66" name="Shape 31">
            <a:extLst>
              <a:ext uri="{FF2B5EF4-FFF2-40B4-BE49-F238E27FC236}">
                <a16:creationId xmlns:a16="http://schemas.microsoft.com/office/drawing/2014/main" id="{5E662153-48B6-4695-99DC-C769DDF36FC8}"/>
              </a:ext>
            </a:extLst>
          </p:cNvPr>
          <p:cNvSpPr/>
          <p:nvPr/>
        </p:nvSpPr>
        <p:spPr>
          <a:xfrm>
            <a:off x="10313580" y="5568963"/>
            <a:ext cx="35191" cy="35191"/>
          </a:xfrm>
          <a:prstGeom prst="ellipse">
            <a:avLst/>
          </a:prstGeom>
          <a:solidFill>
            <a:srgbClr val="E24B4A"/>
          </a:solidFill>
          <a:ln w="3175">
            <a:solidFill>
              <a:srgbClr val="E24B4A"/>
            </a:solidFill>
            <a:prstDash val="solid"/>
          </a:ln>
        </p:spPr>
      </p:sp>
      <p:sp>
        <p:nvSpPr>
          <p:cNvPr id="267" name="Shape 32">
            <a:extLst>
              <a:ext uri="{FF2B5EF4-FFF2-40B4-BE49-F238E27FC236}">
                <a16:creationId xmlns:a16="http://schemas.microsoft.com/office/drawing/2014/main" id="{48962F3C-7AF9-4FB5-A17E-53EFE6DA0970}"/>
              </a:ext>
            </a:extLst>
          </p:cNvPr>
          <p:cNvSpPr/>
          <p:nvPr/>
        </p:nvSpPr>
        <p:spPr>
          <a:xfrm>
            <a:off x="10313580" y="5850495"/>
            <a:ext cx="35191" cy="35191"/>
          </a:xfrm>
          <a:prstGeom prst="ellipse">
            <a:avLst/>
          </a:prstGeom>
          <a:solidFill>
            <a:srgbClr val="7F77DD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268" name="Shape 34">
            <a:extLst>
              <a:ext uri="{FF2B5EF4-FFF2-40B4-BE49-F238E27FC236}">
                <a16:creationId xmlns:a16="http://schemas.microsoft.com/office/drawing/2014/main" id="{8273F291-5E20-43DD-AB79-6479F1F8B6AB}"/>
              </a:ext>
            </a:extLst>
          </p:cNvPr>
          <p:cNvSpPr/>
          <p:nvPr/>
        </p:nvSpPr>
        <p:spPr>
          <a:xfrm>
            <a:off x="8236259" y="6420454"/>
            <a:ext cx="2533782" cy="168919"/>
          </a:xfrm>
          <a:prstGeom prst="roundRect">
            <a:avLst>
              <a:gd name="adj" fmla="val 12500"/>
            </a:avLst>
          </a:prstGeom>
          <a:solidFill>
            <a:srgbClr val="FFF4E8"/>
          </a:solidFill>
          <a:ln w="7332">
            <a:solidFill>
              <a:srgbClr val="BA7517"/>
            </a:solidFill>
            <a:prstDash val="dash"/>
          </a:ln>
        </p:spPr>
      </p:sp>
      <p:sp>
        <p:nvSpPr>
          <p:cNvPr id="269" name="Shape 95">
            <a:extLst>
              <a:ext uri="{FF2B5EF4-FFF2-40B4-BE49-F238E27FC236}">
                <a16:creationId xmlns:a16="http://schemas.microsoft.com/office/drawing/2014/main" id="{39E11845-C635-4EC0-9F7F-EEC4F0DC5595}"/>
              </a:ext>
            </a:extLst>
          </p:cNvPr>
          <p:cNvSpPr/>
          <p:nvPr/>
        </p:nvSpPr>
        <p:spPr>
          <a:xfrm>
            <a:off x="7477968" y="5301060"/>
            <a:ext cx="3186498" cy="0"/>
          </a:xfrm>
          <a:prstGeom prst="line">
            <a:avLst/>
          </a:prstGeom>
          <a:noFill/>
          <a:ln w="11242">
            <a:solidFill>
              <a:srgbClr val="0E8FA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0" name="Shape 96">
            <a:extLst>
              <a:ext uri="{FF2B5EF4-FFF2-40B4-BE49-F238E27FC236}">
                <a16:creationId xmlns:a16="http://schemas.microsoft.com/office/drawing/2014/main" id="{FF270B66-F309-47E9-AE38-29503711FFC1}"/>
              </a:ext>
            </a:extLst>
          </p:cNvPr>
          <p:cNvSpPr/>
          <p:nvPr/>
        </p:nvSpPr>
        <p:spPr>
          <a:xfrm>
            <a:off x="8306641" y="5586558"/>
            <a:ext cx="2160000" cy="0"/>
          </a:xfrm>
          <a:prstGeom prst="line">
            <a:avLst/>
          </a:prstGeom>
          <a:noFill/>
          <a:ln w="11242">
            <a:solidFill>
              <a:srgbClr val="E24B4A"/>
            </a:solidFill>
            <a:prstDash val="solid"/>
          </a:ln>
        </p:spPr>
      </p:sp>
      <p:sp>
        <p:nvSpPr>
          <p:cNvPr id="271" name="Shape 97">
            <a:extLst>
              <a:ext uri="{FF2B5EF4-FFF2-40B4-BE49-F238E27FC236}">
                <a16:creationId xmlns:a16="http://schemas.microsoft.com/office/drawing/2014/main" id="{A3D73C4A-BD4B-422F-9A48-26375E0A87DB}"/>
              </a:ext>
            </a:extLst>
          </p:cNvPr>
          <p:cNvSpPr/>
          <p:nvPr/>
        </p:nvSpPr>
        <p:spPr>
          <a:xfrm>
            <a:off x="8306641" y="5868090"/>
            <a:ext cx="2160000" cy="0"/>
          </a:xfrm>
          <a:prstGeom prst="line">
            <a:avLst/>
          </a:prstGeom>
          <a:noFill/>
          <a:ln w="11242">
            <a:solidFill>
              <a:srgbClr val="7F77DD"/>
            </a:solidFill>
            <a:prstDash val="solid"/>
          </a:ln>
        </p:spPr>
      </p:sp>
      <p:sp>
        <p:nvSpPr>
          <p:cNvPr id="272" name="Shape 98">
            <a:extLst>
              <a:ext uri="{FF2B5EF4-FFF2-40B4-BE49-F238E27FC236}">
                <a16:creationId xmlns:a16="http://schemas.microsoft.com/office/drawing/2014/main" id="{60D8C2FC-40C3-4929-B2C4-F73C84B7D1BC}"/>
              </a:ext>
            </a:extLst>
          </p:cNvPr>
          <p:cNvSpPr/>
          <p:nvPr/>
        </p:nvSpPr>
        <p:spPr>
          <a:xfrm flipH="1">
            <a:off x="10331175" y="4800509"/>
            <a:ext cx="0" cy="1606749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3" name="Shape 100">
            <a:extLst>
              <a:ext uri="{FF2B5EF4-FFF2-40B4-BE49-F238E27FC236}">
                <a16:creationId xmlns:a16="http://schemas.microsoft.com/office/drawing/2014/main" id="{45F1312C-B2F8-4094-A47C-9CC9FE99F86D}"/>
              </a:ext>
            </a:extLst>
          </p:cNvPr>
          <p:cNvSpPr/>
          <p:nvPr/>
        </p:nvSpPr>
        <p:spPr>
          <a:xfrm>
            <a:off x="8306641" y="6161890"/>
            <a:ext cx="2357825" cy="0"/>
          </a:xfrm>
          <a:prstGeom prst="line">
            <a:avLst/>
          </a:prstGeom>
          <a:noFill/>
          <a:ln w="11242">
            <a:solidFill>
              <a:srgbClr val="0F6E56"/>
            </a:solidFill>
            <a:prstDash val="solid"/>
          </a:ln>
        </p:spPr>
      </p:sp>
      <p:sp>
        <p:nvSpPr>
          <p:cNvPr id="274" name="Shape 102">
            <a:extLst>
              <a:ext uri="{FF2B5EF4-FFF2-40B4-BE49-F238E27FC236}">
                <a16:creationId xmlns:a16="http://schemas.microsoft.com/office/drawing/2014/main" id="{B827AC71-C526-4B61-ADE4-8693FAD82842}"/>
              </a:ext>
            </a:extLst>
          </p:cNvPr>
          <p:cNvSpPr/>
          <p:nvPr/>
        </p:nvSpPr>
        <p:spPr>
          <a:xfrm flipH="1">
            <a:off x="8588171" y="4808475"/>
            <a:ext cx="0" cy="1589489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275" name="Shape 103">
            <a:extLst>
              <a:ext uri="{FF2B5EF4-FFF2-40B4-BE49-F238E27FC236}">
                <a16:creationId xmlns:a16="http://schemas.microsoft.com/office/drawing/2014/main" id="{15D9D0DC-E15B-412D-9927-A1ECC85D668D}"/>
              </a:ext>
            </a:extLst>
          </p:cNvPr>
          <p:cNvSpPr/>
          <p:nvPr/>
        </p:nvSpPr>
        <p:spPr>
          <a:xfrm>
            <a:off x="9356732" y="4823258"/>
            <a:ext cx="0" cy="1595613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276" name="Shape 104">
            <a:extLst>
              <a:ext uri="{FF2B5EF4-FFF2-40B4-BE49-F238E27FC236}">
                <a16:creationId xmlns:a16="http://schemas.microsoft.com/office/drawing/2014/main" id="{4E964B1D-88FD-41B0-A809-E6EB1B61F2C0}"/>
              </a:ext>
            </a:extLst>
          </p:cNvPr>
          <p:cNvSpPr/>
          <p:nvPr/>
        </p:nvSpPr>
        <p:spPr>
          <a:xfrm flipH="1">
            <a:off x="10100641" y="4823258"/>
            <a:ext cx="0" cy="1584000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1" name="Text 209">
            <a:extLst>
              <a:ext uri="{FF2B5EF4-FFF2-40B4-BE49-F238E27FC236}">
                <a16:creationId xmlns:a16="http://schemas.microsoft.com/office/drawing/2014/main" id="{4BEA6FD3-0276-48A1-99C6-F5227FA95E99}"/>
              </a:ext>
            </a:extLst>
          </p:cNvPr>
          <p:cNvSpPr txBox="1"/>
          <p:nvPr/>
        </p:nvSpPr>
        <p:spPr>
          <a:xfrm>
            <a:off x="9356731" y="4390050"/>
            <a:ext cx="969897" cy="1139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C — 5G CNF </a:t>
            </a:r>
            <a:endParaRPr lang="en-US" sz="900" dirty="0"/>
          </a:p>
        </p:txBody>
      </p:sp>
      <p:sp>
        <p:nvSpPr>
          <p:cNvPr id="282" name="Text 210">
            <a:extLst>
              <a:ext uri="{FF2B5EF4-FFF2-40B4-BE49-F238E27FC236}">
                <a16:creationId xmlns:a16="http://schemas.microsoft.com/office/drawing/2014/main" id="{999FE4A4-F87D-47DA-9219-B3076A61F62C}"/>
              </a:ext>
            </a:extLst>
          </p:cNvPr>
          <p:cNvSpPr txBox="1"/>
          <p:nvPr/>
        </p:nvSpPr>
        <p:spPr>
          <a:xfrm>
            <a:off x="8236259" y="4565824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Bastion-C</a:t>
            </a:r>
            <a:endParaRPr lang="en-US" sz="800" dirty="0"/>
          </a:p>
        </p:txBody>
      </p:sp>
      <p:sp>
        <p:nvSpPr>
          <p:cNvPr id="283" name="Text 211">
            <a:extLst>
              <a:ext uri="{FF2B5EF4-FFF2-40B4-BE49-F238E27FC236}">
                <a16:creationId xmlns:a16="http://schemas.microsoft.com/office/drawing/2014/main" id="{151C42BD-9BDC-43B4-B9FF-AC2EB2CBCFB7}"/>
              </a:ext>
            </a:extLst>
          </p:cNvPr>
          <p:cNvSpPr txBox="1"/>
          <p:nvPr/>
        </p:nvSpPr>
        <p:spPr>
          <a:xfrm>
            <a:off x="8236259" y="4641318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 / 설치 CLI</a:t>
            </a:r>
            <a:endParaRPr lang="en-US" sz="800" dirty="0"/>
          </a:p>
        </p:txBody>
      </p:sp>
      <p:sp>
        <p:nvSpPr>
          <p:cNvPr id="284" name="Text 212">
            <a:extLst>
              <a:ext uri="{FF2B5EF4-FFF2-40B4-BE49-F238E27FC236}">
                <a16:creationId xmlns:a16="http://schemas.microsoft.com/office/drawing/2014/main" id="{E3996E02-4416-49C6-9B13-8305F554AF86}"/>
              </a:ext>
            </a:extLst>
          </p:cNvPr>
          <p:cNvSpPr txBox="1"/>
          <p:nvPr/>
        </p:nvSpPr>
        <p:spPr>
          <a:xfrm>
            <a:off x="9080853" y="4565824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Master-C ×3</a:t>
            </a:r>
            <a:endParaRPr lang="en-US" sz="800" dirty="0"/>
          </a:p>
        </p:txBody>
      </p:sp>
      <p:sp>
        <p:nvSpPr>
          <p:cNvPr id="285" name="Text 213">
            <a:extLst>
              <a:ext uri="{FF2B5EF4-FFF2-40B4-BE49-F238E27FC236}">
                <a16:creationId xmlns:a16="http://schemas.microsoft.com/office/drawing/2014/main" id="{D8452CBE-A5B1-493B-B56C-13FEED72E10B}"/>
              </a:ext>
            </a:extLst>
          </p:cNvPr>
          <p:cNvSpPr txBox="1"/>
          <p:nvPr/>
        </p:nvSpPr>
        <p:spPr>
          <a:xfrm>
            <a:off x="9080853" y="4641318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286" name="Text 214">
            <a:extLst>
              <a:ext uri="{FF2B5EF4-FFF2-40B4-BE49-F238E27FC236}">
                <a16:creationId xmlns:a16="http://schemas.microsoft.com/office/drawing/2014/main" id="{F7F973F9-7559-4B14-B00D-DBA32B7A1C99}"/>
              </a:ext>
            </a:extLst>
          </p:cNvPr>
          <p:cNvSpPr txBox="1"/>
          <p:nvPr/>
        </p:nvSpPr>
        <p:spPr>
          <a:xfrm>
            <a:off x="9995830" y="4565824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Worker-C</a:t>
            </a:r>
            <a:endParaRPr lang="en-US" sz="800" dirty="0"/>
          </a:p>
        </p:txBody>
      </p:sp>
      <p:sp>
        <p:nvSpPr>
          <p:cNvPr id="287" name="Text 215">
            <a:extLst>
              <a:ext uri="{FF2B5EF4-FFF2-40B4-BE49-F238E27FC236}">
                <a16:creationId xmlns:a16="http://schemas.microsoft.com/office/drawing/2014/main" id="{AFB55AE4-0EAD-4D93-BCEE-BF874114CA8E}"/>
              </a:ext>
            </a:extLst>
          </p:cNvPr>
          <p:cNvSpPr txBox="1"/>
          <p:nvPr/>
        </p:nvSpPr>
        <p:spPr>
          <a:xfrm>
            <a:off x="9995830" y="4666655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AMF/SMF/UPF</a:t>
            </a:r>
            <a:endParaRPr lang="en-US" sz="800" dirty="0"/>
          </a:p>
        </p:txBody>
      </p:sp>
      <p:sp>
        <p:nvSpPr>
          <p:cNvPr id="288" name="Text 216">
            <a:extLst>
              <a:ext uri="{FF2B5EF4-FFF2-40B4-BE49-F238E27FC236}">
                <a16:creationId xmlns:a16="http://schemas.microsoft.com/office/drawing/2014/main" id="{70233423-55B9-4FC9-8821-BCD49A5BAEA4}"/>
              </a:ext>
            </a:extLst>
          </p:cNvPr>
          <p:cNvSpPr txBox="1"/>
          <p:nvPr/>
        </p:nvSpPr>
        <p:spPr>
          <a:xfrm>
            <a:off x="10418198" y="5090610"/>
            <a:ext cx="497396" cy="1461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 Switch </a:t>
            </a:r>
            <a:endParaRPr lang="en-US" sz="600" dirty="0"/>
          </a:p>
        </p:txBody>
      </p:sp>
      <p:sp>
        <p:nvSpPr>
          <p:cNvPr id="289" name="Text 217">
            <a:extLst>
              <a:ext uri="{FF2B5EF4-FFF2-40B4-BE49-F238E27FC236}">
                <a16:creationId xmlns:a16="http://schemas.microsoft.com/office/drawing/2014/main" id="{D6C1D411-1C9A-4B0F-9189-215B48933FCE}"/>
              </a:ext>
            </a:extLst>
          </p:cNvPr>
          <p:cNvSpPr txBox="1"/>
          <p:nvPr/>
        </p:nvSpPr>
        <p:spPr>
          <a:xfrm>
            <a:off x="10419995" y="5041376"/>
            <a:ext cx="711837" cy="9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172.32.99.2</a:t>
            </a:r>
            <a:endParaRPr lang="en-US" sz="600" dirty="0"/>
          </a:p>
        </p:txBody>
      </p:sp>
      <p:sp>
        <p:nvSpPr>
          <p:cNvPr id="290" name="Text 218">
            <a:extLst>
              <a:ext uri="{FF2B5EF4-FFF2-40B4-BE49-F238E27FC236}">
                <a16:creationId xmlns:a16="http://schemas.microsoft.com/office/drawing/2014/main" id="{A369E30D-5AD2-45C5-9A40-CB35FDE022CD}"/>
              </a:ext>
            </a:extLst>
          </p:cNvPr>
          <p:cNvSpPr txBox="1"/>
          <p:nvPr/>
        </p:nvSpPr>
        <p:spPr>
          <a:xfrm>
            <a:off x="7689557" y="520297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91" name="Text 219">
            <a:extLst>
              <a:ext uri="{FF2B5EF4-FFF2-40B4-BE49-F238E27FC236}">
                <a16:creationId xmlns:a16="http://schemas.microsoft.com/office/drawing/2014/main" id="{C1BE6F36-EC22-47CF-98BE-BAA6DBFB9AE1}"/>
              </a:ext>
            </a:extLst>
          </p:cNvPr>
          <p:cNvSpPr txBox="1"/>
          <p:nvPr/>
        </p:nvSpPr>
        <p:spPr>
          <a:xfrm>
            <a:off x="8355909" y="5202268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1000 · 172.32.10.0/24</a:t>
            </a:r>
            <a:endParaRPr lang="en-US" sz="600" dirty="0"/>
          </a:p>
        </p:txBody>
      </p:sp>
      <p:sp>
        <p:nvSpPr>
          <p:cNvPr id="292" name="Text 220">
            <a:extLst>
              <a:ext uri="{FF2B5EF4-FFF2-40B4-BE49-F238E27FC236}">
                <a16:creationId xmlns:a16="http://schemas.microsoft.com/office/drawing/2014/main" id="{C5EF1C57-5EEA-4DAA-B4AF-859A52A55A84}"/>
              </a:ext>
            </a:extLst>
          </p:cNvPr>
          <p:cNvSpPr txBox="1"/>
          <p:nvPr/>
        </p:nvSpPr>
        <p:spPr>
          <a:xfrm>
            <a:off x="7704612" y="5502100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MacVLAN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(SBI/N2,N4)</a:t>
            </a:r>
            <a:endParaRPr lang="en-US" sz="600" dirty="0"/>
          </a:p>
        </p:txBody>
      </p:sp>
      <p:sp>
        <p:nvSpPr>
          <p:cNvPr id="293" name="Text 221">
            <a:extLst>
              <a:ext uri="{FF2B5EF4-FFF2-40B4-BE49-F238E27FC236}">
                <a16:creationId xmlns:a16="http://schemas.microsoft.com/office/drawing/2014/main" id="{B5BF523A-4D18-41EC-9316-62899D5A453D}"/>
              </a:ext>
            </a:extLst>
          </p:cNvPr>
          <p:cNvSpPr txBox="1"/>
          <p:nvPr/>
        </p:nvSpPr>
        <p:spPr>
          <a:xfrm>
            <a:off x="8355909" y="5502100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1100/2000 · 10.32.0.0/27,/28</a:t>
            </a:r>
            <a:endParaRPr lang="en-US" sz="600" dirty="0"/>
          </a:p>
        </p:txBody>
      </p:sp>
      <p:sp>
        <p:nvSpPr>
          <p:cNvPr id="294" name="Text 222">
            <a:extLst>
              <a:ext uri="{FF2B5EF4-FFF2-40B4-BE49-F238E27FC236}">
                <a16:creationId xmlns:a16="http://schemas.microsoft.com/office/drawing/2014/main" id="{97E620AC-5936-4B18-B2AB-23CD7A489F5D}"/>
              </a:ext>
            </a:extLst>
          </p:cNvPr>
          <p:cNvSpPr txBox="1"/>
          <p:nvPr/>
        </p:nvSpPr>
        <p:spPr>
          <a:xfrm>
            <a:off x="7717270" y="579154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SR-IOV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(N3/N6,UPF)</a:t>
            </a:r>
            <a:endParaRPr lang="en-US" sz="600" dirty="0"/>
          </a:p>
        </p:txBody>
      </p:sp>
      <p:sp>
        <p:nvSpPr>
          <p:cNvPr id="295" name="Text 223">
            <a:extLst>
              <a:ext uri="{FF2B5EF4-FFF2-40B4-BE49-F238E27FC236}">
                <a16:creationId xmlns:a16="http://schemas.microsoft.com/office/drawing/2014/main" id="{43FB19A4-DD35-49A5-AF92-7114BCA223B7}"/>
              </a:ext>
            </a:extLst>
          </p:cNvPr>
          <p:cNvSpPr txBox="1"/>
          <p:nvPr/>
        </p:nvSpPr>
        <p:spPr>
          <a:xfrm>
            <a:off x="8355909" y="5783631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3000/3100 · vfio-pci(DPDK)</a:t>
            </a:r>
            <a:endParaRPr lang="en-US" sz="600" dirty="0"/>
          </a:p>
        </p:txBody>
      </p:sp>
      <p:sp>
        <p:nvSpPr>
          <p:cNvPr id="296" name="Text 226">
            <a:extLst>
              <a:ext uri="{FF2B5EF4-FFF2-40B4-BE49-F238E27FC236}">
                <a16:creationId xmlns:a16="http://schemas.microsoft.com/office/drawing/2014/main" id="{4B24C1F5-0EB4-4485-8DE3-30414B1B7A3C}"/>
              </a:ext>
            </a:extLst>
          </p:cNvPr>
          <p:cNvSpPr txBox="1"/>
          <p:nvPr/>
        </p:nvSpPr>
        <p:spPr>
          <a:xfrm>
            <a:off x="7708147" y="608212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97" name="Text 227">
            <a:extLst>
              <a:ext uri="{FF2B5EF4-FFF2-40B4-BE49-F238E27FC236}">
                <a16:creationId xmlns:a16="http://schemas.microsoft.com/office/drawing/2014/main" id="{186A65AB-0998-4620-871E-B2D279F731E6}"/>
              </a:ext>
            </a:extLst>
          </p:cNvPr>
          <p:cNvSpPr txBox="1"/>
          <p:nvPr/>
        </p:nvSpPr>
        <p:spPr>
          <a:xfrm>
            <a:off x="8355909" y="6089654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1200 · 172.32.20.0/24</a:t>
            </a:r>
            <a:endParaRPr lang="en-US" sz="600" dirty="0"/>
          </a:p>
        </p:txBody>
      </p:sp>
      <p:sp>
        <p:nvSpPr>
          <p:cNvPr id="298" name="Text 228">
            <a:extLst>
              <a:ext uri="{FF2B5EF4-FFF2-40B4-BE49-F238E27FC236}">
                <a16:creationId xmlns:a16="http://schemas.microsoft.com/office/drawing/2014/main" id="{12B87896-9598-4AAC-ADC0-A22BEB31D22D}"/>
              </a:ext>
            </a:extLst>
          </p:cNvPr>
          <p:cNvSpPr txBox="1"/>
          <p:nvPr/>
        </p:nvSpPr>
        <p:spPr>
          <a:xfrm>
            <a:off x="8236259" y="6433967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/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MGMT network: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/iDRAC +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 cluster C</a:t>
            </a:r>
            <a:endParaRPr lang="en-US" sz="600" dirty="0"/>
          </a:p>
        </p:txBody>
      </p:sp>
      <p:sp>
        <p:nvSpPr>
          <p:cNvPr id="299" name="Text 229">
            <a:extLst>
              <a:ext uri="{FF2B5EF4-FFF2-40B4-BE49-F238E27FC236}">
                <a16:creationId xmlns:a16="http://schemas.microsoft.com/office/drawing/2014/main" id="{834F22FA-D279-4547-A599-5BF3FCBB3568}"/>
              </a:ext>
            </a:extLst>
          </p:cNvPr>
          <p:cNvSpPr txBox="1"/>
          <p:nvPr/>
        </p:nvSpPr>
        <p:spPr>
          <a:xfrm>
            <a:off x="8236259" y="6501535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172.32.99.1</a:t>
            </a:r>
            <a:endParaRPr lang="en-US" sz="600" dirty="0"/>
          </a:p>
        </p:txBody>
      </p:sp>
      <p:sp>
        <p:nvSpPr>
          <p:cNvPr id="300" name="Text 230">
            <a:extLst>
              <a:ext uri="{FF2B5EF4-FFF2-40B4-BE49-F238E27FC236}">
                <a16:creationId xmlns:a16="http://schemas.microsoft.com/office/drawing/2014/main" id="{24A883C6-C79D-4B80-B47E-D9567B4D54B6}"/>
              </a:ext>
            </a:extLst>
          </p:cNvPr>
          <p:cNvSpPr txBox="1"/>
          <p:nvPr/>
        </p:nvSpPr>
        <p:spPr>
          <a:xfrm>
            <a:off x="9356732" y="6317140"/>
            <a:ext cx="387106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854F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Port</a:t>
            </a:r>
            <a:endParaRPr lang="en-US" sz="600" dirty="0"/>
          </a:p>
        </p:txBody>
      </p:sp>
      <p:sp>
        <p:nvSpPr>
          <p:cNvPr id="301" name="Shape 32">
            <a:extLst>
              <a:ext uri="{FF2B5EF4-FFF2-40B4-BE49-F238E27FC236}">
                <a16:creationId xmlns:a16="http://schemas.microsoft.com/office/drawing/2014/main" id="{A5B1FD3E-CA59-472E-8C59-17EC956D1FEE}"/>
              </a:ext>
            </a:extLst>
          </p:cNvPr>
          <p:cNvSpPr/>
          <p:nvPr/>
        </p:nvSpPr>
        <p:spPr>
          <a:xfrm>
            <a:off x="10313580" y="6144295"/>
            <a:ext cx="35191" cy="35191"/>
          </a:xfrm>
          <a:prstGeom prst="ellipse">
            <a:avLst/>
          </a:prstGeom>
          <a:solidFill>
            <a:srgbClr val="00B050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302" name="Shape 98">
            <a:extLst>
              <a:ext uri="{FF2B5EF4-FFF2-40B4-BE49-F238E27FC236}">
                <a16:creationId xmlns:a16="http://schemas.microsoft.com/office/drawing/2014/main" id="{E8791106-B937-4A75-A037-3DDEA8E41591}"/>
              </a:ext>
            </a:extLst>
          </p:cNvPr>
          <p:cNvSpPr/>
          <p:nvPr/>
        </p:nvSpPr>
        <p:spPr>
          <a:xfrm flipH="1">
            <a:off x="9535590" y="4792576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3" name="Shape 30">
            <a:extLst>
              <a:ext uri="{FF2B5EF4-FFF2-40B4-BE49-F238E27FC236}">
                <a16:creationId xmlns:a16="http://schemas.microsoft.com/office/drawing/2014/main" id="{85255EE7-FD17-4FEE-87BB-F21F51CD5D31}"/>
              </a:ext>
            </a:extLst>
          </p:cNvPr>
          <p:cNvSpPr/>
          <p:nvPr/>
        </p:nvSpPr>
        <p:spPr>
          <a:xfrm>
            <a:off x="10313580" y="528346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304" name="Shape 30">
            <a:extLst>
              <a:ext uri="{FF2B5EF4-FFF2-40B4-BE49-F238E27FC236}">
                <a16:creationId xmlns:a16="http://schemas.microsoft.com/office/drawing/2014/main" id="{C7128658-EFF7-4E0F-8D98-3300BED28BDD}"/>
              </a:ext>
            </a:extLst>
          </p:cNvPr>
          <p:cNvSpPr/>
          <p:nvPr/>
        </p:nvSpPr>
        <p:spPr>
          <a:xfrm>
            <a:off x="9517956" y="528346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305" name="Shape 98">
            <a:extLst>
              <a:ext uri="{FF2B5EF4-FFF2-40B4-BE49-F238E27FC236}">
                <a16:creationId xmlns:a16="http://schemas.microsoft.com/office/drawing/2014/main" id="{0D41DA53-C6D9-471D-AFFB-C6681561145A}"/>
              </a:ext>
            </a:extLst>
          </p:cNvPr>
          <p:cNvSpPr/>
          <p:nvPr/>
        </p:nvSpPr>
        <p:spPr>
          <a:xfrm flipH="1">
            <a:off x="8725883" y="4794752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6" name="Shape 30">
            <a:extLst>
              <a:ext uri="{FF2B5EF4-FFF2-40B4-BE49-F238E27FC236}">
                <a16:creationId xmlns:a16="http://schemas.microsoft.com/office/drawing/2014/main" id="{BA736F86-B1D8-44DD-B750-427D13468F6F}"/>
              </a:ext>
            </a:extLst>
          </p:cNvPr>
          <p:cNvSpPr/>
          <p:nvPr/>
        </p:nvSpPr>
        <p:spPr>
          <a:xfrm>
            <a:off x="8708249" y="528346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307" name="Shape 23">
            <a:extLst>
              <a:ext uri="{FF2B5EF4-FFF2-40B4-BE49-F238E27FC236}">
                <a16:creationId xmlns:a16="http://schemas.microsoft.com/office/drawing/2014/main" id="{C87A7C77-0287-47C7-B780-F10CEBFCAD2C}"/>
              </a:ext>
            </a:extLst>
          </p:cNvPr>
          <p:cNvSpPr/>
          <p:nvPr/>
        </p:nvSpPr>
        <p:spPr>
          <a:xfrm>
            <a:off x="3936651" y="3781393"/>
            <a:ext cx="4100107" cy="354366"/>
          </a:xfrm>
          <a:prstGeom prst="roundRect">
            <a:avLst>
              <a:gd name="adj" fmla="val 0"/>
            </a:avLst>
          </a:prstGeom>
          <a:solidFill>
            <a:srgbClr val="F3ECFB"/>
          </a:solidFill>
          <a:ln w="7332">
            <a:solidFill>
              <a:srgbClr val="534AB7"/>
            </a:solidFill>
            <a:prstDash val="solid"/>
          </a:ln>
        </p:spPr>
      </p:sp>
      <p:sp>
        <p:nvSpPr>
          <p:cNvPr id="318" name="Text 203">
            <a:extLst>
              <a:ext uri="{FF2B5EF4-FFF2-40B4-BE49-F238E27FC236}">
                <a16:creationId xmlns:a16="http://schemas.microsoft.com/office/drawing/2014/main" id="{55E4B43D-0261-49A0-A4C6-EEE6FD48ACDF}"/>
              </a:ext>
            </a:extLst>
          </p:cNvPr>
          <p:cNvSpPr txBox="1"/>
          <p:nvPr/>
        </p:nvSpPr>
        <p:spPr>
          <a:xfrm>
            <a:off x="4470957" y="3800602"/>
            <a:ext cx="3031495" cy="17952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Inter-Cluster Aggregation Switch</a:t>
            </a:r>
            <a:endParaRPr lang="en-US" sz="900" dirty="0"/>
          </a:p>
        </p:txBody>
      </p:sp>
      <p:sp>
        <p:nvSpPr>
          <p:cNvPr id="319" name="Text 204">
            <a:extLst>
              <a:ext uri="{FF2B5EF4-FFF2-40B4-BE49-F238E27FC236}">
                <a16:creationId xmlns:a16="http://schemas.microsoft.com/office/drawing/2014/main" id="{D0EFE8F2-588D-4BEC-934A-D5A02F5C53CE}"/>
              </a:ext>
            </a:extLst>
          </p:cNvPr>
          <p:cNvSpPr txBox="1"/>
          <p:nvPr/>
        </p:nvSpPr>
        <p:spPr>
          <a:xfrm>
            <a:off x="4109352" y="3989986"/>
            <a:ext cx="3790913" cy="140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A ↔ B/C L3 라우팅 (동일 서브넷 불필요, 단일 스위치) · Mgmt IP 172.30.1.1</a:t>
            </a:r>
            <a:endParaRPr lang="en-US" sz="800" dirty="0"/>
          </a:p>
        </p:txBody>
      </p:sp>
      <p:sp>
        <p:nvSpPr>
          <p:cNvPr id="320" name="Shape 20">
            <a:extLst>
              <a:ext uri="{FF2B5EF4-FFF2-40B4-BE49-F238E27FC236}">
                <a16:creationId xmlns:a16="http://schemas.microsoft.com/office/drawing/2014/main" id="{34231D2D-301A-45EC-A7D2-8DC210EB73C1}"/>
              </a:ext>
            </a:extLst>
          </p:cNvPr>
          <p:cNvSpPr/>
          <p:nvPr/>
        </p:nvSpPr>
        <p:spPr>
          <a:xfrm>
            <a:off x="8314387" y="2716906"/>
            <a:ext cx="1755033" cy="31672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332">
            <a:solidFill>
              <a:srgbClr val="5F5E5A"/>
            </a:solidFill>
            <a:prstDash val="solid"/>
          </a:ln>
        </p:spPr>
      </p:sp>
      <p:sp>
        <p:nvSpPr>
          <p:cNvPr id="321" name="Shape 21">
            <a:extLst>
              <a:ext uri="{FF2B5EF4-FFF2-40B4-BE49-F238E27FC236}">
                <a16:creationId xmlns:a16="http://schemas.microsoft.com/office/drawing/2014/main" id="{D524D73F-0F0F-454E-BE0A-C569319DF660}"/>
              </a:ext>
            </a:extLst>
          </p:cNvPr>
          <p:cNvSpPr/>
          <p:nvPr/>
        </p:nvSpPr>
        <p:spPr>
          <a:xfrm>
            <a:off x="9680310" y="3441598"/>
            <a:ext cx="1682296" cy="31672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332">
            <a:solidFill>
              <a:srgbClr val="5F5E5A"/>
            </a:solidFill>
            <a:prstDash val="solid"/>
          </a:ln>
        </p:spPr>
      </p:sp>
      <p:sp>
        <p:nvSpPr>
          <p:cNvPr id="324" name="Text 196">
            <a:extLst>
              <a:ext uri="{FF2B5EF4-FFF2-40B4-BE49-F238E27FC236}">
                <a16:creationId xmlns:a16="http://schemas.microsoft.com/office/drawing/2014/main" id="{C3EAB912-E371-4E1E-8BAB-BAFFAABF6CAF}"/>
              </a:ext>
            </a:extLst>
          </p:cNvPr>
          <p:cNvSpPr txBox="1"/>
          <p:nvPr/>
        </p:nvSpPr>
        <p:spPr>
          <a:xfrm>
            <a:off x="8664032" y="2730032"/>
            <a:ext cx="1055743" cy="158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Harbor Registry</a:t>
            </a:r>
            <a:endParaRPr lang="en-US" sz="800" dirty="0"/>
          </a:p>
        </p:txBody>
      </p:sp>
      <p:sp>
        <p:nvSpPr>
          <p:cNvPr id="325" name="Text 197">
            <a:extLst>
              <a:ext uri="{FF2B5EF4-FFF2-40B4-BE49-F238E27FC236}">
                <a16:creationId xmlns:a16="http://schemas.microsoft.com/office/drawing/2014/main" id="{25B3D30E-1A22-4327-9B1F-E77F3883C794}"/>
              </a:ext>
            </a:extLst>
          </p:cNvPr>
          <p:cNvSpPr txBox="1"/>
          <p:nvPr/>
        </p:nvSpPr>
        <p:spPr>
          <a:xfrm>
            <a:off x="8360480" y="2888594"/>
            <a:ext cx="1662846" cy="140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RHOCP/Operator/CNF Image 공용</a:t>
            </a:r>
            <a:endParaRPr lang="en-US" sz="800" dirty="0"/>
          </a:p>
        </p:txBody>
      </p:sp>
      <p:sp>
        <p:nvSpPr>
          <p:cNvPr id="326" name="Text 198">
            <a:extLst>
              <a:ext uri="{FF2B5EF4-FFF2-40B4-BE49-F238E27FC236}">
                <a16:creationId xmlns:a16="http://schemas.microsoft.com/office/drawing/2014/main" id="{37F81400-4E25-438E-8289-CC17CBD7008D}"/>
              </a:ext>
            </a:extLst>
          </p:cNvPr>
          <p:cNvSpPr txBox="1"/>
          <p:nvPr/>
        </p:nvSpPr>
        <p:spPr>
          <a:xfrm>
            <a:off x="9923204" y="3467603"/>
            <a:ext cx="1196508" cy="158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Storage Cluster</a:t>
            </a:r>
            <a:endParaRPr lang="en-US" sz="800" dirty="0"/>
          </a:p>
        </p:txBody>
      </p:sp>
      <p:sp>
        <p:nvSpPr>
          <p:cNvPr id="327" name="Text 199">
            <a:extLst>
              <a:ext uri="{FF2B5EF4-FFF2-40B4-BE49-F238E27FC236}">
                <a16:creationId xmlns:a16="http://schemas.microsoft.com/office/drawing/2014/main" id="{1608CFBD-2275-46A7-B35F-C0FF9C4525C4}"/>
              </a:ext>
            </a:extLst>
          </p:cNvPr>
          <p:cNvSpPr txBox="1"/>
          <p:nvPr/>
        </p:nvSpPr>
        <p:spPr>
          <a:xfrm>
            <a:off x="9923204" y="3630141"/>
            <a:ext cx="1196508" cy="158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Harbor 백엔드 (Ceph, 공용)</a:t>
            </a:r>
            <a:endParaRPr lang="en-US" sz="800" dirty="0"/>
          </a:p>
        </p:txBody>
      </p:sp>
      <p:sp>
        <p:nvSpPr>
          <p:cNvPr id="328" name="Shape 11">
            <a:extLst>
              <a:ext uri="{FF2B5EF4-FFF2-40B4-BE49-F238E27FC236}">
                <a16:creationId xmlns:a16="http://schemas.microsoft.com/office/drawing/2014/main" id="{9207FCE9-AE8F-4797-A0E3-9817FCFBC54B}"/>
              </a:ext>
            </a:extLst>
          </p:cNvPr>
          <p:cNvSpPr/>
          <p:nvPr/>
        </p:nvSpPr>
        <p:spPr>
          <a:xfrm>
            <a:off x="4633730" y="5985168"/>
            <a:ext cx="860323" cy="27474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29" name="Text 183">
            <a:extLst>
              <a:ext uri="{FF2B5EF4-FFF2-40B4-BE49-F238E27FC236}">
                <a16:creationId xmlns:a16="http://schemas.microsoft.com/office/drawing/2014/main" id="{72537836-37B1-4AA6-BAF0-BA705DC8F115}"/>
              </a:ext>
            </a:extLst>
          </p:cNvPr>
          <p:cNvSpPr txBox="1"/>
          <p:nvPr/>
        </p:nvSpPr>
        <p:spPr>
          <a:xfrm>
            <a:off x="4656183" y="6029901"/>
            <a:ext cx="815417" cy="9008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Storage-B (CSI)</a:t>
            </a:r>
            <a:endParaRPr lang="en-US" sz="800" dirty="0"/>
          </a:p>
        </p:txBody>
      </p:sp>
      <p:sp>
        <p:nvSpPr>
          <p:cNvPr id="330" name="Text 184">
            <a:extLst>
              <a:ext uri="{FF2B5EF4-FFF2-40B4-BE49-F238E27FC236}">
                <a16:creationId xmlns:a16="http://schemas.microsoft.com/office/drawing/2014/main" id="{F05D8734-60B0-4D40-911F-E0D293233D24}"/>
              </a:ext>
            </a:extLst>
          </p:cNvPr>
          <p:cNvSpPr txBox="1"/>
          <p:nvPr/>
        </p:nvSpPr>
        <p:spPr>
          <a:xfrm>
            <a:off x="4610532" y="6107322"/>
            <a:ext cx="906718" cy="10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B 전용</a:t>
            </a:r>
            <a:endParaRPr lang="en-US" sz="800" dirty="0"/>
          </a:p>
        </p:txBody>
      </p:sp>
      <p:sp>
        <p:nvSpPr>
          <p:cNvPr id="331" name="Shape 11">
            <a:extLst>
              <a:ext uri="{FF2B5EF4-FFF2-40B4-BE49-F238E27FC236}">
                <a16:creationId xmlns:a16="http://schemas.microsoft.com/office/drawing/2014/main" id="{755D933C-45CE-4ACE-BAC3-B45B8F542E6B}"/>
              </a:ext>
            </a:extLst>
          </p:cNvPr>
          <p:cNvSpPr/>
          <p:nvPr/>
        </p:nvSpPr>
        <p:spPr>
          <a:xfrm>
            <a:off x="10488658" y="6018745"/>
            <a:ext cx="860323" cy="27474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32" name="Text 183">
            <a:extLst>
              <a:ext uri="{FF2B5EF4-FFF2-40B4-BE49-F238E27FC236}">
                <a16:creationId xmlns:a16="http://schemas.microsoft.com/office/drawing/2014/main" id="{3719B5B1-8060-4308-A3B4-0060E18913A5}"/>
              </a:ext>
            </a:extLst>
          </p:cNvPr>
          <p:cNvSpPr txBox="1"/>
          <p:nvPr/>
        </p:nvSpPr>
        <p:spPr>
          <a:xfrm>
            <a:off x="10511111" y="6063478"/>
            <a:ext cx="815417" cy="9008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Storage-C (CSI)</a:t>
            </a:r>
            <a:endParaRPr lang="en-US" sz="800" dirty="0"/>
          </a:p>
        </p:txBody>
      </p:sp>
      <p:sp>
        <p:nvSpPr>
          <p:cNvPr id="333" name="Text 184">
            <a:extLst>
              <a:ext uri="{FF2B5EF4-FFF2-40B4-BE49-F238E27FC236}">
                <a16:creationId xmlns:a16="http://schemas.microsoft.com/office/drawing/2014/main" id="{CDCE8425-B16B-4F78-96B7-9664022A741E}"/>
              </a:ext>
            </a:extLst>
          </p:cNvPr>
          <p:cNvSpPr txBox="1"/>
          <p:nvPr/>
        </p:nvSpPr>
        <p:spPr>
          <a:xfrm>
            <a:off x="10455199" y="6173608"/>
            <a:ext cx="906718" cy="10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C 전용</a:t>
            </a:r>
            <a:endParaRPr lang="en-US" sz="800" dirty="0"/>
          </a:p>
        </p:txBody>
      </p:sp>
      <p:sp>
        <p:nvSpPr>
          <p:cNvPr id="334" name="Shape 70">
            <a:extLst>
              <a:ext uri="{FF2B5EF4-FFF2-40B4-BE49-F238E27FC236}">
                <a16:creationId xmlns:a16="http://schemas.microsoft.com/office/drawing/2014/main" id="{9871E599-B878-479D-BB99-C4626093E590}"/>
              </a:ext>
            </a:extLst>
          </p:cNvPr>
          <p:cNvSpPr/>
          <p:nvPr/>
        </p:nvSpPr>
        <p:spPr>
          <a:xfrm>
            <a:off x="6789824" y="2225480"/>
            <a:ext cx="0" cy="924736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5" name="Shape 70">
            <a:extLst>
              <a:ext uri="{FF2B5EF4-FFF2-40B4-BE49-F238E27FC236}">
                <a16:creationId xmlns:a16="http://schemas.microsoft.com/office/drawing/2014/main" id="{1D91C928-8C26-4357-8DCD-B5C61A088968}"/>
              </a:ext>
            </a:extLst>
          </p:cNvPr>
          <p:cNvSpPr/>
          <p:nvPr/>
        </p:nvSpPr>
        <p:spPr>
          <a:xfrm>
            <a:off x="4359435" y="2253759"/>
            <a:ext cx="0" cy="892492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6" name="Shape 70">
            <a:extLst>
              <a:ext uri="{FF2B5EF4-FFF2-40B4-BE49-F238E27FC236}">
                <a16:creationId xmlns:a16="http://schemas.microsoft.com/office/drawing/2014/main" id="{D76A3C27-0B3A-4E11-9B05-350ED340E398}"/>
              </a:ext>
            </a:extLst>
          </p:cNvPr>
          <p:cNvSpPr/>
          <p:nvPr/>
        </p:nvSpPr>
        <p:spPr>
          <a:xfrm>
            <a:off x="3477038" y="2247067"/>
            <a:ext cx="0" cy="892492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7" name="Shape 70">
            <a:extLst>
              <a:ext uri="{FF2B5EF4-FFF2-40B4-BE49-F238E27FC236}">
                <a16:creationId xmlns:a16="http://schemas.microsoft.com/office/drawing/2014/main" id="{EF63FB8A-9B85-4434-AAE9-A58988A27893}"/>
              </a:ext>
            </a:extLst>
          </p:cNvPr>
          <p:cNvSpPr/>
          <p:nvPr/>
        </p:nvSpPr>
        <p:spPr>
          <a:xfrm>
            <a:off x="2629374" y="2247067"/>
            <a:ext cx="0" cy="892492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9" name="Shape 58">
            <a:extLst>
              <a:ext uri="{FF2B5EF4-FFF2-40B4-BE49-F238E27FC236}">
                <a16:creationId xmlns:a16="http://schemas.microsoft.com/office/drawing/2014/main" id="{5D940BBF-C574-4A1B-BCA2-4F843BFCB04D}"/>
              </a:ext>
            </a:extLst>
          </p:cNvPr>
          <p:cNvSpPr/>
          <p:nvPr/>
        </p:nvSpPr>
        <p:spPr>
          <a:xfrm>
            <a:off x="3692256" y="2235508"/>
            <a:ext cx="0" cy="63284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1" name="Shape 58">
            <a:extLst>
              <a:ext uri="{FF2B5EF4-FFF2-40B4-BE49-F238E27FC236}">
                <a16:creationId xmlns:a16="http://schemas.microsoft.com/office/drawing/2014/main" id="{CCBCC845-3D49-4EA0-8AC4-E849E3813D34}"/>
              </a:ext>
            </a:extLst>
          </p:cNvPr>
          <p:cNvSpPr/>
          <p:nvPr/>
        </p:nvSpPr>
        <p:spPr>
          <a:xfrm flipH="1">
            <a:off x="5060275" y="2684858"/>
            <a:ext cx="0" cy="18349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3" name="Shape 58">
            <a:extLst>
              <a:ext uri="{FF2B5EF4-FFF2-40B4-BE49-F238E27FC236}">
                <a16:creationId xmlns:a16="http://schemas.microsoft.com/office/drawing/2014/main" id="{0CF46F8F-BA06-4626-A038-F336E3080ABA}"/>
              </a:ext>
            </a:extLst>
          </p:cNvPr>
          <p:cNvSpPr/>
          <p:nvPr/>
        </p:nvSpPr>
        <p:spPr>
          <a:xfrm>
            <a:off x="6047462" y="2243588"/>
            <a:ext cx="0" cy="62476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0" name="Shape 58">
            <a:extLst>
              <a:ext uri="{FF2B5EF4-FFF2-40B4-BE49-F238E27FC236}">
                <a16:creationId xmlns:a16="http://schemas.microsoft.com/office/drawing/2014/main" id="{BC0D0142-36BA-4A69-9EB1-CEFF3150900F}"/>
              </a:ext>
            </a:extLst>
          </p:cNvPr>
          <p:cNvSpPr/>
          <p:nvPr/>
        </p:nvSpPr>
        <p:spPr>
          <a:xfrm>
            <a:off x="6931393" y="2221966"/>
            <a:ext cx="0" cy="646390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1" name="Shape 65">
            <a:extLst>
              <a:ext uri="{FF2B5EF4-FFF2-40B4-BE49-F238E27FC236}">
                <a16:creationId xmlns:a16="http://schemas.microsoft.com/office/drawing/2014/main" id="{73DF3202-B8A3-44C6-A318-96217D218808}"/>
              </a:ext>
            </a:extLst>
          </p:cNvPr>
          <p:cNvSpPr/>
          <p:nvPr/>
        </p:nvSpPr>
        <p:spPr>
          <a:xfrm>
            <a:off x="7080648" y="2214995"/>
            <a:ext cx="0" cy="796424"/>
          </a:xfrm>
          <a:prstGeom prst="line">
            <a:avLst/>
          </a:prstGeom>
          <a:noFill/>
          <a:ln w="8798">
            <a:solidFill>
              <a:srgbClr val="0F6E56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2" name="Text 190">
            <a:extLst>
              <a:ext uri="{FF2B5EF4-FFF2-40B4-BE49-F238E27FC236}">
                <a16:creationId xmlns:a16="http://schemas.microsoft.com/office/drawing/2014/main" id="{D9DE9E08-6E35-46D6-A408-FCA4F4E0EFC2}"/>
              </a:ext>
            </a:extLst>
          </p:cNvPr>
          <p:cNvSpPr txBox="1"/>
          <p:nvPr/>
        </p:nvSpPr>
        <p:spPr>
          <a:xfrm>
            <a:off x="2639952" y="2921775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1200 · 172.30.20.0/24</a:t>
            </a:r>
            <a:endParaRPr lang="en-US" sz="800" dirty="0"/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D1F6E120-B8F4-4BD6-8721-E5E31ADD94CE}"/>
              </a:ext>
            </a:extLst>
          </p:cNvPr>
          <p:cNvCxnSpPr>
            <a:cxnSpLocks/>
            <a:stCxn id="66" idx="1"/>
          </p:cNvCxnSpPr>
          <p:nvPr/>
        </p:nvCxnSpPr>
        <p:spPr>
          <a:xfrm>
            <a:off x="7367739" y="2864924"/>
            <a:ext cx="0" cy="916469"/>
          </a:xfrm>
          <a:prstGeom prst="line">
            <a:avLst/>
          </a:prstGeom>
          <a:ln w="19050">
            <a:solidFill>
              <a:srgbClr val="7030A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 216">
            <a:extLst>
              <a:ext uri="{FF2B5EF4-FFF2-40B4-BE49-F238E27FC236}">
                <a16:creationId xmlns:a16="http://schemas.microsoft.com/office/drawing/2014/main" id="{7D291AC3-D3DD-41D7-A808-6C80ABDA77DE}"/>
              </a:ext>
            </a:extLst>
          </p:cNvPr>
          <p:cNvSpPr txBox="1"/>
          <p:nvPr/>
        </p:nvSpPr>
        <p:spPr>
          <a:xfrm>
            <a:off x="7081288" y="2630406"/>
            <a:ext cx="497396" cy="1461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 Switch </a:t>
            </a:r>
            <a:endParaRPr lang="en-US" sz="600" dirty="0"/>
          </a:p>
        </p:txBody>
      </p:sp>
      <p:cxnSp>
        <p:nvCxnSpPr>
          <p:cNvPr id="354" name="직선 연결선 353">
            <a:extLst>
              <a:ext uri="{FF2B5EF4-FFF2-40B4-BE49-F238E27FC236}">
                <a16:creationId xmlns:a16="http://schemas.microsoft.com/office/drawing/2014/main" id="{795BC0B0-A7BA-4668-8957-BA39AAF0E765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4921315" y="4139340"/>
            <a:ext cx="0" cy="1139341"/>
          </a:xfrm>
          <a:prstGeom prst="line">
            <a:avLst/>
          </a:prstGeom>
          <a:ln w="19050">
            <a:solidFill>
              <a:srgbClr val="7030A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직선 연결선 354">
            <a:extLst>
              <a:ext uri="{FF2B5EF4-FFF2-40B4-BE49-F238E27FC236}">
                <a16:creationId xmlns:a16="http://schemas.microsoft.com/office/drawing/2014/main" id="{C69D926D-A992-494A-B718-3B158D74361E}"/>
              </a:ext>
            </a:extLst>
          </p:cNvPr>
          <p:cNvCxnSpPr>
            <a:cxnSpLocks/>
          </p:cNvCxnSpPr>
          <p:nvPr/>
        </p:nvCxnSpPr>
        <p:spPr>
          <a:xfrm>
            <a:off x="7652960" y="4137156"/>
            <a:ext cx="9729" cy="1181500"/>
          </a:xfrm>
          <a:prstGeom prst="line">
            <a:avLst/>
          </a:prstGeom>
          <a:ln w="19050">
            <a:solidFill>
              <a:srgbClr val="7030A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7C952218-19D6-4A3D-A3F2-10E69CCE81E5}"/>
              </a:ext>
            </a:extLst>
          </p:cNvPr>
          <p:cNvCxnSpPr>
            <a:stCxn id="307" idx="3"/>
            <a:endCxn id="325" idx="2"/>
          </p:cNvCxnSpPr>
          <p:nvPr/>
        </p:nvCxnSpPr>
        <p:spPr>
          <a:xfrm flipV="1">
            <a:off x="8036758" y="3029149"/>
            <a:ext cx="1155145" cy="929427"/>
          </a:xfrm>
          <a:prstGeom prst="bentConnector2">
            <a:avLst/>
          </a:prstGeom>
          <a:ln w="19050">
            <a:solidFill>
              <a:srgbClr val="7030A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연결선: 꺾임 225">
            <a:extLst>
              <a:ext uri="{FF2B5EF4-FFF2-40B4-BE49-F238E27FC236}">
                <a16:creationId xmlns:a16="http://schemas.microsoft.com/office/drawing/2014/main" id="{707F9171-2530-45A5-9BD2-CC9D1DDA1511}"/>
              </a:ext>
            </a:extLst>
          </p:cNvPr>
          <p:cNvCxnSpPr>
            <a:stCxn id="320" idx="3"/>
            <a:endCxn id="321" idx="0"/>
          </p:cNvCxnSpPr>
          <p:nvPr/>
        </p:nvCxnSpPr>
        <p:spPr>
          <a:xfrm>
            <a:off x="10069420" y="2875268"/>
            <a:ext cx="452038" cy="566330"/>
          </a:xfrm>
          <a:prstGeom prst="bentConnector2">
            <a:avLst/>
          </a:prstGeom>
          <a:ln>
            <a:solidFill>
              <a:srgbClr val="FF0066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Text 202">
            <a:extLst>
              <a:ext uri="{FF2B5EF4-FFF2-40B4-BE49-F238E27FC236}">
                <a16:creationId xmlns:a16="http://schemas.microsoft.com/office/drawing/2014/main" id="{86E3682F-4D5A-49DE-9890-3486AC9808B0}"/>
              </a:ext>
            </a:extLst>
          </p:cNvPr>
          <p:cNvSpPr txBox="1"/>
          <p:nvPr/>
        </p:nvSpPr>
        <p:spPr>
          <a:xfrm>
            <a:off x="9655615" y="3195012"/>
            <a:ext cx="1682295" cy="210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Storage Dedicated Network</a:t>
            </a:r>
            <a:endParaRPr lang="en-US" sz="900" dirty="0"/>
          </a:p>
        </p:txBody>
      </p:sp>
      <p:sp>
        <p:nvSpPr>
          <p:cNvPr id="357" name="Text 217">
            <a:extLst>
              <a:ext uri="{FF2B5EF4-FFF2-40B4-BE49-F238E27FC236}">
                <a16:creationId xmlns:a16="http://schemas.microsoft.com/office/drawing/2014/main" id="{1A35B66D-A94C-4EA4-AC89-1E258B7FCF1D}"/>
              </a:ext>
            </a:extLst>
          </p:cNvPr>
          <p:cNvSpPr txBox="1"/>
          <p:nvPr/>
        </p:nvSpPr>
        <p:spPr>
          <a:xfrm>
            <a:off x="8527968" y="2569380"/>
            <a:ext cx="1327096" cy="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</a:rPr>
              <a:t>VIP: 172.30.0.10:8443</a:t>
            </a:r>
            <a:endParaRPr lang="en-US" sz="800" dirty="0"/>
          </a:p>
        </p:txBody>
      </p:sp>
      <p:sp>
        <p:nvSpPr>
          <p:cNvPr id="358" name="Text 26">
            <a:extLst>
              <a:ext uri="{FF2B5EF4-FFF2-40B4-BE49-F238E27FC236}">
                <a16:creationId xmlns:a16="http://schemas.microsoft.com/office/drawing/2014/main" id="{56E8AA6B-BF8F-47B7-A69F-0ADCAB396894}"/>
              </a:ext>
            </a:extLst>
          </p:cNvPr>
          <p:cNvSpPr txBox="1"/>
          <p:nvPr/>
        </p:nvSpPr>
        <p:spPr>
          <a:xfrm>
            <a:off x="7814838" y="3069191"/>
            <a:ext cx="1755033" cy="7911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 </a:t>
            </a:r>
            <a:r>
              <a:rPr lang="en-US" sz="800" b="1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(Static Route/BGP)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172.30.0.0/24 via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Inter-Cluster Switch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각 ToR/Leaf Switch에 등록</a:t>
            </a:r>
            <a:endParaRPr lang="en-US" sz="800" dirty="0"/>
          </a:p>
        </p:txBody>
      </p:sp>
      <p:sp>
        <p:nvSpPr>
          <p:cNvPr id="359" name="Shape 24">
            <a:extLst>
              <a:ext uri="{FF2B5EF4-FFF2-40B4-BE49-F238E27FC236}">
                <a16:creationId xmlns:a16="http://schemas.microsoft.com/office/drawing/2014/main" id="{10F6D5B9-9BF0-4806-A457-0BCD42D41BDE}"/>
              </a:ext>
            </a:extLst>
          </p:cNvPr>
          <p:cNvSpPr/>
          <p:nvPr/>
        </p:nvSpPr>
        <p:spPr>
          <a:xfrm>
            <a:off x="5900290" y="2450951"/>
            <a:ext cx="642284" cy="333558"/>
          </a:xfrm>
          <a:prstGeom prst="roundRect">
            <a:avLst>
              <a:gd name="adj" fmla="val 15000"/>
            </a:avLst>
          </a:prstGeom>
          <a:solidFill>
            <a:srgbClr val="FFFF00"/>
          </a:solidFill>
          <a:ln w="7332">
            <a:solidFill>
              <a:srgbClr val="534AB7"/>
            </a:solidFill>
            <a:prstDash val="solid"/>
          </a:ln>
        </p:spPr>
      </p:sp>
      <p:sp>
        <p:nvSpPr>
          <p:cNvPr id="360" name="Text 206">
            <a:extLst>
              <a:ext uri="{FF2B5EF4-FFF2-40B4-BE49-F238E27FC236}">
                <a16:creationId xmlns:a16="http://schemas.microsoft.com/office/drawing/2014/main" id="{92720864-9C17-4D60-9F26-3817364675B9}"/>
              </a:ext>
            </a:extLst>
          </p:cNvPr>
          <p:cNvSpPr txBox="1"/>
          <p:nvPr/>
        </p:nvSpPr>
        <p:spPr>
          <a:xfrm>
            <a:off x="6006885" y="2487592"/>
            <a:ext cx="466797" cy="26901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Ingress LB</a:t>
            </a:r>
            <a:endParaRPr lang="en-US" sz="800" dirty="0"/>
          </a:p>
        </p:txBody>
      </p:sp>
      <p:cxnSp>
        <p:nvCxnSpPr>
          <p:cNvPr id="361" name="연결선: 꺾임 360">
            <a:extLst>
              <a:ext uri="{FF2B5EF4-FFF2-40B4-BE49-F238E27FC236}">
                <a16:creationId xmlns:a16="http://schemas.microsoft.com/office/drawing/2014/main" id="{57EBA7C6-17F4-434D-A909-D02E856A39EC}"/>
              </a:ext>
            </a:extLst>
          </p:cNvPr>
          <p:cNvCxnSpPr>
            <a:cxnSpLocks/>
            <a:endCxn id="202" idx="2"/>
          </p:cNvCxnSpPr>
          <p:nvPr/>
        </p:nvCxnSpPr>
        <p:spPr>
          <a:xfrm rot="16200000" flipV="1">
            <a:off x="5342098" y="1890280"/>
            <a:ext cx="555054" cy="171906"/>
          </a:xfrm>
          <a:prstGeom prst="bentConnector3">
            <a:avLst>
              <a:gd name="adj1" fmla="val -19266"/>
            </a:avLst>
          </a:prstGeom>
          <a:noFill/>
          <a:ln w="11730">
            <a:solidFill>
              <a:srgbClr val="C0272D"/>
            </a:solidFill>
            <a:prstDash val="solid"/>
            <a:headEnd type="oval"/>
            <a:tailEnd type="triangle"/>
          </a:ln>
        </p:spPr>
      </p:cxnSp>
      <p:cxnSp>
        <p:nvCxnSpPr>
          <p:cNvPr id="364" name="직선 화살표 연결선 363">
            <a:extLst>
              <a:ext uri="{FF2B5EF4-FFF2-40B4-BE49-F238E27FC236}">
                <a16:creationId xmlns:a16="http://schemas.microsoft.com/office/drawing/2014/main" id="{29053FDB-7BAD-42CA-883B-05E164FB204A}"/>
              </a:ext>
            </a:extLst>
          </p:cNvPr>
          <p:cNvCxnSpPr>
            <a:cxnSpLocks/>
            <a:stCxn id="202" idx="0"/>
            <a:endCxn id="7" idx="2"/>
          </p:cNvCxnSpPr>
          <p:nvPr/>
        </p:nvCxnSpPr>
        <p:spPr>
          <a:xfrm flipH="1" flipV="1">
            <a:off x="5533671" y="1343949"/>
            <a:ext cx="1" cy="151100"/>
          </a:xfrm>
          <a:prstGeom prst="straightConnector1">
            <a:avLst/>
          </a:prstGeom>
          <a:noFill/>
          <a:ln w="11730">
            <a:solidFill>
              <a:srgbClr val="C0272D"/>
            </a:solidFill>
            <a:prstDash val="solid"/>
            <a:headEnd type="none"/>
            <a:tailEnd type="triangle"/>
          </a:ln>
        </p:spPr>
      </p:cxnSp>
      <p:cxnSp>
        <p:nvCxnSpPr>
          <p:cNvPr id="370" name="연결선: 꺾임 369">
            <a:extLst>
              <a:ext uri="{FF2B5EF4-FFF2-40B4-BE49-F238E27FC236}">
                <a16:creationId xmlns:a16="http://schemas.microsoft.com/office/drawing/2014/main" id="{6A33DFE1-5A06-4D1C-B670-B50DBE0ED85B}"/>
              </a:ext>
            </a:extLst>
          </p:cNvPr>
          <p:cNvCxnSpPr>
            <a:cxnSpLocks/>
            <a:stCxn id="6" idx="2"/>
            <a:endCxn id="212" idx="1"/>
          </p:cNvCxnSpPr>
          <p:nvPr/>
        </p:nvCxnSpPr>
        <p:spPr>
          <a:xfrm rot="16200000" flipH="1">
            <a:off x="376318" y="2629522"/>
            <a:ext cx="2144680" cy="1738375"/>
          </a:xfrm>
          <a:prstGeom prst="bentConnector2">
            <a:avLst/>
          </a:prstGeom>
          <a:noFill/>
          <a:ln w="9287">
            <a:solidFill>
              <a:srgbClr val="C0272D"/>
            </a:solidFill>
            <a:prstDash val="dash"/>
            <a:tailEnd type="triangle"/>
          </a:ln>
        </p:spPr>
      </p:cxnSp>
      <p:cxnSp>
        <p:nvCxnSpPr>
          <p:cNvPr id="371" name="연결선: 꺾임 370">
            <a:extLst>
              <a:ext uri="{FF2B5EF4-FFF2-40B4-BE49-F238E27FC236}">
                <a16:creationId xmlns:a16="http://schemas.microsoft.com/office/drawing/2014/main" id="{D0C5F798-7EEC-45F7-BEF6-75AD054B9436}"/>
              </a:ext>
            </a:extLst>
          </p:cNvPr>
          <p:cNvCxnSpPr>
            <a:cxnSpLocks/>
            <a:stCxn id="6" idx="2"/>
            <a:endCxn id="9" idx="1"/>
          </p:cNvCxnSpPr>
          <p:nvPr/>
        </p:nvCxnSpPr>
        <p:spPr>
          <a:xfrm rot="5400000" flipH="1" flipV="1">
            <a:off x="1329077" y="1332289"/>
            <a:ext cx="344475" cy="1843688"/>
          </a:xfrm>
          <a:prstGeom prst="bentConnector4">
            <a:avLst>
              <a:gd name="adj1" fmla="val -66362"/>
              <a:gd name="adj2" fmla="val 42336"/>
            </a:avLst>
          </a:prstGeom>
          <a:noFill/>
          <a:ln w="9287">
            <a:solidFill>
              <a:srgbClr val="C0272D"/>
            </a:solidFill>
            <a:prstDash val="dash"/>
            <a:tailEnd type="triangle"/>
          </a:ln>
        </p:spPr>
      </p:cxnSp>
      <p:sp>
        <p:nvSpPr>
          <p:cNvPr id="379" name="Text 171">
            <a:extLst>
              <a:ext uri="{FF2B5EF4-FFF2-40B4-BE49-F238E27FC236}">
                <a16:creationId xmlns:a16="http://schemas.microsoft.com/office/drawing/2014/main" id="{C738C139-AE96-4A7C-9F5D-EBB2D9432F8D}"/>
              </a:ext>
            </a:extLst>
          </p:cNvPr>
          <p:cNvSpPr txBox="1"/>
          <p:nvPr/>
        </p:nvSpPr>
        <p:spPr>
          <a:xfrm>
            <a:off x="29995" y="2789615"/>
            <a:ext cx="544124" cy="1574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r>
              <a:rPr lang="en-US" altLang="ko-KR" dirty="0"/>
              <a:t>NMS</a:t>
            </a:r>
            <a:r>
              <a:rPr lang="ko-KR" altLang="en-US" dirty="0"/>
              <a:t>운용망</a:t>
            </a:r>
            <a:endParaRPr lang="en-US" dirty="0"/>
          </a:p>
        </p:txBody>
      </p:sp>
      <p:sp>
        <p:nvSpPr>
          <p:cNvPr id="380" name="Text 171">
            <a:extLst>
              <a:ext uri="{FF2B5EF4-FFF2-40B4-BE49-F238E27FC236}">
                <a16:creationId xmlns:a16="http://schemas.microsoft.com/office/drawing/2014/main" id="{15975D00-218B-4BF7-865D-0DA95BE3E8CE}"/>
              </a:ext>
            </a:extLst>
          </p:cNvPr>
          <p:cNvSpPr txBox="1"/>
          <p:nvPr/>
        </p:nvSpPr>
        <p:spPr>
          <a:xfrm>
            <a:off x="6476315" y="1237449"/>
            <a:ext cx="544124" cy="1574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r>
              <a:rPr lang="en-US" altLang="ko-KR" dirty="0"/>
              <a:t>NMS</a:t>
            </a:r>
            <a:r>
              <a:rPr lang="ko-KR" altLang="en-US" dirty="0"/>
              <a:t>운용망</a:t>
            </a:r>
            <a:endParaRPr lang="en-US" dirty="0"/>
          </a:p>
        </p:txBody>
      </p:sp>
      <p:sp>
        <p:nvSpPr>
          <p:cNvPr id="381" name="Shape 142">
            <a:extLst>
              <a:ext uri="{FF2B5EF4-FFF2-40B4-BE49-F238E27FC236}">
                <a16:creationId xmlns:a16="http://schemas.microsoft.com/office/drawing/2014/main" id="{655C7F5F-2C09-4DF4-A92E-27BE87909BDB}"/>
              </a:ext>
            </a:extLst>
          </p:cNvPr>
          <p:cNvSpPr/>
          <p:nvPr/>
        </p:nvSpPr>
        <p:spPr>
          <a:xfrm>
            <a:off x="5248401" y="2679170"/>
            <a:ext cx="0" cy="1091572"/>
          </a:xfrm>
          <a:prstGeom prst="line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sp>
      <p:cxnSp>
        <p:nvCxnSpPr>
          <p:cNvPr id="383" name="연결선: 꺾임 382">
            <a:extLst>
              <a:ext uri="{FF2B5EF4-FFF2-40B4-BE49-F238E27FC236}">
                <a16:creationId xmlns:a16="http://schemas.microsoft.com/office/drawing/2014/main" id="{D94B3F01-C454-4434-8259-4152B38977A5}"/>
              </a:ext>
            </a:extLst>
          </p:cNvPr>
          <p:cNvCxnSpPr>
            <a:cxnSpLocks/>
            <a:stCxn id="307" idx="1"/>
            <a:endCxn id="212" idx="0"/>
          </p:cNvCxnSpPr>
          <p:nvPr/>
        </p:nvCxnSpPr>
        <p:spPr>
          <a:xfrm rot="10800000" flipV="1">
            <a:off x="2669761" y="3958576"/>
            <a:ext cx="1266891" cy="564086"/>
          </a:xfrm>
          <a:prstGeom prst="bentConnector2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cxnSp>
        <p:nvCxnSpPr>
          <p:cNvPr id="386" name="연결선: 꺾임 385">
            <a:extLst>
              <a:ext uri="{FF2B5EF4-FFF2-40B4-BE49-F238E27FC236}">
                <a16:creationId xmlns:a16="http://schemas.microsoft.com/office/drawing/2014/main" id="{5297A876-65A3-4DFD-97E2-A83B7F520D96}"/>
              </a:ext>
            </a:extLst>
          </p:cNvPr>
          <p:cNvCxnSpPr>
            <a:cxnSpLocks/>
            <a:endCxn id="263" idx="0"/>
          </p:cNvCxnSpPr>
          <p:nvPr/>
        </p:nvCxnSpPr>
        <p:spPr>
          <a:xfrm>
            <a:off x="8036758" y="4122898"/>
            <a:ext cx="551415" cy="390322"/>
          </a:xfrm>
          <a:prstGeom prst="bentConnector2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cxnSp>
        <p:nvCxnSpPr>
          <p:cNvPr id="390" name="연결선: 꺾임 389">
            <a:extLst>
              <a:ext uri="{FF2B5EF4-FFF2-40B4-BE49-F238E27FC236}">
                <a16:creationId xmlns:a16="http://schemas.microsoft.com/office/drawing/2014/main" id="{C50E20BF-5E0B-4C3D-9109-3F480A1D0B65}"/>
              </a:ext>
            </a:extLst>
          </p:cNvPr>
          <p:cNvCxnSpPr>
            <a:cxnSpLocks/>
            <a:endCxn id="299" idx="1"/>
          </p:cNvCxnSpPr>
          <p:nvPr/>
        </p:nvCxnSpPr>
        <p:spPr>
          <a:xfrm rot="16200000" flipH="1">
            <a:off x="6371880" y="4679386"/>
            <a:ext cx="2408004" cy="1320753"/>
          </a:xfrm>
          <a:prstGeom prst="bentConnector2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cxnSp>
        <p:nvCxnSpPr>
          <p:cNvPr id="397" name="연결선: 꺾임 396">
            <a:extLst>
              <a:ext uri="{FF2B5EF4-FFF2-40B4-BE49-F238E27FC236}">
                <a16:creationId xmlns:a16="http://schemas.microsoft.com/office/drawing/2014/main" id="{893BEDD3-E5D7-4F7B-9AC5-B245794A849D}"/>
              </a:ext>
            </a:extLst>
          </p:cNvPr>
          <p:cNvCxnSpPr>
            <a:cxnSpLocks/>
            <a:stCxn id="307" idx="1"/>
            <a:endCxn id="231" idx="1"/>
          </p:cNvCxnSpPr>
          <p:nvPr/>
        </p:nvCxnSpPr>
        <p:spPr>
          <a:xfrm rot="10800000" flipV="1">
            <a:off x="2317847" y="3958575"/>
            <a:ext cx="1618805" cy="2562809"/>
          </a:xfrm>
          <a:prstGeom prst="bentConnector3">
            <a:avLst>
              <a:gd name="adj1" fmla="val 170608"/>
            </a:avLst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sp>
        <p:nvSpPr>
          <p:cNvPr id="409" name="Text 171">
            <a:extLst>
              <a:ext uri="{FF2B5EF4-FFF2-40B4-BE49-F238E27FC236}">
                <a16:creationId xmlns:a16="http://schemas.microsoft.com/office/drawing/2014/main" id="{71BC0618-9F6F-4686-8BFC-0F23F8A3E898}"/>
              </a:ext>
            </a:extLst>
          </p:cNvPr>
          <p:cNvSpPr txBox="1"/>
          <p:nvPr/>
        </p:nvSpPr>
        <p:spPr>
          <a:xfrm>
            <a:off x="556358" y="5714599"/>
            <a:ext cx="544124" cy="2234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H/W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제어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0" name="Text 171">
            <a:extLst>
              <a:ext uri="{FF2B5EF4-FFF2-40B4-BE49-F238E27FC236}">
                <a16:creationId xmlns:a16="http://schemas.microsoft.com/office/drawing/2014/main" id="{F73C038F-F0D8-4FF4-B6DC-5AEC9CACA7D9}"/>
              </a:ext>
            </a:extLst>
          </p:cNvPr>
          <p:cNvSpPr txBox="1"/>
          <p:nvPr/>
        </p:nvSpPr>
        <p:spPr>
          <a:xfrm>
            <a:off x="2925431" y="4064723"/>
            <a:ext cx="1237878" cy="23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Cluster API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접속 제어 (Bastion 경유)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1" name="Text 205">
            <a:extLst>
              <a:ext uri="{FF2B5EF4-FFF2-40B4-BE49-F238E27FC236}">
                <a16:creationId xmlns:a16="http://schemas.microsoft.com/office/drawing/2014/main" id="{8F8318CD-26A2-41C9-91FA-7056F8C7BBFA}"/>
              </a:ext>
            </a:extLst>
          </p:cNvPr>
          <p:cNvSpPr txBox="1"/>
          <p:nvPr/>
        </p:nvSpPr>
        <p:spPr>
          <a:xfrm flipH="1">
            <a:off x="4834815" y="3514027"/>
            <a:ext cx="1052417" cy="2220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6D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RHAAP 제어 트래픽</a:t>
            </a:r>
            <a:endParaRPr lang="en-US" sz="800" dirty="0"/>
          </a:p>
        </p:txBody>
      </p:sp>
      <p:sp>
        <p:nvSpPr>
          <p:cNvPr id="412" name="Text 171">
            <a:extLst>
              <a:ext uri="{FF2B5EF4-FFF2-40B4-BE49-F238E27FC236}">
                <a16:creationId xmlns:a16="http://schemas.microsoft.com/office/drawing/2014/main" id="{CE64F810-BC6F-41E0-A5DD-AAB578FFE17F}"/>
              </a:ext>
            </a:extLst>
          </p:cNvPr>
          <p:cNvSpPr txBox="1"/>
          <p:nvPr/>
        </p:nvSpPr>
        <p:spPr>
          <a:xfrm>
            <a:off x="8597122" y="4100770"/>
            <a:ext cx="1817334" cy="23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Cluster API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접속 제어 (Bastion 경유)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3" name="Text 171">
            <a:extLst>
              <a:ext uri="{FF2B5EF4-FFF2-40B4-BE49-F238E27FC236}">
                <a16:creationId xmlns:a16="http://schemas.microsoft.com/office/drawing/2014/main" id="{C1E968BE-A64A-4A50-A4D5-ECB9A74AAE00}"/>
              </a:ext>
            </a:extLst>
          </p:cNvPr>
          <p:cNvSpPr txBox="1"/>
          <p:nvPr/>
        </p:nvSpPr>
        <p:spPr>
          <a:xfrm>
            <a:off x="6340795" y="5751564"/>
            <a:ext cx="544124" cy="2234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H/W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제어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7" name="Text 206">
            <a:extLst>
              <a:ext uri="{FF2B5EF4-FFF2-40B4-BE49-F238E27FC236}">
                <a16:creationId xmlns:a16="http://schemas.microsoft.com/office/drawing/2014/main" id="{EF62B0C2-B4BD-49AC-AEEB-867B9A88EC21}"/>
              </a:ext>
            </a:extLst>
          </p:cNvPr>
          <p:cNvSpPr txBox="1"/>
          <p:nvPr/>
        </p:nvSpPr>
        <p:spPr>
          <a:xfrm rot="5400000">
            <a:off x="4633601" y="4696907"/>
            <a:ext cx="1120489" cy="26901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  <a:highlight>
                  <a:srgbClr val="FFFF00"/>
                </a:highlight>
              </a:rPr>
              <a:t>Container Image Download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  <a:highlight>
                  <a:srgbClr val="FFFF00"/>
                </a:highlight>
              </a:rPr>
              <a:t>Kafka Ingress</a:t>
            </a:r>
            <a:r>
              <a:rPr lang="ko-KR" altLang="en-US" sz="800" dirty="0">
                <a:solidFill>
                  <a:srgbClr val="7030A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800" dirty="0">
                <a:solidFill>
                  <a:srgbClr val="7030A0"/>
                </a:solidFill>
                <a:highlight>
                  <a:srgbClr val="FFFF00"/>
                </a:highlight>
              </a:rPr>
              <a:t>LB</a:t>
            </a:r>
            <a:r>
              <a:rPr lang="ko-KR" altLang="en-US" sz="800" dirty="0">
                <a:solidFill>
                  <a:srgbClr val="7030A0"/>
                </a:solidFill>
                <a:highlight>
                  <a:srgbClr val="FFFF00"/>
                </a:highlight>
              </a:rPr>
              <a:t> 연동</a:t>
            </a:r>
            <a:endParaRPr lang="en-US" sz="800" dirty="0">
              <a:solidFill>
                <a:srgbClr val="7030A0"/>
              </a:solidFill>
              <a:highlight>
                <a:srgbClr val="FFFF00"/>
              </a:highlight>
            </a:endParaRPr>
          </a:p>
        </p:txBody>
      </p:sp>
      <p:sp>
        <p:nvSpPr>
          <p:cNvPr id="418" name="Text 206">
            <a:extLst>
              <a:ext uri="{FF2B5EF4-FFF2-40B4-BE49-F238E27FC236}">
                <a16:creationId xmlns:a16="http://schemas.microsoft.com/office/drawing/2014/main" id="{01557BA3-FE21-4050-B38B-150F05898694}"/>
              </a:ext>
            </a:extLst>
          </p:cNvPr>
          <p:cNvSpPr txBox="1"/>
          <p:nvPr/>
        </p:nvSpPr>
        <p:spPr>
          <a:xfrm rot="16200000">
            <a:off x="6895229" y="4725555"/>
            <a:ext cx="1120489" cy="26901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  <a:highlight>
                  <a:srgbClr val="FFFF00"/>
                </a:highlight>
              </a:rPr>
              <a:t>Container Image Download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  <a:highlight>
                  <a:srgbClr val="FFFF00"/>
                </a:highlight>
              </a:rPr>
              <a:t>Kafka Ingress</a:t>
            </a:r>
            <a:r>
              <a:rPr lang="ko-KR" altLang="en-US" sz="800" dirty="0">
                <a:solidFill>
                  <a:srgbClr val="7030A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800" dirty="0">
                <a:solidFill>
                  <a:srgbClr val="7030A0"/>
                </a:solidFill>
                <a:highlight>
                  <a:srgbClr val="FFFF00"/>
                </a:highlight>
              </a:rPr>
              <a:t>LB</a:t>
            </a:r>
            <a:r>
              <a:rPr lang="ko-KR" altLang="en-US" sz="800" dirty="0">
                <a:solidFill>
                  <a:srgbClr val="7030A0"/>
                </a:solidFill>
                <a:highlight>
                  <a:srgbClr val="FFFF00"/>
                </a:highlight>
              </a:rPr>
              <a:t> 연동</a:t>
            </a:r>
            <a:endParaRPr lang="en-US" sz="800" dirty="0">
              <a:solidFill>
                <a:srgbClr val="7030A0"/>
              </a:solidFill>
              <a:highlight>
                <a:srgbClr val="FFFF00"/>
              </a:highlight>
            </a:endParaRPr>
          </a:p>
        </p:txBody>
      </p:sp>
      <p:sp>
        <p:nvSpPr>
          <p:cNvPr id="419" name="Text 206">
            <a:extLst>
              <a:ext uri="{FF2B5EF4-FFF2-40B4-BE49-F238E27FC236}">
                <a16:creationId xmlns:a16="http://schemas.microsoft.com/office/drawing/2014/main" id="{8FD947F9-C88C-4019-B76F-AAB1A24A612F}"/>
              </a:ext>
            </a:extLst>
          </p:cNvPr>
          <p:cNvSpPr txBox="1"/>
          <p:nvPr/>
        </p:nvSpPr>
        <p:spPr>
          <a:xfrm rot="5400000">
            <a:off x="6967937" y="3187149"/>
            <a:ext cx="1120489" cy="269014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Container Image Download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Kafka Ingress</a:t>
            </a:r>
            <a:r>
              <a:rPr lang="ko-KR" altLang="en-US" sz="800" dirty="0">
                <a:solidFill>
                  <a:srgbClr val="7030A0"/>
                </a:solidFill>
              </a:rPr>
              <a:t> </a:t>
            </a:r>
            <a:r>
              <a:rPr lang="en-US" altLang="ko-KR" sz="800" dirty="0">
                <a:solidFill>
                  <a:srgbClr val="7030A0"/>
                </a:solidFill>
              </a:rPr>
              <a:t>LB</a:t>
            </a:r>
            <a:r>
              <a:rPr lang="ko-KR" altLang="en-US" sz="800" dirty="0">
                <a:solidFill>
                  <a:srgbClr val="7030A0"/>
                </a:solidFill>
              </a:rPr>
              <a:t> 연동</a:t>
            </a:r>
            <a:endParaRPr lang="en-US" sz="800" dirty="0">
              <a:solidFill>
                <a:srgbClr val="7030A0"/>
              </a:solidFill>
            </a:endParaRP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077C39BD-2EE3-43C3-A869-9C7331283646}"/>
              </a:ext>
            </a:extLst>
          </p:cNvPr>
          <p:cNvCxnSpPr>
            <a:endCxn id="21" idx="1"/>
          </p:cNvCxnSpPr>
          <p:nvPr/>
        </p:nvCxnSpPr>
        <p:spPr>
          <a:xfrm rot="10800000" flipV="1">
            <a:off x="2509724" y="2450950"/>
            <a:ext cx="1957904" cy="841615"/>
          </a:xfrm>
          <a:prstGeom prst="bentConnector3">
            <a:avLst>
              <a:gd name="adj1" fmla="val 137150"/>
            </a:avLst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sp>
        <p:nvSpPr>
          <p:cNvPr id="192" name="Shape 65">
            <a:extLst>
              <a:ext uri="{FF2B5EF4-FFF2-40B4-BE49-F238E27FC236}">
                <a16:creationId xmlns:a16="http://schemas.microsoft.com/office/drawing/2014/main" id="{B41DA70B-218D-422A-B7FD-F5F98F2A8AA0}"/>
              </a:ext>
            </a:extLst>
          </p:cNvPr>
          <p:cNvSpPr/>
          <p:nvPr/>
        </p:nvSpPr>
        <p:spPr>
          <a:xfrm>
            <a:off x="4834815" y="5292309"/>
            <a:ext cx="0" cy="668021"/>
          </a:xfrm>
          <a:prstGeom prst="line">
            <a:avLst/>
          </a:prstGeom>
          <a:noFill/>
          <a:ln w="8798">
            <a:solidFill>
              <a:srgbClr val="0F6E56"/>
            </a:solidFill>
            <a:prstDash val="solid"/>
            <a:headEnd type="oval" w="sm" len="sm"/>
            <a:tailEnd type="oval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5" name="Shape 65">
            <a:extLst>
              <a:ext uri="{FF2B5EF4-FFF2-40B4-BE49-F238E27FC236}">
                <a16:creationId xmlns:a16="http://schemas.microsoft.com/office/drawing/2014/main" id="{F0479B8C-AE1C-425D-A46F-19DC7BC9C944}"/>
              </a:ext>
            </a:extLst>
          </p:cNvPr>
          <p:cNvSpPr/>
          <p:nvPr/>
        </p:nvSpPr>
        <p:spPr>
          <a:xfrm>
            <a:off x="10581523" y="5303546"/>
            <a:ext cx="0" cy="708801"/>
          </a:xfrm>
          <a:prstGeom prst="line">
            <a:avLst/>
          </a:prstGeom>
          <a:noFill/>
          <a:ln w="8798">
            <a:solidFill>
              <a:srgbClr val="0F6E56"/>
            </a:solidFill>
            <a:prstDash val="solid"/>
            <a:headEnd type="oval" w="sm" len="sm"/>
            <a:tailEnd type="oval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00" name="Legend Box"/>
          <p:cNvSpPr/>
          <p:nvPr/>
        </p:nvSpPr>
        <p:spPr>
          <a:xfrm>
            <a:off x="9842833" y="825921"/>
            <a:ext cx="2220535" cy="1839019"/>
          </a:xfrm>
          <a:prstGeom prst="roundRect">
            <a:avLst>
              <a:gd name="adj" fmla="val 6000"/>
            </a:avLst>
          </a:prstGeom>
          <a:solidFill>
            <a:srgbClr val="FBFBFB"/>
          </a:solidFill>
          <a:ln w="9525">
            <a:solidFill>
              <a:srgbClr val="9999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1" name="Legend Title"/>
          <p:cNvSpPr txBox="1"/>
          <p:nvPr/>
        </p:nvSpPr>
        <p:spPr>
          <a:xfrm>
            <a:off x="9932833" y="895921"/>
            <a:ext cx="2063791" cy="2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ko-KR" sz="1100" b="1" dirty="0">
                <a:solidFill>
                  <a:srgbClr val="1B2A4A"/>
                </a:solidFill>
                <a:latin typeface="Malgun Gothic" pitchFamily="34" charset="-127"/>
                <a:ea typeface="Malgun Gothic" pitchFamily="34" charset="-127"/>
              </a:rPr>
              <a:t>범례 (Legend)</a:t>
            </a:r>
          </a:p>
        </p:txBody>
      </p:sp>
      <p:sp>
        <p:nvSpPr>
          <p:cNvPr id="502" name="Legend Row 1"/>
          <p:cNvSpPr txBox="1"/>
          <p:nvPr/>
        </p:nvSpPr>
        <p:spPr>
          <a:xfrm>
            <a:off x="9932833" y="1145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6FB2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Machine Network</a:t>
            </a:r>
          </a:p>
        </p:txBody>
      </p:sp>
      <p:sp>
        <p:nvSpPr>
          <p:cNvPr id="503" name="Legend Row 2"/>
          <p:cNvSpPr txBox="1"/>
          <p:nvPr/>
        </p:nvSpPr>
        <p:spPr>
          <a:xfrm>
            <a:off x="9932833" y="1340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F6E56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Storage Network</a:t>
            </a:r>
          </a:p>
        </p:txBody>
      </p:sp>
      <p:sp>
        <p:nvSpPr>
          <p:cNvPr id="504" name="Legend Row 3"/>
          <p:cNvSpPr txBox="1"/>
          <p:nvPr/>
        </p:nvSpPr>
        <p:spPr>
          <a:xfrm>
            <a:off x="9932833" y="1535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BA7517"/>
                </a:solidFill>
                <a:latin typeface="Malgun Gothic" pitchFamily="34" charset="-127"/>
              </a:rPr>
              <a:t>┄┄┄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OOB / Local MGMT (iLO·iDRAC)</a:t>
            </a:r>
          </a:p>
        </p:txBody>
      </p:sp>
      <p:sp>
        <p:nvSpPr>
          <p:cNvPr id="505" name="Legend Row 4"/>
          <p:cNvSpPr txBox="1"/>
          <p:nvPr/>
        </p:nvSpPr>
        <p:spPr>
          <a:xfrm>
            <a:off x="9932833" y="1730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3B6D11"/>
                </a:solidFill>
                <a:latin typeface="Malgun Gothic" pitchFamily="34" charset="-127"/>
              </a:rPr>
              <a:t>┄┄┄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AAP 제어 트래픽 (L3 Routing)</a:t>
            </a:r>
          </a:p>
        </p:txBody>
      </p:sp>
      <p:sp>
        <p:nvSpPr>
          <p:cNvPr id="506" name="Legend Row 5"/>
          <p:cNvSpPr txBox="1"/>
          <p:nvPr/>
        </p:nvSpPr>
        <p:spPr>
          <a:xfrm>
            <a:off x="9932833" y="1925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7030A0"/>
                </a:solidFill>
                <a:highlight>
                  <a:srgbClr val="FFFF00"/>
                </a:highlight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highlight>
                  <a:srgbClr val="FFFF00"/>
                </a:highlight>
                <a:latin typeface="Malgun Gothic" pitchFamily="34" charset="-127"/>
                <a:ea typeface="Malgun Gothic" pitchFamily="34" charset="-127"/>
              </a:rPr>
              <a:t>Container Image·Kafka 연동</a:t>
            </a:r>
          </a:p>
        </p:txBody>
      </p:sp>
      <p:sp>
        <p:nvSpPr>
          <p:cNvPr id="507" name="Legend Row 6"/>
          <p:cNvSpPr txBox="1"/>
          <p:nvPr/>
        </p:nvSpPr>
        <p:spPr>
          <a:xfrm>
            <a:off x="9932833" y="2120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Malgun Gothic" pitchFamily="34" charset="-127"/>
              </a:rPr>
              <a:t>┄┄┄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VPN·NMS 운용망 (운영팀 접속)</a:t>
            </a:r>
          </a:p>
        </p:txBody>
      </p:sp>
      <p:sp>
        <p:nvSpPr>
          <p:cNvPr id="508" name="Legend Row 7"/>
          <p:cNvSpPr txBox="1"/>
          <p:nvPr/>
        </p:nvSpPr>
        <p:spPr>
          <a:xfrm>
            <a:off x="9932833" y="2315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FF0066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External Storage 전용망</a:t>
            </a:r>
          </a:p>
        </p:txBody>
      </p:sp>
      <p:sp>
        <p:nvSpPr>
          <p:cNvPr id="700" name="Local Hop B to Master"/>
          <p:cNvSpPr/>
          <p:nvPr/>
        </p:nvSpPr>
        <p:spPr>
          <a:xfrm>
            <a:off x="3021674" y="4634485"/>
            <a:ext cx="140766" cy="0"/>
          </a:xfrm>
          <a:prstGeom prst="line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triangle"/>
          </a:ln>
        </p:spPr>
        <p:txBody>
          <a:bodyPr/>
          <a:lstStyle/>
          <a:p>
            <a:endParaRPr lang="ko-KR" dirty="0"/>
          </a:p>
        </p:txBody>
      </p:sp>
      <p:sp>
        <p:nvSpPr>
          <p:cNvPr id="701" name="Local Hop C to Master"/>
          <p:cNvSpPr/>
          <p:nvPr/>
        </p:nvSpPr>
        <p:spPr>
          <a:xfrm>
            <a:off x="8940087" y="4656865"/>
            <a:ext cx="140766" cy="0"/>
          </a:xfrm>
          <a:prstGeom prst="line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triangle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02" name="Legend Row 9"/>
          <p:cNvSpPr txBox="1"/>
          <p:nvPr/>
        </p:nvSpPr>
        <p:spPr>
          <a:xfrm>
            <a:off x="9932833" y="2487438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444444"/>
                </a:solidFill>
                <a:latin typeface="Malgun Gothic" pitchFamily="34" charset="-127"/>
              </a:rPr>
              <a:t>───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Bastion→Master 로컬 실행 (SSH/oc)</a:t>
            </a:r>
          </a:p>
        </p:txBody>
      </p:sp>
      <p:sp>
        <p:nvSpPr>
          <p:cNvPr id="196" name="Text 201">
            <a:extLst>
              <a:ext uri="{FF2B5EF4-FFF2-40B4-BE49-F238E27FC236}">
                <a16:creationId xmlns:a16="http://schemas.microsoft.com/office/drawing/2014/main" id="{65236988-063B-4FD9-B2D9-EFBEB74DA3DE}"/>
              </a:ext>
            </a:extLst>
          </p:cNvPr>
          <p:cNvSpPr txBox="1"/>
          <p:nvPr/>
        </p:nvSpPr>
        <p:spPr>
          <a:xfrm>
            <a:off x="6062155" y="2904712"/>
            <a:ext cx="1132783" cy="917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172.30.1.20:9092</a:t>
            </a:r>
            <a:endParaRPr lang="en-US" sz="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597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361880" y="1367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1B2A4A"/>
                </a:solidFill>
              </a:rPr>
              <a:t>Cluster B/C 서버·스위치 HW 정보 및 Alarm 수집 경로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489823" y="61859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555555"/>
                </a:solidFill>
              </a:rPr>
              <a:t>iLO/iDRAC(Redfish·SNMP) + ToR Switch(SNMP Trap/Syslog) → </a:t>
            </a:r>
            <a:r>
              <a:rPr lang="ko-KR" altLang="en-US" sz="1050" b="1" dirty="0" err="1">
                <a:solidFill>
                  <a:srgbClr val="555555"/>
                </a:solidFill>
              </a:rPr>
              <a:t>Bastion</a:t>
            </a:r>
            <a:r>
              <a:rPr lang="ko-KR" altLang="en-US" sz="1050" b="1" dirty="0">
                <a:solidFill>
                  <a:srgbClr val="555555"/>
                </a:solidFill>
              </a:rPr>
              <a:t> </a:t>
            </a:r>
            <a:r>
              <a:rPr lang="ko-KR" altLang="en-US" sz="1050" b="1" dirty="0" err="1">
                <a:solidFill>
                  <a:srgbClr val="555555"/>
                </a:solidFill>
              </a:rPr>
              <a:t>Collector</a:t>
            </a:r>
            <a:r>
              <a:rPr lang="ko-KR" altLang="en-US" sz="1050" b="1" dirty="0">
                <a:solidFill>
                  <a:srgbClr val="555555"/>
                </a:solidFill>
              </a:rPr>
              <a:t>(snmptrapd/rsyslog-ng) → </a:t>
            </a:r>
            <a:r>
              <a:rPr lang="ko-KR" altLang="en-US" sz="1050" b="1" dirty="0">
                <a:solidFill>
                  <a:srgbClr val="555555"/>
                </a:solidFill>
                <a:highlight>
                  <a:srgbClr val="FFFF00"/>
                </a:highlight>
              </a:rPr>
              <a:t>Kafka </a:t>
            </a:r>
            <a:r>
              <a:rPr lang="ko-KR" altLang="en-US" sz="1050" b="1" dirty="0" err="1">
                <a:solidFill>
                  <a:srgbClr val="555555"/>
                </a:solidFill>
                <a:highlight>
                  <a:srgbClr val="FFFF00"/>
                </a:highlight>
              </a:rPr>
              <a:t>Connector</a:t>
            </a:r>
            <a:r>
              <a:rPr lang="ko-KR" altLang="en-US" sz="1050" b="1" dirty="0">
                <a:solidFill>
                  <a:srgbClr val="555555"/>
                </a:solidFill>
                <a:highlight>
                  <a:srgbClr val="FFFF00"/>
                </a:highlight>
              </a:rPr>
              <a:t>(</a:t>
            </a:r>
            <a:r>
              <a:rPr lang="en-US" altLang="ko-KR" sz="1050" b="1" dirty="0">
                <a:solidFill>
                  <a:srgbClr val="555555"/>
                </a:solidFill>
                <a:highlight>
                  <a:srgbClr val="FFFF00"/>
                </a:highlight>
              </a:rPr>
              <a:t>bastion</a:t>
            </a:r>
            <a:r>
              <a:rPr lang="ko-KR" altLang="en-US" sz="1050" b="1" dirty="0">
                <a:solidFill>
                  <a:srgbClr val="555555"/>
                </a:solidFill>
                <a:highlight>
                  <a:srgbClr val="FFFF00"/>
                </a:highlight>
              </a:rPr>
              <a:t>) → Kafka Ingress LB → Kafka Cluster(Cluster A)</a:t>
            </a:r>
            <a:r>
              <a:rPr lang="ko-KR" altLang="en-US" sz="1050" b="1" dirty="0">
                <a:solidFill>
                  <a:srgbClr val="555555"/>
                </a:solidFill>
              </a:rPr>
              <a:t> → NOC  (Cluster A 자체 HW 수집은 Self-Loop 이슈로 별도 검토)</a:t>
            </a:r>
          </a:p>
        </p:txBody>
      </p:sp>
      <p:sp>
        <p:nvSpPr>
          <p:cNvPr id="6" name="Shape 4"/>
          <p:cNvSpPr/>
          <p:nvPr/>
        </p:nvSpPr>
        <p:spPr>
          <a:xfrm>
            <a:off x="51599" y="1739224"/>
            <a:ext cx="1055743" cy="687146"/>
          </a:xfrm>
          <a:prstGeom prst="roundRect">
            <a:avLst>
              <a:gd name="adj" fmla="val 9231"/>
            </a:avLst>
          </a:prstGeom>
          <a:solidFill>
            <a:srgbClr val="FDEDEE"/>
          </a:solidFill>
          <a:ln w="7332">
            <a:solidFill>
              <a:srgbClr val="C027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36290" y="984838"/>
            <a:ext cx="1794762" cy="359111"/>
          </a:xfrm>
          <a:prstGeom prst="roundRect">
            <a:avLst>
              <a:gd name="adj" fmla="val 9231"/>
            </a:avLst>
          </a:prstGeom>
          <a:solidFill>
            <a:srgbClr val="FDEDEE"/>
          </a:solidFill>
          <a:ln w="7332">
            <a:solidFill>
              <a:srgbClr val="C027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82726" y="1775948"/>
            <a:ext cx="5964945" cy="1737543"/>
          </a:xfrm>
          <a:prstGeom prst="roundRect">
            <a:avLst>
              <a:gd name="adj" fmla="val 1835"/>
            </a:avLst>
          </a:prstGeom>
          <a:solidFill>
            <a:srgbClr val="EEF2F8"/>
          </a:solidFill>
          <a:ln w="10753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59" y="1941824"/>
            <a:ext cx="760135" cy="280141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49285" y="1941825"/>
            <a:ext cx="739020" cy="290792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39150" y="1916714"/>
            <a:ext cx="1154416" cy="33035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82452" y="1916714"/>
            <a:ext cx="935957" cy="305252"/>
          </a:xfrm>
          <a:prstGeom prst="roundRect">
            <a:avLst>
              <a:gd name="adj" fmla="val 10909"/>
            </a:avLst>
          </a:prstGeom>
          <a:solidFill>
            <a:srgbClr val="FFFF00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44728" y="1916714"/>
            <a:ext cx="860323" cy="298281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65357" y="2253758"/>
            <a:ext cx="1028696" cy="420443"/>
          </a:xfrm>
          <a:prstGeom prst="roundRect">
            <a:avLst>
              <a:gd name="adj" fmla="val 15000"/>
            </a:avLst>
          </a:prstGeom>
          <a:solidFill>
            <a:srgbClr val="F5F0E8"/>
          </a:solidFill>
          <a:ln w="7332">
            <a:solidFill>
              <a:srgbClr val="854F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09724" y="3150216"/>
            <a:ext cx="4753737" cy="284699"/>
          </a:xfrm>
          <a:prstGeom prst="roundRect">
            <a:avLst>
              <a:gd name="adj" fmla="val 13333"/>
            </a:avLst>
          </a:prstGeom>
          <a:solidFill>
            <a:srgbClr val="FFF4E8"/>
          </a:solidFill>
          <a:ln w="7332">
            <a:solidFill>
              <a:srgbClr val="BA7517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005800" y="1485343"/>
            <a:ext cx="1055743" cy="215715"/>
          </a:xfrm>
          <a:prstGeom prst="roundRect">
            <a:avLst>
              <a:gd name="adj" fmla="val 22222"/>
            </a:avLst>
          </a:prstGeom>
          <a:solidFill>
            <a:srgbClr val="FDEDEE"/>
          </a:solidFill>
          <a:ln w="7332">
            <a:solidFill>
              <a:srgbClr val="C027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68137" y="4332479"/>
            <a:ext cx="3640178" cy="2357825"/>
          </a:xfrm>
          <a:prstGeom prst="roundRect">
            <a:avLst>
              <a:gd name="adj" fmla="val 1250"/>
            </a:avLst>
          </a:prstGeom>
          <a:solidFill>
            <a:srgbClr val="EAF6F2"/>
          </a:solidFill>
          <a:ln w="10753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" name="Shape 26"/>
          <p:cNvSpPr/>
          <p:nvPr/>
        </p:nvSpPr>
        <p:spPr>
          <a:xfrm>
            <a:off x="2317846" y="4490840"/>
            <a:ext cx="703828" cy="287289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62440" y="4493992"/>
            <a:ext cx="774211" cy="284137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77417" y="4493992"/>
            <a:ext cx="774211" cy="2783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95167" y="5546583"/>
            <a:ext cx="35191" cy="35191"/>
          </a:xfrm>
          <a:prstGeom prst="ellipse">
            <a:avLst/>
          </a:prstGeom>
          <a:solidFill>
            <a:srgbClr val="E24B4A"/>
          </a:solidFill>
          <a:ln w="3175">
            <a:solidFill>
              <a:srgbClr val="E24B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95167" y="5828115"/>
            <a:ext cx="35191" cy="35191"/>
          </a:xfrm>
          <a:prstGeom prst="ellipse">
            <a:avLst/>
          </a:prstGeom>
          <a:solidFill>
            <a:srgbClr val="7F77DD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17846" y="6398074"/>
            <a:ext cx="2533782" cy="168919"/>
          </a:xfrm>
          <a:prstGeom prst="roundRect">
            <a:avLst>
              <a:gd name="adj" fmla="val 12500"/>
            </a:avLst>
          </a:prstGeom>
          <a:solidFill>
            <a:srgbClr val="FFF4E8"/>
          </a:solidFill>
          <a:ln w="7332">
            <a:solidFill>
              <a:srgbClr val="BA7517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2844041" y="2235508"/>
            <a:ext cx="0" cy="63284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6" name="Shape 64"/>
          <p:cNvSpPr/>
          <p:nvPr/>
        </p:nvSpPr>
        <p:spPr>
          <a:xfrm>
            <a:off x="2575154" y="2864923"/>
            <a:ext cx="4792585" cy="0"/>
          </a:xfrm>
          <a:prstGeom prst="line">
            <a:avLst/>
          </a:prstGeom>
          <a:noFill/>
          <a:ln w="11242">
            <a:solidFill>
              <a:srgbClr val="1F6FB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80105" y="3011419"/>
            <a:ext cx="4757393" cy="0"/>
          </a:xfrm>
          <a:prstGeom prst="line">
            <a:avLst/>
          </a:prstGeom>
          <a:noFill/>
          <a:ln w="11242">
            <a:solidFill>
              <a:srgbClr val="0F6E5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37943" y="2247067"/>
            <a:ext cx="0" cy="924284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7" name="Shape 95"/>
          <p:cNvSpPr/>
          <p:nvPr/>
        </p:nvSpPr>
        <p:spPr>
          <a:xfrm>
            <a:off x="2388228" y="5278680"/>
            <a:ext cx="2570573" cy="0"/>
          </a:xfrm>
          <a:prstGeom prst="line">
            <a:avLst/>
          </a:prstGeom>
          <a:noFill/>
          <a:ln w="11242">
            <a:solidFill>
              <a:srgbClr val="0E8FA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8" name="Shape 96"/>
          <p:cNvSpPr/>
          <p:nvPr/>
        </p:nvSpPr>
        <p:spPr>
          <a:xfrm>
            <a:off x="2388228" y="5564178"/>
            <a:ext cx="2160000" cy="0"/>
          </a:xfrm>
          <a:prstGeom prst="line">
            <a:avLst/>
          </a:prstGeom>
          <a:noFill/>
          <a:ln w="11242">
            <a:solidFill>
              <a:srgbClr val="E24B4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388228" y="5845710"/>
            <a:ext cx="2160000" cy="0"/>
          </a:xfrm>
          <a:prstGeom prst="line">
            <a:avLst/>
          </a:prstGeom>
          <a:noFill/>
          <a:ln w="11242">
            <a:solidFill>
              <a:srgbClr val="7F77D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H="1">
            <a:off x="4412762" y="4778129"/>
            <a:ext cx="0" cy="1606749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2" name="Shape 100"/>
          <p:cNvSpPr/>
          <p:nvPr/>
        </p:nvSpPr>
        <p:spPr>
          <a:xfrm>
            <a:off x="2388228" y="6139510"/>
            <a:ext cx="2357825" cy="0"/>
          </a:xfrm>
          <a:prstGeom prst="line">
            <a:avLst/>
          </a:prstGeom>
          <a:noFill/>
          <a:ln w="11242">
            <a:solidFill>
              <a:srgbClr val="0F6E5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2669758" y="4786095"/>
            <a:ext cx="0" cy="1589489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105" name="Shape 103"/>
          <p:cNvSpPr/>
          <p:nvPr/>
        </p:nvSpPr>
        <p:spPr>
          <a:xfrm>
            <a:off x="3438319" y="4800878"/>
            <a:ext cx="0" cy="1595613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106" name="Shape 104"/>
          <p:cNvSpPr/>
          <p:nvPr/>
        </p:nvSpPr>
        <p:spPr>
          <a:xfrm flipH="1">
            <a:off x="4182228" y="4800878"/>
            <a:ext cx="0" cy="1584000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2" name="Text 170"/>
          <p:cNvSpPr txBox="1"/>
          <p:nvPr/>
        </p:nvSpPr>
        <p:spPr>
          <a:xfrm>
            <a:off x="51599" y="1732186"/>
            <a:ext cx="1055743" cy="29149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VPN 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</a:t>
            </a:r>
            <a:endParaRPr lang="en-US" sz="800" dirty="0"/>
          </a:p>
        </p:txBody>
      </p:sp>
      <p:sp>
        <p:nvSpPr>
          <p:cNvPr id="173" name="Text 171"/>
          <p:cNvSpPr txBox="1"/>
          <p:nvPr/>
        </p:nvSpPr>
        <p:spPr>
          <a:xfrm>
            <a:off x="84362" y="1536465"/>
            <a:ext cx="1055743" cy="157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</a:t>
            </a:r>
            <a:endParaRPr lang="en-US" sz="800" dirty="0">
              <a:solidFill>
                <a:srgbClr val="55555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74" name="Text 172"/>
          <p:cNvSpPr txBox="1"/>
          <p:nvPr/>
        </p:nvSpPr>
        <p:spPr>
          <a:xfrm>
            <a:off x="5040991" y="1040921"/>
            <a:ext cx="985360" cy="11437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Operating Center (NOC)</a:t>
            </a:r>
            <a:endParaRPr lang="en-US" sz="800" dirty="0"/>
          </a:p>
        </p:txBody>
      </p:sp>
      <p:sp>
        <p:nvSpPr>
          <p:cNvPr id="175" name="Text 173"/>
          <p:cNvSpPr txBox="1"/>
          <p:nvPr/>
        </p:nvSpPr>
        <p:spPr>
          <a:xfrm>
            <a:off x="5040991" y="1172889"/>
            <a:ext cx="985360" cy="131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·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</a:t>
            </a:r>
            <a:endParaRPr lang="en-US" sz="800" dirty="0"/>
          </a:p>
        </p:txBody>
      </p:sp>
      <p:sp>
        <p:nvSpPr>
          <p:cNvPr id="176" name="Text 174"/>
          <p:cNvSpPr txBox="1"/>
          <p:nvPr/>
        </p:nvSpPr>
        <p:spPr>
          <a:xfrm>
            <a:off x="2418226" y="1811140"/>
            <a:ext cx="2181868" cy="1055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A — 관리용 특수목적 RHOCP (RHAAP + Kafka)</a:t>
            </a:r>
            <a:endParaRPr lang="en-US" sz="900" dirty="0"/>
          </a:p>
        </p:txBody>
      </p:sp>
      <p:sp>
        <p:nvSpPr>
          <p:cNvPr id="177" name="Text 175"/>
          <p:cNvSpPr txBox="1"/>
          <p:nvPr/>
        </p:nvSpPr>
        <p:spPr>
          <a:xfrm>
            <a:off x="2468908" y="1959913"/>
            <a:ext cx="668637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Bastion-A</a:t>
            </a:r>
            <a:endParaRPr lang="en-US" sz="800" dirty="0"/>
          </a:p>
        </p:txBody>
      </p:sp>
      <p:sp>
        <p:nvSpPr>
          <p:cNvPr id="178" name="Text 176"/>
          <p:cNvSpPr txBox="1"/>
          <p:nvPr/>
        </p:nvSpPr>
        <p:spPr>
          <a:xfrm>
            <a:off x="2468908" y="2062406"/>
            <a:ext cx="668637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 / 설치 CLI</a:t>
            </a:r>
            <a:endParaRPr lang="en-US" sz="800" dirty="0"/>
          </a:p>
        </p:txBody>
      </p:sp>
      <p:sp>
        <p:nvSpPr>
          <p:cNvPr id="179" name="Text 177"/>
          <p:cNvSpPr txBox="1"/>
          <p:nvPr/>
        </p:nvSpPr>
        <p:spPr>
          <a:xfrm>
            <a:off x="3370332" y="1959913"/>
            <a:ext cx="739020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Master-A ×3</a:t>
            </a:r>
            <a:endParaRPr lang="en-US" sz="800" dirty="0"/>
          </a:p>
        </p:txBody>
      </p:sp>
      <p:sp>
        <p:nvSpPr>
          <p:cNvPr id="180" name="Text 178"/>
          <p:cNvSpPr txBox="1"/>
          <p:nvPr/>
        </p:nvSpPr>
        <p:spPr>
          <a:xfrm>
            <a:off x="3349285" y="2090687"/>
            <a:ext cx="739020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181" name="Text 179"/>
          <p:cNvSpPr txBox="1"/>
          <p:nvPr/>
        </p:nvSpPr>
        <p:spPr>
          <a:xfrm>
            <a:off x="4349816" y="1959913"/>
            <a:ext cx="781786" cy="11347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RHAAP</a:t>
            </a:r>
            <a:endParaRPr lang="en-US" sz="800" dirty="0"/>
          </a:p>
        </p:txBody>
      </p:sp>
      <p:sp>
        <p:nvSpPr>
          <p:cNvPr id="182" name="Text 180"/>
          <p:cNvSpPr txBox="1"/>
          <p:nvPr/>
        </p:nvSpPr>
        <p:spPr>
          <a:xfrm>
            <a:off x="4328698" y="2068699"/>
            <a:ext cx="967306" cy="10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Automation Platform</a:t>
            </a:r>
            <a:endParaRPr lang="en-US" sz="800" dirty="0"/>
          </a:p>
        </p:txBody>
      </p:sp>
      <p:sp>
        <p:nvSpPr>
          <p:cNvPr id="183" name="Text 181"/>
          <p:cNvSpPr txBox="1"/>
          <p:nvPr/>
        </p:nvSpPr>
        <p:spPr>
          <a:xfrm>
            <a:off x="5663864" y="1927639"/>
            <a:ext cx="812451" cy="13643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Cluster</a:t>
            </a:r>
            <a:endParaRPr lang="en-US" sz="800" dirty="0"/>
          </a:p>
        </p:txBody>
      </p:sp>
      <p:sp>
        <p:nvSpPr>
          <p:cNvPr id="184" name="Text 182"/>
          <p:cNvSpPr txBox="1"/>
          <p:nvPr/>
        </p:nvSpPr>
        <p:spPr>
          <a:xfrm>
            <a:off x="5584847" y="2072471"/>
            <a:ext cx="957726" cy="12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통계/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/Log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800" dirty="0"/>
          </a:p>
        </p:txBody>
      </p:sp>
      <p:sp>
        <p:nvSpPr>
          <p:cNvPr id="185" name="Text 183"/>
          <p:cNvSpPr txBox="1"/>
          <p:nvPr/>
        </p:nvSpPr>
        <p:spPr>
          <a:xfrm>
            <a:off x="6689634" y="1959913"/>
            <a:ext cx="815417" cy="9008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Storage-A (CSI)</a:t>
            </a:r>
            <a:endParaRPr lang="en-US" sz="800" dirty="0"/>
          </a:p>
        </p:txBody>
      </p:sp>
      <p:sp>
        <p:nvSpPr>
          <p:cNvPr id="186" name="Text 184"/>
          <p:cNvSpPr txBox="1"/>
          <p:nvPr/>
        </p:nvSpPr>
        <p:spPr>
          <a:xfrm>
            <a:off x="6598334" y="2062406"/>
            <a:ext cx="906718" cy="10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A 전용</a:t>
            </a:r>
            <a:endParaRPr lang="en-US" sz="800" dirty="0"/>
          </a:p>
        </p:txBody>
      </p:sp>
      <p:sp>
        <p:nvSpPr>
          <p:cNvPr id="187" name="Text 185"/>
          <p:cNvSpPr txBox="1"/>
          <p:nvPr/>
        </p:nvSpPr>
        <p:spPr>
          <a:xfrm>
            <a:off x="4645387" y="2266954"/>
            <a:ext cx="668637" cy="15547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EE (Job Pod)</a:t>
            </a:r>
            <a:endParaRPr lang="en-US" sz="800" dirty="0"/>
          </a:p>
        </p:txBody>
      </p:sp>
      <p:sp>
        <p:nvSpPr>
          <p:cNvPr id="188" name="Text 186"/>
          <p:cNvSpPr txBox="1"/>
          <p:nvPr/>
        </p:nvSpPr>
        <p:spPr>
          <a:xfrm>
            <a:off x="4652376" y="2408348"/>
            <a:ext cx="654658" cy="13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Multus+Whereabouts</a:t>
            </a:r>
            <a:endParaRPr lang="en-US" sz="800" dirty="0"/>
          </a:p>
        </p:txBody>
      </p:sp>
      <p:sp>
        <p:nvSpPr>
          <p:cNvPr id="189" name="Text 187"/>
          <p:cNvSpPr txBox="1"/>
          <p:nvPr/>
        </p:nvSpPr>
        <p:spPr>
          <a:xfrm>
            <a:off x="1798857" y="2667218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800" dirty="0"/>
          </a:p>
        </p:txBody>
      </p:sp>
      <p:sp>
        <p:nvSpPr>
          <p:cNvPr id="190" name="Text 188"/>
          <p:cNvSpPr txBox="1"/>
          <p:nvPr/>
        </p:nvSpPr>
        <p:spPr>
          <a:xfrm>
            <a:off x="2670215" y="2749628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1000 · 172.30.10.0/24 · GW .1</a:t>
            </a:r>
            <a:endParaRPr lang="en-US" sz="800" dirty="0"/>
          </a:p>
        </p:txBody>
      </p:sp>
      <p:sp>
        <p:nvSpPr>
          <p:cNvPr id="191" name="Text 189"/>
          <p:cNvSpPr txBox="1"/>
          <p:nvPr/>
        </p:nvSpPr>
        <p:spPr>
          <a:xfrm>
            <a:off x="1814289" y="2959448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800" dirty="0"/>
          </a:p>
        </p:txBody>
      </p:sp>
      <p:sp>
        <p:nvSpPr>
          <p:cNvPr id="193" name="Text 191"/>
          <p:cNvSpPr txBox="1"/>
          <p:nvPr/>
        </p:nvSpPr>
        <p:spPr>
          <a:xfrm>
            <a:off x="3213552" y="3146250"/>
            <a:ext cx="2991271" cy="15237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MGMT</a:t>
            </a:r>
            <a:r>
              <a:rPr lang="ko-KR" alt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network:</a:t>
            </a:r>
            <a:r>
              <a:rPr lang="ko-KR" alt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</a:t>
            </a: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/iDRAC + ToR </a:t>
            </a:r>
            <a:r>
              <a:rPr lang="en-US" sz="8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</a:t>
            </a: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 cluster A</a:t>
            </a:r>
            <a:endParaRPr lang="en-US" sz="800" dirty="0"/>
          </a:p>
        </p:txBody>
      </p:sp>
      <p:sp>
        <p:nvSpPr>
          <p:cNvPr id="194" name="Text 192"/>
          <p:cNvSpPr txBox="1"/>
          <p:nvPr/>
        </p:nvSpPr>
        <p:spPr>
          <a:xfrm>
            <a:off x="3213552" y="3304386"/>
            <a:ext cx="2991271" cy="151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172.30.99.1</a:t>
            </a:r>
            <a:endParaRPr lang="en-US" sz="800" dirty="0"/>
          </a:p>
        </p:txBody>
      </p:sp>
      <p:sp>
        <p:nvSpPr>
          <p:cNvPr id="202" name="Text 200"/>
          <p:cNvSpPr txBox="1"/>
          <p:nvPr/>
        </p:nvSpPr>
        <p:spPr>
          <a:xfrm>
            <a:off x="5068736" y="1495049"/>
            <a:ext cx="929871" cy="203657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Egress LB</a:t>
            </a:r>
            <a:endParaRPr lang="en-US" sz="800" dirty="0"/>
          </a:p>
        </p:txBody>
      </p:sp>
      <p:sp>
        <p:nvSpPr>
          <p:cNvPr id="203" name="Text 201"/>
          <p:cNvSpPr txBox="1"/>
          <p:nvPr/>
        </p:nvSpPr>
        <p:spPr>
          <a:xfrm>
            <a:off x="6118298" y="1443615"/>
            <a:ext cx="1132783" cy="204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172.30.1.30:443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(NOC Pull/Push)</a:t>
            </a:r>
            <a:endParaRPr lang="en-US" sz="800" dirty="0"/>
          </a:p>
        </p:txBody>
      </p:sp>
      <p:sp>
        <p:nvSpPr>
          <p:cNvPr id="211" name="Text 209"/>
          <p:cNvSpPr txBox="1"/>
          <p:nvPr/>
        </p:nvSpPr>
        <p:spPr>
          <a:xfrm>
            <a:off x="1416576" y="4367670"/>
            <a:ext cx="1150498" cy="1087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B — 5G CNF </a:t>
            </a:r>
            <a:endParaRPr lang="en-US" sz="900" dirty="0"/>
          </a:p>
        </p:txBody>
      </p:sp>
      <p:sp>
        <p:nvSpPr>
          <p:cNvPr id="212" name="Text 210"/>
          <p:cNvSpPr txBox="1"/>
          <p:nvPr/>
        </p:nvSpPr>
        <p:spPr>
          <a:xfrm>
            <a:off x="2317846" y="4522662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Bastion-B</a:t>
            </a:r>
            <a:endParaRPr lang="en-US" sz="800" dirty="0"/>
          </a:p>
        </p:txBody>
      </p:sp>
      <p:sp>
        <p:nvSpPr>
          <p:cNvPr id="213" name="Text 211"/>
          <p:cNvSpPr txBox="1"/>
          <p:nvPr/>
        </p:nvSpPr>
        <p:spPr>
          <a:xfrm>
            <a:off x="2317846" y="4618938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 / 설치 CLI</a:t>
            </a:r>
            <a:endParaRPr lang="en-US" sz="800" dirty="0"/>
          </a:p>
        </p:txBody>
      </p:sp>
      <p:sp>
        <p:nvSpPr>
          <p:cNvPr id="214" name="Text 212"/>
          <p:cNvSpPr txBox="1"/>
          <p:nvPr/>
        </p:nvSpPr>
        <p:spPr>
          <a:xfrm>
            <a:off x="3162440" y="4522662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Master-B ×3</a:t>
            </a:r>
            <a:endParaRPr lang="en-US" sz="800" dirty="0"/>
          </a:p>
        </p:txBody>
      </p:sp>
      <p:sp>
        <p:nvSpPr>
          <p:cNvPr id="215" name="Text 213"/>
          <p:cNvSpPr txBox="1"/>
          <p:nvPr/>
        </p:nvSpPr>
        <p:spPr>
          <a:xfrm>
            <a:off x="3162440" y="4618938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216" name="Text 214"/>
          <p:cNvSpPr txBox="1"/>
          <p:nvPr/>
        </p:nvSpPr>
        <p:spPr>
          <a:xfrm>
            <a:off x="4077417" y="4522662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Worker-B</a:t>
            </a:r>
            <a:endParaRPr lang="en-US" sz="800" dirty="0"/>
          </a:p>
        </p:txBody>
      </p:sp>
      <p:sp>
        <p:nvSpPr>
          <p:cNvPr id="217" name="Text 215"/>
          <p:cNvSpPr txBox="1"/>
          <p:nvPr/>
        </p:nvSpPr>
        <p:spPr>
          <a:xfrm>
            <a:off x="4077417" y="4644275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AMF/SMF/UPF</a:t>
            </a:r>
            <a:endParaRPr lang="en-US" sz="800" dirty="0"/>
          </a:p>
        </p:txBody>
      </p:sp>
      <p:sp>
        <p:nvSpPr>
          <p:cNvPr id="218" name="Text 216"/>
          <p:cNvSpPr txBox="1"/>
          <p:nvPr/>
        </p:nvSpPr>
        <p:spPr>
          <a:xfrm>
            <a:off x="4429254" y="5094876"/>
            <a:ext cx="497396" cy="1461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 Switch </a:t>
            </a:r>
            <a:endParaRPr lang="en-US" sz="600" dirty="0"/>
          </a:p>
        </p:txBody>
      </p:sp>
      <p:sp>
        <p:nvSpPr>
          <p:cNvPr id="219" name="Text 217"/>
          <p:cNvSpPr txBox="1"/>
          <p:nvPr/>
        </p:nvSpPr>
        <p:spPr>
          <a:xfrm>
            <a:off x="4467628" y="5334576"/>
            <a:ext cx="711837" cy="9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172.31.99.2</a:t>
            </a:r>
            <a:endParaRPr lang="en-US" sz="600" dirty="0"/>
          </a:p>
        </p:txBody>
      </p:sp>
      <p:sp>
        <p:nvSpPr>
          <p:cNvPr id="220" name="Text 218"/>
          <p:cNvSpPr txBox="1"/>
          <p:nvPr/>
        </p:nvSpPr>
        <p:spPr>
          <a:xfrm>
            <a:off x="1771144" y="518059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21" name="Text 219"/>
          <p:cNvSpPr txBox="1"/>
          <p:nvPr/>
        </p:nvSpPr>
        <p:spPr>
          <a:xfrm>
            <a:off x="2437496" y="5179888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1000 · 172.31.10.0/24</a:t>
            </a:r>
            <a:endParaRPr lang="en-US" sz="600" dirty="0"/>
          </a:p>
        </p:txBody>
      </p:sp>
      <p:sp>
        <p:nvSpPr>
          <p:cNvPr id="222" name="Text 220"/>
          <p:cNvSpPr txBox="1"/>
          <p:nvPr/>
        </p:nvSpPr>
        <p:spPr>
          <a:xfrm>
            <a:off x="1786199" y="5479720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MacVLAN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(SBI/N2,N4)</a:t>
            </a:r>
            <a:endParaRPr lang="en-US" sz="600" dirty="0"/>
          </a:p>
        </p:txBody>
      </p:sp>
      <p:sp>
        <p:nvSpPr>
          <p:cNvPr id="223" name="Text 221"/>
          <p:cNvSpPr txBox="1"/>
          <p:nvPr/>
        </p:nvSpPr>
        <p:spPr>
          <a:xfrm>
            <a:off x="2437496" y="5479720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1100/2000 · 10.31.0.0/27,/28</a:t>
            </a:r>
            <a:endParaRPr lang="en-US" sz="600" dirty="0"/>
          </a:p>
        </p:txBody>
      </p:sp>
      <p:sp>
        <p:nvSpPr>
          <p:cNvPr id="224" name="Text 222"/>
          <p:cNvSpPr txBox="1"/>
          <p:nvPr/>
        </p:nvSpPr>
        <p:spPr>
          <a:xfrm>
            <a:off x="1798857" y="576916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SR-IOV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(N3/N6,UPF)</a:t>
            </a:r>
            <a:endParaRPr lang="en-US" sz="600" dirty="0"/>
          </a:p>
        </p:txBody>
      </p:sp>
      <p:sp>
        <p:nvSpPr>
          <p:cNvPr id="225" name="Text 223"/>
          <p:cNvSpPr txBox="1"/>
          <p:nvPr/>
        </p:nvSpPr>
        <p:spPr>
          <a:xfrm>
            <a:off x="2437496" y="5761251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3000/3100 · vfio-pci(DPDK)</a:t>
            </a:r>
            <a:endParaRPr lang="en-US" sz="600" dirty="0"/>
          </a:p>
        </p:txBody>
      </p:sp>
      <p:sp>
        <p:nvSpPr>
          <p:cNvPr id="228" name="Text 226"/>
          <p:cNvSpPr txBox="1"/>
          <p:nvPr/>
        </p:nvSpPr>
        <p:spPr>
          <a:xfrm>
            <a:off x="1789734" y="605974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29" name="Text 227"/>
          <p:cNvSpPr txBox="1"/>
          <p:nvPr/>
        </p:nvSpPr>
        <p:spPr>
          <a:xfrm>
            <a:off x="2437496" y="6067274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1200 · 172.31.20.0/24</a:t>
            </a:r>
            <a:endParaRPr lang="en-US" sz="600" dirty="0"/>
          </a:p>
        </p:txBody>
      </p:sp>
      <p:sp>
        <p:nvSpPr>
          <p:cNvPr id="230" name="Text 228"/>
          <p:cNvSpPr txBox="1"/>
          <p:nvPr/>
        </p:nvSpPr>
        <p:spPr>
          <a:xfrm>
            <a:off x="2317846" y="6411587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/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MGMT network: Server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/iDRAC +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 cluster B</a:t>
            </a:r>
            <a:endParaRPr lang="en-US" sz="600" dirty="0"/>
          </a:p>
        </p:txBody>
      </p:sp>
      <p:sp>
        <p:nvSpPr>
          <p:cNvPr id="231" name="Text 229"/>
          <p:cNvSpPr txBox="1"/>
          <p:nvPr/>
        </p:nvSpPr>
        <p:spPr>
          <a:xfrm>
            <a:off x="2317846" y="6479155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172.31.99.1</a:t>
            </a:r>
            <a:endParaRPr lang="en-US" sz="600" dirty="0"/>
          </a:p>
        </p:txBody>
      </p:sp>
      <p:sp>
        <p:nvSpPr>
          <p:cNvPr id="255" name="Text 171">
            <a:extLst>
              <a:ext uri="{FF2B5EF4-FFF2-40B4-BE49-F238E27FC236}">
                <a16:creationId xmlns:a16="http://schemas.microsoft.com/office/drawing/2014/main" id="{97660401-3718-4FD5-8A71-DFF51EFFA65D}"/>
              </a:ext>
            </a:extLst>
          </p:cNvPr>
          <p:cNvSpPr txBox="1"/>
          <p:nvPr/>
        </p:nvSpPr>
        <p:spPr>
          <a:xfrm>
            <a:off x="227099" y="2044544"/>
            <a:ext cx="770271" cy="173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Bastion </a:t>
            </a:r>
          </a:p>
          <a:p>
            <a:pPr marL="0" indent="0" algn="ctr">
              <a:buNone/>
            </a:pP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관리 경로</a:t>
            </a:r>
            <a:endParaRPr lang="en-US" sz="800" dirty="0"/>
          </a:p>
        </p:txBody>
      </p:sp>
      <p:sp>
        <p:nvSpPr>
          <p:cNvPr id="256" name="Shape 32">
            <a:extLst>
              <a:ext uri="{FF2B5EF4-FFF2-40B4-BE49-F238E27FC236}">
                <a16:creationId xmlns:a16="http://schemas.microsoft.com/office/drawing/2014/main" id="{74C0E114-6A93-4619-9BC6-691142F8E9E4}"/>
              </a:ext>
            </a:extLst>
          </p:cNvPr>
          <p:cNvSpPr/>
          <p:nvPr/>
        </p:nvSpPr>
        <p:spPr>
          <a:xfrm>
            <a:off x="4395167" y="6121915"/>
            <a:ext cx="35191" cy="35191"/>
          </a:xfrm>
          <a:prstGeom prst="ellipse">
            <a:avLst/>
          </a:prstGeom>
          <a:solidFill>
            <a:srgbClr val="00B050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259" name="Shape 98">
            <a:extLst>
              <a:ext uri="{FF2B5EF4-FFF2-40B4-BE49-F238E27FC236}">
                <a16:creationId xmlns:a16="http://schemas.microsoft.com/office/drawing/2014/main" id="{F10F9FA5-A44F-4955-8EDD-261AF17C7D79}"/>
              </a:ext>
            </a:extLst>
          </p:cNvPr>
          <p:cNvSpPr/>
          <p:nvPr/>
        </p:nvSpPr>
        <p:spPr>
          <a:xfrm flipH="1">
            <a:off x="3617177" y="4770196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Shape 30"/>
          <p:cNvSpPr/>
          <p:nvPr/>
        </p:nvSpPr>
        <p:spPr>
          <a:xfrm>
            <a:off x="4395167" y="526108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258" name="Shape 30">
            <a:extLst>
              <a:ext uri="{FF2B5EF4-FFF2-40B4-BE49-F238E27FC236}">
                <a16:creationId xmlns:a16="http://schemas.microsoft.com/office/drawing/2014/main" id="{77FC20C8-589B-43BD-AFA9-4D6C99080C3B}"/>
              </a:ext>
            </a:extLst>
          </p:cNvPr>
          <p:cNvSpPr/>
          <p:nvPr/>
        </p:nvSpPr>
        <p:spPr>
          <a:xfrm>
            <a:off x="3599543" y="526108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260" name="Shape 98">
            <a:extLst>
              <a:ext uri="{FF2B5EF4-FFF2-40B4-BE49-F238E27FC236}">
                <a16:creationId xmlns:a16="http://schemas.microsoft.com/office/drawing/2014/main" id="{073537D6-7EF4-4D79-AC51-BF881FB01B22}"/>
              </a:ext>
            </a:extLst>
          </p:cNvPr>
          <p:cNvSpPr/>
          <p:nvPr/>
        </p:nvSpPr>
        <p:spPr>
          <a:xfrm flipH="1">
            <a:off x="2807470" y="4772372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1" name="Shape 30">
            <a:extLst>
              <a:ext uri="{FF2B5EF4-FFF2-40B4-BE49-F238E27FC236}">
                <a16:creationId xmlns:a16="http://schemas.microsoft.com/office/drawing/2014/main" id="{D9D3C2C2-FF2D-41A4-A45D-C110A02ABC78}"/>
              </a:ext>
            </a:extLst>
          </p:cNvPr>
          <p:cNvSpPr/>
          <p:nvPr/>
        </p:nvSpPr>
        <p:spPr>
          <a:xfrm>
            <a:off x="2789836" y="526108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262" name="Shape 25">
            <a:extLst>
              <a:ext uri="{FF2B5EF4-FFF2-40B4-BE49-F238E27FC236}">
                <a16:creationId xmlns:a16="http://schemas.microsoft.com/office/drawing/2014/main" id="{73D81B14-9C05-45D5-B571-40A117DC25BB}"/>
              </a:ext>
            </a:extLst>
          </p:cNvPr>
          <p:cNvSpPr/>
          <p:nvPr/>
        </p:nvSpPr>
        <p:spPr>
          <a:xfrm>
            <a:off x="7286550" y="4354859"/>
            <a:ext cx="3640178" cy="2357825"/>
          </a:xfrm>
          <a:prstGeom prst="roundRect">
            <a:avLst>
              <a:gd name="adj" fmla="val 1250"/>
            </a:avLst>
          </a:prstGeom>
          <a:solidFill>
            <a:srgbClr val="EAF6F2"/>
          </a:solidFill>
          <a:ln w="10753">
            <a:solidFill>
              <a:srgbClr val="0F6E56"/>
            </a:solidFill>
            <a:prstDash val="solid"/>
          </a:ln>
        </p:spPr>
      </p:sp>
      <p:sp>
        <p:nvSpPr>
          <p:cNvPr id="263" name="Shape 26">
            <a:extLst>
              <a:ext uri="{FF2B5EF4-FFF2-40B4-BE49-F238E27FC236}">
                <a16:creationId xmlns:a16="http://schemas.microsoft.com/office/drawing/2014/main" id="{73896CB2-8849-4275-A5B9-C4F5D1A6EB65}"/>
              </a:ext>
            </a:extLst>
          </p:cNvPr>
          <p:cNvSpPr/>
          <p:nvPr/>
        </p:nvSpPr>
        <p:spPr>
          <a:xfrm>
            <a:off x="8236259" y="4513220"/>
            <a:ext cx="703828" cy="287289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64" name="Shape 27">
            <a:extLst>
              <a:ext uri="{FF2B5EF4-FFF2-40B4-BE49-F238E27FC236}">
                <a16:creationId xmlns:a16="http://schemas.microsoft.com/office/drawing/2014/main" id="{1192560E-B3DC-41E1-BB90-7417B83D49A1}"/>
              </a:ext>
            </a:extLst>
          </p:cNvPr>
          <p:cNvSpPr/>
          <p:nvPr/>
        </p:nvSpPr>
        <p:spPr>
          <a:xfrm>
            <a:off x="9080853" y="4516372"/>
            <a:ext cx="774211" cy="284137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65" name="Shape 28">
            <a:extLst>
              <a:ext uri="{FF2B5EF4-FFF2-40B4-BE49-F238E27FC236}">
                <a16:creationId xmlns:a16="http://schemas.microsoft.com/office/drawing/2014/main" id="{76B69E4F-0EB0-4C4D-A93B-3AF1E31F0DF1}"/>
              </a:ext>
            </a:extLst>
          </p:cNvPr>
          <p:cNvSpPr/>
          <p:nvPr/>
        </p:nvSpPr>
        <p:spPr>
          <a:xfrm>
            <a:off x="9995830" y="4516372"/>
            <a:ext cx="774211" cy="2783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66" name="Shape 31">
            <a:extLst>
              <a:ext uri="{FF2B5EF4-FFF2-40B4-BE49-F238E27FC236}">
                <a16:creationId xmlns:a16="http://schemas.microsoft.com/office/drawing/2014/main" id="{5E662153-48B6-4695-99DC-C769DDF36FC8}"/>
              </a:ext>
            </a:extLst>
          </p:cNvPr>
          <p:cNvSpPr/>
          <p:nvPr/>
        </p:nvSpPr>
        <p:spPr>
          <a:xfrm>
            <a:off x="10313580" y="5568963"/>
            <a:ext cx="35191" cy="35191"/>
          </a:xfrm>
          <a:prstGeom prst="ellipse">
            <a:avLst/>
          </a:prstGeom>
          <a:solidFill>
            <a:srgbClr val="E24B4A"/>
          </a:solidFill>
          <a:ln w="3175">
            <a:solidFill>
              <a:srgbClr val="E24B4A"/>
            </a:solidFill>
            <a:prstDash val="solid"/>
          </a:ln>
        </p:spPr>
      </p:sp>
      <p:sp>
        <p:nvSpPr>
          <p:cNvPr id="267" name="Shape 32">
            <a:extLst>
              <a:ext uri="{FF2B5EF4-FFF2-40B4-BE49-F238E27FC236}">
                <a16:creationId xmlns:a16="http://schemas.microsoft.com/office/drawing/2014/main" id="{48962F3C-7AF9-4FB5-A17E-53EFE6DA0970}"/>
              </a:ext>
            </a:extLst>
          </p:cNvPr>
          <p:cNvSpPr/>
          <p:nvPr/>
        </p:nvSpPr>
        <p:spPr>
          <a:xfrm>
            <a:off x="10313580" y="5850495"/>
            <a:ext cx="35191" cy="35191"/>
          </a:xfrm>
          <a:prstGeom prst="ellipse">
            <a:avLst/>
          </a:prstGeom>
          <a:solidFill>
            <a:srgbClr val="7F77DD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268" name="Shape 34">
            <a:extLst>
              <a:ext uri="{FF2B5EF4-FFF2-40B4-BE49-F238E27FC236}">
                <a16:creationId xmlns:a16="http://schemas.microsoft.com/office/drawing/2014/main" id="{8273F291-5E20-43DD-AB79-6479F1F8B6AB}"/>
              </a:ext>
            </a:extLst>
          </p:cNvPr>
          <p:cNvSpPr/>
          <p:nvPr/>
        </p:nvSpPr>
        <p:spPr>
          <a:xfrm>
            <a:off x="8236259" y="6420454"/>
            <a:ext cx="2533782" cy="168919"/>
          </a:xfrm>
          <a:prstGeom prst="roundRect">
            <a:avLst>
              <a:gd name="adj" fmla="val 12500"/>
            </a:avLst>
          </a:prstGeom>
          <a:solidFill>
            <a:srgbClr val="FFF4E8"/>
          </a:solidFill>
          <a:ln w="7332">
            <a:solidFill>
              <a:srgbClr val="BA7517"/>
            </a:solidFill>
            <a:prstDash val="dash"/>
          </a:ln>
        </p:spPr>
      </p:sp>
      <p:sp>
        <p:nvSpPr>
          <p:cNvPr id="269" name="Shape 95">
            <a:extLst>
              <a:ext uri="{FF2B5EF4-FFF2-40B4-BE49-F238E27FC236}">
                <a16:creationId xmlns:a16="http://schemas.microsoft.com/office/drawing/2014/main" id="{39E11845-C635-4EC0-9F7F-EEC4F0DC5595}"/>
              </a:ext>
            </a:extLst>
          </p:cNvPr>
          <p:cNvSpPr/>
          <p:nvPr/>
        </p:nvSpPr>
        <p:spPr>
          <a:xfrm>
            <a:off x="7477968" y="5301060"/>
            <a:ext cx="3186498" cy="0"/>
          </a:xfrm>
          <a:prstGeom prst="line">
            <a:avLst/>
          </a:prstGeom>
          <a:noFill/>
          <a:ln w="11242">
            <a:solidFill>
              <a:srgbClr val="0E8FA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0" name="Shape 96">
            <a:extLst>
              <a:ext uri="{FF2B5EF4-FFF2-40B4-BE49-F238E27FC236}">
                <a16:creationId xmlns:a16="http://schemas.microsoft.com/office/drawing/2014/main" id="{FF270B66-F309-47E9-AE38-29503711FFC1}"/>
              </a:ext>
            </a:extLst>
          </p:cNvPr>
          <p:cNvSpPr/>
          <p:nvPr/>
        </p:nvSpPr>
        <p:spPr>
          <a:xfrm>
            <a:off x="8306641" y="5586558"/>
            <a:ext cx="2160000" cy="0"/>
          </a:xfrm>
          <a:prstGeom prst="line">
            <a:avLst/>
          </a:prstGeom>
          <a:noFill/>
          <a:ln w="11242">
            <a:solidFill>
              <a:srgbClr val="E24B4A"/>
            </a:solidFill>
            <a:prstDash val="solid"/>
          </a:ln>
        </p:spPr>
      </p:sp>
      <p:sp>
        <p:nvSpPr>
          <p:cNvPr id="271" name="Shape 97">
            <a:extLst>
              <a:ext uri="{FF2B5EF4-FFF2-40B4-BE49-F238E27FC236}">
                <a16:creationId xmlns:a16="http://schemas.microsoft.com/office/drawing/2014/main" id="{A3D73C4A-BD4B-422F-9A48-26375E0A87DB}"/>
              </a:ext>
            </a:extLst>
          </p:cNvPr>
          <p:cNvSpPr/>
          <p:nvPr/>
        </p:nvSpPr>
        <p:spPr>
          <a:xfrm>
            <a:off x="8306641" y="5868090"/>
            <a:ext cx="2160000" cy="0"/>
          </a:xfrm>
          <a:prstGeom prst="line">
            <a:avLst/>
          </a:prstGeom>
          <a:noFill/>
          <a:ln w="11242">
            <a:solidFill>
              <a:srgbClr val="7F77DD"/>
            </a:solidFill>
            <a:prstDash val="solid"/>
          </a:ln>
        </p:spPr>
      </p:sp>
      <p:sp>
        <p:nvSpPr>
          <p:cNvPr id="272" name="Shape 98">
            <a:extLst>
              <a:ext uri="{FF2B5EF4-FFF2-40B4-BE49-F238E27FC236}">
                <a16:creationId xmlns:a16="http://schemas.microsoft.com/office/drawing/2014/main" id="{60D8C2FC-40C3-4929-B2C4-F73C84B7D1BC}"/>
              </a:ext>
            </a:extLst>
          </p:cNvPr>
          <p:cNvSpPr/>
          <p:nvPr/>
        </p:nvSpPr>
        <p:spPr>
          <a:xfrm flipH="1">
            <a:off x="10331175" y="4800509"/>
            <a:ext cx="0" cy="1606749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3" name="Shape 100">
            <a:extLst>
              <a:ext uri="{FF2B5EF4-FFF2-40B4-BE49-F238E27FC236}">
                <a16:creationId xmlns:a16="http://schemas.microsoft.com/office/drawing/2014/main" id="{45F1312C-B2F8-4094-A47C-9CC9FE99F86D}"/>
              </a:ext>
            </a:extLst>
          </p:cNvPr>
          <p:cNvSpPr/>
          <p:nvPr/>
        </p:nvSpPr>
        <p:spPr>
          <a:xfrm>
            <a:off x="8306641" y="6161890"/>
            <a:ext cx="2357825" cy="0"/>
          </a:xfrm>
          <a:prstGeom prst="line">
            <a:avLst/>
          </a:prstGeom>
          <a:noFill/>
          <a:ln w="11242">
            <a:solidFill>
              <a:srgbClr val="0F6E56"/>
            </a:solidFill>
            <a:prstDash val="solid"/>
          </a:ln>
        </p:spPr>
      </p:sp>
      <p:sp>
        <p:nvSpPr>
          <p:cNvPr id="274" name="Shape 102">
            <a:extLst>
              <a:ext uri="{FF2B5EF4-FFF2-40B4-BE49-F238E27FC236}">
                <a16:creationId xmlns:a16="http://schemas.microsoft.com/office/drawing/2014/main" id="{B827AC71-C526-4B61-ADE4-8693FAD82842}"/>
              </a:ext>
            </a:extLst>
          </p:cNvPr>
          <p:cNvSpPr/>
          <p:nvPr/>
        </p:nvSpPr>
        <p:spPr>
          <a:xfrm flipH="1">
            <a:off x="8588171" y="4808475"/>
            <a:ext cx="0" cy="1589489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275" name="Shape 103">
            <a:extLst>
              <a:ext uri="{FF2B5EF4-FFF2-40B4-BE49-F238E27FC236}">
                <a16:creationId xmlns:a16="http://schemas.microsoft.com/office/drawing/2014/main" id="{15D9D0DC-E15B-412D-9927-A1ECC85D668D}"/>
              </a:ext>
            </a:extLst>
          </p:cNvPr>
          <p:cNvSpPr/>
          <p:nvPr/>
        </p:nvSpPr>
        <p:spPr>
          <a:xfrm>
            <a:off x="9356732" y="4823258"/>
            <a:ext cx="0" cy="1595613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276" name="Shape 104">
            <a:extLst>
              <a:ext uri="{FF2B5EF4-FFF2-40B4-BE49-F238E27FC236}">
                <a16:creationId xmlns:a16="http://schemas.microsoft.com/office/drawing/2014/main" id="{4E964B1D-88FD-41B0-A809-E6EB1B61F2C0}"/>
              </a:ext>
            </a:extLst>
          </p:cNvPr>
          <p:cNvSpPr/>
          <p:nvPr/>
        </p:nvSpPr>
        <p:spPr>
          <a:xfrm flipH="1">
            <a:off x="10100641" y="4823258"/>
            <a:ext cx="0" cy="1584000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1" name="Text 209">
            <a:extLst>
              <a:ext uri="{FF2B5EF4-FFF2-40B4-BE49-F238E27FC236}">
                <a16:creationId xmlns:a16="http://schemas.microsoft.com/office/drawing/2014/main" id="{4BEA6FD3-0276-48A1-99C6-F5227FA95E99}"/>
              </a:ext>
            </a:extLst>
          </p:cNvPr>
          <p:cNvSpPr txBox="1"/>
          <p:nvPr/>
        </p:nvSpPr>
        <p:spPr>
          <a:xfrm>
            <a:off x="9356731" y="4390050"/>
            <a:ext cx="969897" cy="1139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C — 5G CNF </a:t>
            </a:r>
            <a:endParaRPr lang="en-US" sz="900" dirty="0"/>
          </a:p>
        </p:txBody>
      </p:sp>
      <p:sp>
        <p:nvSpPr>
          <p:cNvPr id="282" name="Text 210">
            <a:extLst>
              <a:ext uri="{FF2B5EF4-FFF2-40B4-BE49-F238E27FC236}">
                <a16:creationId xmlns:a16="http://schemas.microsoft.com/office/drawing/2014/main" id="{999FE4A4-F87D-47DA-9219-B3076A61F62C}"/>
              </a:ext>
            </a:extLst>
          </p:cNvPr>
          <p:cNvSpPr txBox="1"/>
          <p:nvPr/>
        </p:nvSpPr>
        <p:spPr>
          <a:xfrm>
            <a:off x="8236259" y="4565824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Bastion-C</a:t>
            </a:r>
            <a:endParaRPr lang="en-US" sz="800" dirty="0"/>
          </a:p>
        </p:txBody>
      </p:sp>
      <p:sp>
        <p:nvSpPr>
          <p:cNvPr id="283" name="Text 211">
            <a:extLst>
              <a:ext uri="{FF2B5EF4-FFF2-40B4-BE49-F238E27FC236}">
                <a16:creationId xmlns:a16="http://schemas.microsoft.com/office/drawing/2014/main" id="{151C42BD-9BDC-43B4-B9FF-AC2EB2CBCFB7}"/>
              </a:ext>
            </a:extLst>
          </p:cNvPr>
          <p:cNvSpPr txBox="1"/>
          <p:nvPr/>
        </p:nvSpPr>
        <p:spPr>
          <a:xfrm>
            <a:off x="8236259" y="4641318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 / 설치 CLI</a:t>
            </a:r>
            <a:endParaRPr lang="en-US" sz="800" dirty="0"/>
          </a:p>
        </p:txBody>
      </p:sp>
      <p:sp>
        <p:nvSpPr>
          <p:cNvPr id="284" name="Text 212">
            <a:extLst>
              <a:ext uri="{FF2B5EF4-FFF2-40B4-BE49-F238E27FC236}">
                <a16:creationId xmlns:a16="http://schemas.microsoft.com/office/drawing/2014/main" id="{E3996E02-4416-49C6-9B13-8305F554AF86}"/>
              </a:ext>
            </a:extLst>
          </p:cNvPr>
          <p:cNvSpPr txBox="1"/>
          <p:nvPr/>
        </p:nvSpPr>
        <p:spPr>
          <a:xfrm>
            <a:off x="9080853" y="4565824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Master-C ×3</a:t>
            </a:r>
            <a:endParaRPr lang="en-US" sz="800" dirty="0"/>
          </a:p>
        </p:txBody>
      </p:sp>
      <p:sp>
        <p:nvSpPr>
          <p:cNvPr id="285" name="Text 213">
            <a:extLst>
              <a:ext uri="{FF2B5EF4-FFF2-40B4-BE49-F238E27FC236}">
                <a16:creationId xmlns:a16="http://schemas.microsoft.com/office/drawing/2014/main" id="{D8452CBE-A5B1-493B-B56C-13FEED72E10B}"/>
              </a:ext>
            </a:extLst>
          </p:cNvPr>
          <p:cNvSpPr txBox="1"/>
          <p:nvPr/>
        </p:nvSpPr>
        <p:spPr>
          <a:xfrm>
            <a:off x="9080853" y="4641318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286" name="Text 214">
            <a:extLst>
              <a:ext uri="{FF2B5EF4-FFF2-40B4-BE49-F238E27FC236}">
                <a16:creationId xmlns:a16="http://schemas.microsoft.com/office/drawing/2014/main" id="{F7F973F9-7559-4B14-B00D-DBA32B7A1C99}"/>
              </a:ext>
            </a:extLst>
          </p:cNvPr>
          <p:cNvSpPr txBox="1"/>
          <p:nvPr/>
        </p:nvSpPr>
        <p:spPr>
          <a:xfrm>
            <a:off x="9995830" y="4565824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Worker-C</a:t>
            </a:r>
            <a:endParaRPr lang="en-US" sz="800" dirty="0"/>
          </a:p>
        </p:txBody>
      </p:sp>
      <p:sp>
        <p:nvSpPr>
          <p:cNvPr id="287" name="Text 215">
            <a:extLst>
              <a:ext uri="{FF2B5EF4-FFF2-40B4-BE49-F238E27FC236}">
                <a16:creationId xmlns:a16="http://schemas.microsoft.com/office/drawing/2014/main" id="{AFB55AE4-0EAD-4D93-BCEE-BF874114CA8E}"/>
              </a:ext>
            </a:extLst>
          </p:cNvPr>
          <p:cNvSpPr txBox="1"/>
          <p:nvPr/>
        </p:nvSpPr>
        <p:spPr>
          <a:xfrm>
            <a:off x="9995830" y="4666655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AMF/SMF/UPF</a:t>
            </a:r>
            <a:endParaRPr lang="en-US" sz="800" dirty="0"/>
          </a:p>
        </p:txBody>
      </p:sp>
      <p:sp>
        <p:nvSpPr>
          <p:cNvPr id="288" name="Text 216">
            <a:extLst>
              <a:ext uri="{FF2B5EF4-FFF2-40B4-BE49-F238E27FC236}">
                <a16:creationId xmlns:a16="http://schemas.microsoft.com/office/drawing/2014/main" id="{70233423-55B9-4FC9-8821-BCD49A5BAEA4}"/>
              </a:ext>
            </a:extLst>
          </p:cNvPr>
          <p:cNvSpPr txBox="1"/>
          <p:nvPr/>
        </p:nvSpPr>
        <p:spPr>
          <a:xfrm>
            <a:off x="10418198" y="5090610"/>
            <a:ext cx="497396" cy="1461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 Switch </a:t>
            </a:r>
            <a:endParaRPr lang="en-US" sz="600" dirty="0"/>
          </a:p>
        </p:txBody>
      </p:sp>
      <p:sp>
        <p:nvSpPr>
          <p:cNvPr id="289" name="Text 217">
            <a:extLst>
              <a:ext uri="{FF2B5EF4-FFF2-40B4-BE49-F238E27FC236}">
                <a16:creationId xmlns:a16="http://schemas.microsoft.com/office/drawing/2014/main" id="{D6C1D411-1C9A-4B0F-9189-215B48933FCE}"/>
              </a:ext>
            </a:extLst>
          </p:cNvPr>
          <p:cNvSpPr txBox="1"/>
          <p:nvPr/>
        </p:nvSpPr>
        <p:spPr>
          <a:xfrm>
            <a:off x="10419995" y="5041376"/>
            <a:ext cx="711837" cy="9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172.32.99.2</a:t>
            </a:r>
            <a:endParaRPr lang="en-US" sz="600" dirty="0"/>
          </a:p>
        </p:txBody>
      </p:sp>
      <p:sp>
        <p:nvSpPr>
          <p:cNvPr id="290" name="Text 218">
            <a:extLst>
              <a:ext uri="{FF2B5EF4-FFF2-40B4-BE49-F238E27FC236}">
                <a16:creationId xmlns:a16="http://schemas.microsoft.com/office/drawing/2014/main" id="{A369E30D-5AD2-45C5-9A40-CB35FDE022CD}"/>
              </a:ext>
            </a:extLst>
          </p:cNvPr>
          <p:cNvSpPr txBox="1"/>
          <p:nvPr/>
        </p:nvSpPr>
        <p:spPr>
          <a:xfrm>
            <a:off x="7689557" y="520297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91" name="Text 219">
            <a:extLst>
              <a:ext uri="{FF2B5EF4-FFF2-40B4-BE49-F238E27FC236}">
                <a16:creationId xmlns:a16="http://schemas.microsoft.com/office/drawing/2014/main" id="{C1BE6F36-EC22-47CF-98BE-BAA6DBFB9AE1}"/>
              </a:ext>
            </a:extLst>
          </p:cNvPr>
          <p:cNvSpPr txBox="1"/>
          <p:nvPr/>
        </p:nvSpPr>
        <p:spPr>
          <a:xfrm>
            <a:off x="8355909" y="5202268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1000 · 172.32.10.0/24</a:t>
            </a:r>
            <a:endParaRPr lang="en-US" sz="600" dirty="0"/>
          </a:p>
        </p:txBody>
      </p:sp>
      <p:sp>
        <p:nvSpPr>
          <p:cNvPr id="292" name="Text 220">
            <a:extLst>
              <a:ext uri="{FF2B5EF4-FFF2-40B4-BE49-F238E27FC236}">
                <a16:creationId xmlns:a16="http://schemas.microsoft.com/office/drawing/2014/main" id="{C5EF1C57-5EEA-4DAA-B4AF-859A52A55A84}"/>
              </a:ext>
            </a:extLst>
          </p:cNvPr>
          <p:cNvSpPr txBox="1"/>
          <p:nvPr/>
        </p:nvSpPr>
        <p:spPr>
          <a:xfrm>
            <a:off x="7704612" y="5502100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MacVLAN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(SBI/N2,N4)</a:t>
            </a:r>
            <a:endParaRPr lang="en-US" sz="600" dirty="0"/>
          </a:p>
        </p:txBody>
      </p:sp>
      <p:sp>
        <p:nvSpPr>
          <p:cNvPr id="293" name="Text 221">
            <a:extLst>
              <a:ext uri="{FF2B5EF4-FFF2-40B4-BE49-F238E27FC236}">
                <a16:creationId xmlns:a16="http://schemas.microsoft.com/office/drawing/2014/main" id="{B5BF523A-4D18-41EC-9316-62899D5A453D}"/>
              </a:ext>
            </a:extLst>
          </p:cNvPr>
          <p:cNvSpPr txBox="1"/>
          <p:nvPr/>
        </p:nvSpPr>
        <p:spPr>
          <a:xfrm>
            <a:off x="8355909" y="5502100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1100/2000 · 10.32.0.0/27,/28</a:t>
            </a:r>
            <a:endParaRPr lang="en-US" sz="600" dirty="0"/>
          </a:p>
        </p:txBody>
      </p:sp>
      <p:sp>
        <p:nvSpPr>
          <p:cNvPr id="294" name="Text 222">
            <a:extLst>
              <a:ext uri="{FF2B5EF4-FFF2-40B4-BE49-F238E27FC236}">
                <a16:creationId xmlns:a16="http://schemas.microsoft.com/office/drawing/2014/main" id="{97E620AC-5936-4B18-B2AB-23CD7A489F5D}"/>
              </a:ext>
            </a:extLst>
          </p:cNvPr>
          <p:cNvSpPr txBox="1"/>
          <p:nvPr/>
        </p:nvSpPr>
        <p:spPr>
          <a:xfrm>
            <a:off x="7717270" y="579154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SR-IOV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(N3/N6,UPF)</a:t>
            </a:r>
            <a:endParaRPr lang="en-US" sz="600" dirty="0"/>
          </a:p>
        </p:txBody>
      </p:sp>
      <p:sp>
        <p:nvSpPr>
          <p:cNvPr id="295" name="Text 223">
            <a:extLst>
              <a:ext uri="{FF2B5EF4-FFF2-40B4-BE49-F238E27FC236}">
                <a16:creationId xmlns:a16="http://schemas.microsoft.com/office/drawing/2014/main" id="{43FB19A4-DD35-49A5-AF92-7114BCA223B7}"/>
              </a:ext>
            </a:extLst>
          </p:cNvPr>
          <p:cNvSpPr txBox="1"/>
          <p:nvPr/>
        </p:nvSpPr>
        <p:spPr>
          <a:xfrm>
            <a:off x="8355909" y="5783631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3000/3100 · vfio-pci(DPDK)</a:t>
            </a:r>
            <a:endParaRPr lang="en-US" sz="600" dirty="0"/>
          </a:p>
        </p:txBody>
      </p:sp>
      <p:sp>
        <p:nvSpPr>
          <p:cNvPr id="296" name="Text 226">
            <a:extLst>
              <a:ext uri="{FF2B5EF4-FFF2-40B4-BE49-F238E27FC236}">
                <a16:creationId xmlns:a16="http://schemas.microsoft.com/office/drawing/2014/main" id="{4B24C1F5-0EB4-4485-8DE3-30414B1B7A3C}"/>
              </a:ext>
            </a:extLst>
          </p:cNvPr>
          <p:cNvSpPr txBox="1"/>
          <p:nvPr/>
        </p:nvSpPr>
        <p:spPr>
          <a:xfrm>
            <a:off x="7708147" y="608212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97" name="Text 227">
            <a:extLst>
              <a:ext uri="{FF2B5EF4-FFF2-40B4-BE49-F238E27FC236}">
                <a16:creationId xmlns:a16="http://schemas.microsoft.com/office/drawing/2014/main" id="{186A65AB-0998-4620-871E-B2D279F731E6}"/>
              </a:ext>
            </a:extLst>
          </p:cNvPr>
          <p:cNvSpPr txBox="1"/>
          <p:nvPr/>
        </p:nvSpPr>
        <p:spPr>
          <a:xfrm>
            <a:off x="8355909" y="6089654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1200 · 172.32.20.0/24</a:t>
            </a:r>
            <a:endParaRPr lang="en-US" sz="600" dirty="0"/>
          </a:p>
        </p:txBody>
      </p:sp>
      <p:sp>
        <p:nvSpPr>
          <p:cNvPr id="298" name="Text 228">
            <a:extLst>
              <a:ext uri="{FF2B5EF4-FFF2-40B4-BE49-F238E27FC236}">
                <a16:creationId xmlns:a16="http://schemas.microsoft.com/office/drawing/2014/main" id="{12B87896-9598-4AAC-ADC0-A22BEB31D22D}"/>
              </a:ext>
            </a:extLst>
          </p:cNvPr>
          <p:cNvSpPr txBox="1"/>
          <p:nvPr/>
        </p:nvSpPr>
        <p:spPr>
          <a:xfrm>
            <a:off x="8236259" y="6433967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/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MGMT network: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/iDRAC +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 cluster C</a:t>
            </a:r>
            <a:endParaRPr lang="en-US" sz="600" dirty="0"/>
          </a:p>
        </p:txBody>
      </p:sp>
      <p:sp>
        <p:nvSpPr>
          <p:cNvPr id="299" name="Text 229">
            <a:extLst>
              <a:ext uri="{FF2B5EF4-FFF2-40B4-BE49-F238E27FC236}">
                <a16:creationId xmlns:a16="http://schemas.microsoft.com/office/drawing/2014/main" id="{834F22FA-D279-4547-A599-5BF3FCBB3568}"/>
              </a:ext>
            </a:extLst>
          </p:cNvPr>
          <p:cNvSpPr txBox="1"/>
          <p:nvPr/>
        </p:nvSpPr>
        <p:spPr>
          <a:xfrm>
            <a:off x="8236259" y="6501535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172.32.99.1</a:t>
            </a:r>
            <a:endParaRPr lang="en-US" sz="600" dirty="0"/>
          </a:p>
        </p:txBody>
      </p:sp>
      <p:sp>
        <p:nvSpPr>
          <p:cNvPr id="300" name="Text 230">
            <a:extLst>
              <a:ext uri="{FF2B5EF4-FFF2-40B4-BE49-F238E27FC236}">
                <a16:creationId xmlns:a16="http://schemas.microsoft.com/office/drawing/2014/main" id="{24A883C6-C79D-4B80-B47E-D9567B4D54B6}"/>
              </a:ext>
            </a:extLst>
          </p:cNvPr>
          <p:cNvSpPr txBox="1"/>
          <p:nvPr/>
        </p:nvSpPr>
        <p:spPr>
          <a:xfrm>
            <a:off x="9356732" y="6317140"/>
            <a:ext cx="387106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854F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Port</a:t>
            </a:r>
            <a:endParaRPr lang="en-US" sz="600" dirty="0"/>
          </a:p>
        </p:txBody>
      </p:sp>
      <p:sp>
        <p:nvSpPr>
          <p:cNvPr id="301" name="Shape 32">
            <a:extLst>
              <a:ext uri="{FF2B5EF4-FFF2-40B4-BE49-F238E27FC236}">
                <a16:creationId xmlns:a16="http://schemas.microsoft.com/office/drawing/2014/main" id="{A5B1FD3E-CA59-472E-8C59-17EC956D1FEE}"/>
              </a:ext>
            </a:extLst>
          </p:cNvPr>
          <p:cNvSpPr/>
          <p:nvPr/>
        </p:nvSpPr>
        <p:spPr>
          <a:xfrm>
            <a:off x="10313580" y="6144295"/>
            <a:ext cx="35191" cy="35191"/>
          </a:xfrm>
          <a:prstGeom prst="ellipse">
            <a:avLst/>
          </a:prstGeom>
          <a:solidFill>
            <a:srgbClr val="00B050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302" name="Shape 98">
            <a:extLst>
              <a:ext uri="{FF2B5EF4-FFF2-40B4-BE49-F238E27FC236}">
                <a16:creationId xmlns:a16="http://schemas.microsoft.com/office/drawing/2014/main" id="{E8791106-B937-4A75-A037-3DDEA8E41591}"/>
              </a:ext>
            </a:extLst>
          </p:cNvPr>
          <p:cNvSpPr/>
          <p:nvPr/>
        </p:nvSpPr>
        <p:spPr>
          <a:xfrm flipH="1">
            <a:off x="9535590" y="4792576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3" name="Shape 30">
            <a:extLst>
              <a:ext uri="{FF2B5EF4-FFF2-40B4-BE49-F238E27FC236}">
                <a16:creationId xmlns:a16="http://schemas.microsoft.com/office/drawing/2014/main" id="{85255EE7-FD17-4FEE-87BB-F21F51CD5D31}"/>
              </a:ext>
            </a:extLst>
          </p:cNvPr>
          <p:cNvSpPr/>
          <p:nvPr/>
        </p:nvSpPr>
        <p:spPr>
          <a:xfrm>
            <a:off x="10313580" y="528346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304" name="Shape 30">
            <a:extLst>
              <a:ext uri="{FF2B5EF4-FFF2-40B4-BE49-F238E27FC236}">
                <a16:creationId xmlns:a16="http://schemas.microsoft.com/office/drawing/2014/main" id="{C7128658-EFF7-4E0F-8D98-3300BED28BDD}"/>
              </a:ext>
            </a:extLst>
          </p:cNvPr>
          <p:cNvSpPr/>
          <p:nvPr/>
        </p:nvSpPr>
        <p:spPr>
          <a:xfrm>
            <a:off x="9517956" y="528346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305" name="Shape 98">
            <a:extLst>
              <a:ext uri="{FF2B5EF4-FFF2-40B4-BE49-F238E27FC236}">
                <a16:creationId xmlns:a16="http://schemas.microsoft.com/office/drawing/2014/main" id="{0D41DA53-C6D9-471D-AFFB-C6681561145A}"/>
              </a:ext>
            </a:extLst>
          </p:cNvPr>
          <p:cNvSpPr/>
          <p:nvPr/>
        </p:nvSpPr>
        <p:spPr>
          <a:xfrm flipH="1">
            <a:off x="8725883" y="4794752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6" name="Shape 30">
            <a:extLst>
              <a:ext uri="{FF2B5EF4-FFF2-40B4-BE49-F238E27FC236}">
                <a16:creationId xmlns:a16="http://schemas.microsoft.com/office/drawing/2014/main" id="{BA736F86-B1D8-44DD-B750-427D13468F6F}"/>
              </a:ext>
            </a:extLst>
          </p:cNvPr>
          <p:cNvSpPr/>
          <p:nvPr/>
        </p:nvSpPr>
        <p:spPr>
          <a:xfrm>
            <a:off x="8708249" y="528346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307" name="Shape 23">
            <a:extLst>
              <a:ext uri="{FF2B5EF4-FFF2-40B4-BE49-F238E27FC236}">
                <a16:creationId xmlns:a16="http://schemas.microsoft.com/office/drawing/2014/main" id="{C87A7C77-0287-47C7-B780-F10CEBFCAD2C}"/>
              </a:ext>
            </a:extLst>
          </p:cNvPr>
          <p:cNvSpPr/>
          <p:nvPr/>
        </p:nvSpPr>
        <p:spPr>
          <a:xfrm>
            <a:off x="3936651" y="3781393"/>
            <a:ext cx="4100107" cy="354366"/>
          </a:xfrm>
          <a:prstGeom prst="roundRect">
            <a:avLst>
              <a:gd name="adj" fmla="val 0"/>
            </a:avLst>
          </a:prstGeom>
          <a:solidFill>
            <a:srgbClr val="F3ECFB"/>
          </a:solidFill>
          <a:ln w="7332">
            <a:solidFill>
              <a:srgbClr val="534AB7"/>
            </a:solidFill>
            <a:prstDash val="solid"/>
          </a:ln>
        </p:spPr>
      </p:sp>
      <p:sp>
        <p:nvSpPr>
          <p:cNvPr id="318" name="Text 203">
            <a:extLst>
              <a:ext uri="{FF2B5EF4-FFF2-40B4-BE49-F238E27FC236}">
                <a16:creationId xmlns:a16="http://schemas.microsoft.com/office/drawing/2014/main" id="{55E4B43D-0261-49A0-A4C6-EEE6FD48ACDF}"/>
              </a:ext>
            </a:extLst>
          </p:cNvPr>
          <p:cNvSpPr txBox="1"/>
          <p:nvPr/>
        </p:nvSpPr>
        <p:spPr>
          <a:xfrm>
            <a:off x="4470957" y="3800602"/>
            <a:ext cx="3031495" cy="17952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Inter-Cluster Aggregation Switch</a:t>
            </a:r>
            <a:endParaRPr lang="en-US" sz="900" dirty="0"/>
          </a:p>
        </p:txBody>
      </p:sp>
      <p:sp>
        <p:nvSpPr>
          <p:cNvPr id="319" name="Text 204">
            <a:extLst>
              <a:ext uri="{FF2B5EF4-FFF2-40B4-BE49-F238E27FC236}">
                <a16:creationId xmlns:a16="http://schemas.microsoft.com/office/drawing/2014/main" id="{D0EFE8F2-588D-4BEC-934A-D5A02F5C53CE}"/>
              </a:ext>
            </a:extLst>
          </p:cNvPr>
          <p:cNvSpPr txBox="1"/>
          <p:nvPr/>
        </p:nvSpPr>
        <p:spPr>
          <a:xfrm>
            <a:off x="4109352" y="3989986"/>
            <a:ext cx="3790913" cy="140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A ↔ B/C L3 라우팅 (동일 서브넷 불필요, 단일 스위치) · Mgmt IP 172.30.1.1</a:t>
            </a:r>
            <a:endParaRPr lang="en-US" sz="800" dirty="0"/>
          </a:p>
        </p:txBody>
      </p:sp>
      <p:sp>
        <p:nvSpPr>
          <p:cNvPr id="320" name="Shape 20">
            <a:extLst>
              <a:ext uri="{FF2B5EF4-FFF2-40B4-BE49-F238E27FC236}">
                <a16:creationId xmlns:a16="http://schemas.microsoft.com/office/drawing/2014/main" id="{34231D2D-301A-45EC-A7D2-8DC210EB73C1}"/>
              </a:ext>
            </a:extLst>
          </p:cNvPr>
          <p:cNvSpPr/>
          <p:nvPr/>
        </p:nvSpPr>
        <p:spPr>
          <a:xfrm>
            <a:off x="8314387" y="2716906"/>
            <a:ext cx="1755033" cy="31672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332">
            <a:solidFill>
              <a:srgbClr val="5F5E5A"/>
            </a:solidFill>
            <a:prstDash val="solid"/>
          </a:ln>
        </p:spPr>
      </p:sp>
      <p:sp>
        <p:nvSpPr>
          <p:cNvPr id="321" name="Shape 21">
            <a:extLst>
              <a:ext uri="{FF2B5EF4-FFF2-40B4-BE49-F238E27FC236}">
                <a16:creationId xmlns:a16="http://schemas.microsoft.com/office/drawing/2014/main" id="{D524D73F-0F0F-454E-BE0A-C569319DF660}"/>
              </a:ext>
            </a:extLst>
          </p:cNvPr>
          <p:cNvSpPr/>
          <p:nvPr/>
        </p:nvSpPr>
        <p:spPr>
          <a:xfrm>
            <a:off x="9680310" y="3441598"/>
            <a:ext cx="1682296" cy="31672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332">
            <a:solidFill>
              <a:srgbClr val="5F5E5A"/>
            </a:solidFill>
            <a:prstDash val="solid"/>
          </a:ln>
        </p:spPr>
      </p:sp>
      <p:sp>
        <p:nvSpPr>
          <p:cNvPr id="324" name="Text 196">
            <a:extLst>
              <a:ext uri="{FF2B5EF4-FFF2-40B4-BE49-F238E27FC236}">
                <a16:creationId xmlns:a16="http://schemas.microsoft.com/office/drawing/2014/main" id="{C3EAB912-E371-4E1E-8BAB-BAFFAABF6CAF}"/>
              </a:ext>
            </a:extLst>
          </p:cNvPr>
          <p:cNvSpPr txBox="1"/>
          <p:nvPr/>
        </p:nvSpPr>
        <p:spPr>
          <a:xfrm>
            <a:off x="8664032" y="2730032"/>
            <a:ext cx="1055743" cy="158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Harbor Registry</a:t>
            </a:r>
            <a:endParaRPr lang="en-US" sz="800" dirty="0"/>
          </a:p>
        </p:txBody>
      </p:sp>
      <p:sp>
        <p:nvSpPr>
          <p:cNvPr id="325" name="Text 197">
            <a:extLst>
              <a:ext uri="{FF2B5EF4-FFF2-40B4-BE49-F238E27FC236}">
                <a16:creationId xmlns:a16="http://schemas.microsoft.com/office/drawing/2014/main" id="{25B3D30E-1A22-4327-9B1F-E77F3883C794}"/>
              </a:ext>
            </a:extLst>
          </p:cNvPr>
          <p:cNvSpPr txBox="1"/>
          <p:nvPr/>
        </p:nvSpPr>
        <p:spPr>
          <a:xfrm>
            <a:off x="8360480" y="2888594"/>
            <a:ext cx="1662846" cy="140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RHOCP/Operator/CNF Image 공용</a:t>
            </a:r>
            <a:endParaRPr lang="en-US" sz="800" dirty="0"/>
          </a:p>
        </p:txBody>
      </p:sp>
      <p:sp>
        <p:nvSpPr>
          <p:cNvPr id="326" name="Text 198">
            <a:extLst>
              <a:ext uri="{FF2B5EF4-FFF2-40B4-BE49-F238E27FC236}">
                <a16:creationId xmlns:a16="http://schemas.microsoft.com/office/drawing/2014/main" id="{37F81400-4E25-438E-8289-CC17CBD7008D}"/>
              </a:ext>
            </a:extLst>
          </p:cNvPr>
          <p:cNvSpPr txBox="1"/>
          <p:nvPr/>
        </p:nvSpPr>
        <p:spPr>
          <a:xfrm>
            <a:off x="9923204" y="3467603"/>
            <a:ext cx="1196508" cy="158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Storage Cluster</a:t>
            </a:r>
            <a:endParaRPr lang="en-US" sz="800" dirty="0"/>
          </a:p>
        </p:txBody>
      </p:sp>
      <p:sp>
        <p:nvSpPr>
          <p:cNvPr id="327" name="Text 199">
            <a:extLst>
              <a:ext uri="{FF2B5EF4-FFF2-40B4-BE49-F238E27FC236}">
                <a16:creationId xmlns:a16="http://schemas.microsoft.com/office/drawing/2014/main" id="{1608CFBD-2275-46A7-B35F-C0FF9C4525C4}"/>
              </a:ext>
            </a:extLst>
          </p:cNvPr>
          <p:cNvSpPr txBox="1"/>
          <p:nvPr/>
        </p:nvSpPr>
        <p:spPr>
          <a:xfrm>
            <a:off x="9923204" y="3630141"/>
            <a:ext cx="1196508" cy="158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Harbor 백엔드 (Ceph, 공용)</a:t>
            </a:r>
            <a:endParaRPr lang="en-US" sz="800" dirty="0"/>
          </a:p>
        </p:txBody>
      </p:sp>
      <p:sp>
        <p:nvSpPr>
          <p:cNvPr id="328" name="Shape 11">
            <a:extLst>
              <a:ext uri="{FF2B5EF4-FFF2-40B4-BE49-F238E27FC236}">
                <a16:creationId xmlns:a16="http://schemas.microsoft.com/office/drawing/2014/main" id="{9207FCE9-AE8F-4797-A0E3-9817FCFBC54B}"/>
              </a:ext>
            </a:extLst>
          </p:cNvPr>
          <p:cNvSpPr/>
          <p:nvPr/>
        </p:nvSpPr>
        <p:spPr>
          <a:xfrm>
            <a:off x="4633730" y="5985168"/>
            <a:ext cx="860323" cy="27474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29" name="Text 183">
            <a:extLst>
              <a:ext uri="{FF2B5EF4-FFF2-40B4-BE49-F238E27FC236}">
                <a16:creationId xmlns:a16="http://schemas.microsoft.com/office/drawing/2014/main" id="{72537836-37B1-4AA6-BAF0-BA705DC8F115}"/>
              </a:ext>
            </a:extLst>
          </p:cNvPr>
          <p:cNvSpPr txBox="1"/>
          <p:nvPr/>
        </p:nvSpPr>
        <p:spPr>
          <a:xfrm>
            <a:off x="4656183" y="6029901"/>
            <a:ext cx="815417" cy="9008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Storage-B (CSI)</a:t>
            </a:r>
            <a:endParaRPr lang="en-US" sz="800" dirty="0"/>
          </a:p>
        </p:txBody>
      </p:sp>
      <p:sp>
        <p:nvSpPr>
          <p:cNvPr id="330" name="Text 184">
            <a:extLst>
              <a:ext uri="{FF2B5EF4-FFF2-40B4-BE49-F238E27FC236}">
                <a16:creationId xmlns:a16="http://schemas.microsoft.com/office/drawing/2014/main" id="{F05D8734-60B0-4D40-911F-E0D293233D24}"/>
              </a:ext>
            </a:extLst>
          </p:cNvPr>
          <p:cNvSpPr txBox="1"/>
          <p:nvPr/>
        </p:nvSpPr>
        <p:spPr>
          <a:xfrm>
            <a:off x="4610532" y="6107322"/>
            <a:ext cx="906718" cy="10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B 전용</a:t>
            </a:r>
            <a:endParaRPr lang="en-US" sz="800" dirty="0"/>
          </a:p>
        </p:txBody>
      </p:sp>
      <p:sp>
        <p:nvSpPr>
          <p:cNvPr id="331" name="Shape 11">
            <a:extLst>
              <a:ext uri="{FF2B5EF4-FFF2-40B4-BE49-F238E27FC236}">
                <a16:creationId xmlns:a16="http://schemas.microsoft.com/office/drawing/2014/main" id="{755D933C-45CE-4ACE-BAC3-B45B8F542E6B}"/>
              </a:ext>
            </a:extLst>
          </p:cNvPr>
          <p:cNvSpPr/>
          <p:nvPr/>
        </p:nvSpPr>
        <p:spPr>
          <a:xfrm>
            <a:off x="10488658" y="6018745"/>
            <a:ext cx="860323" cy="27474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32" name="Text 183">
            <a:extLst>
              <a:ext uri="{FF2B5EF4-FFF2-40B4-BE49-F238E27FC236}">
                <a16:creationId xmlns:a16="http://schemas.microsoft.com/office/drawing/2014/main" id="{3719B5B1-8060-4308-A3B4-0060E18913A5}"/>
              </a:ext>
            </a:extLst>
          </p:cNvPr>
          <p:cNvSpPr txBox="1"/>
          <p:nvPr/>
        </p:nvSpPr>
        <p:spPr>
          <a:xfrm>
            <a:off x="10511111" y="6063478"/>
            <a:ext cx="815417" cy="9008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Storage-C (CSI)</a:t>
            </a:r>
            <a:endParaRPr lang="en-US" sz="800" dirty="0"/>
          </a:p>
        </p:txBody>
      </p:sp>
      <p:sp>
        <p:nvSpPr>
          <p:cNvPr id="333" name="Text 184">
            <a:extLst>
              <a:ext uri="{FF2B5EF4-FFF2-40B4-BE49-F238E27FC236}">
                <a16:creationId xmlns:a16="http://schemas.microsoft.com/office/drawing/2014/main" id="{CDCE8425-B16B-4F78-96B7-9664022A741E}"/>
              </a:ext>
            </a:extLst>
          </p:cNvPr>
          <p:cNvSpPr txBox="1"/>
          <p:nvPr/>
        </p:nvSpPr>
        <p:spPr>
          <a:xfrm>
            <a:off x="10455199" y="6173608"/>
            <a:ext cx="906718" cy="10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C 전용</a:t>
            </a:r>
            <a:endParaRPr lang="en-US" sz="800" dirty="0"/>
          </a:p>
        </p:txBody>
      </p:sp>
      <p:sp>
        <p:nvSpPr>
          <p:cNvPr id="334" name="Shape 70">
            <a:extLst>
              <a:ext uri="{FF2B5EF4-FFF2-40B4-BE49-F238E27FC236}">
                <a16:creationId xmlns:a16="http://schemas.microsoft.com/office/drawing/2014/main" id="{9871E599-B878-479D-BB99-C4626093E590}"/>
              </a:ext>
            </a:extLst>
          </p:cNvPr>
          <p:cNvSpPr/>
          <p:nvPr/>
        </p:nvSpPr>
        <p:spPr>
          <a:xfrm>
            <a:off x="6789824" y="2225480"/>
            <a:ext cx="0" cy="924736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5" name="Shape 70">
            <a:extLst>
              <a:ext uri="{FF2B5EF4-FFF2-40B4-BE49-F238E27FC236}">
                <a16:creationId xmlns:a16="http://schemas.microsoft.com/office/drawing/2014/main" id="{1D91C928-8C26-4357-8DCD-B5C61A088968}"/>
              </a:ext>
            </a:extLst>
          </p:cNvPr>
          <p:cNvSpPr/>
          <p:nvPr/>
        </p:nvSpPr>
        <p:spPr>
          <a:xfrm>
            <a:off x="4359435" y="2253759"/>
            <a:ext cx="0" cy="892492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6" name="Shape 70">
            <a:extLst>
              <a:ext uri="{FF2B5EF4-FFF2-40B4-BE49-F238E27FC236}">
                <a16:creationId xmlns:a16="http://schemas.microsoft.com/office/drawing/2014/main" id="{D76A3C27-0B3A-4E11-9B05-350ED340E398}"/>
              </a:ext>
            </a:extLst>
          </p:cNvPr>
          <p:cNvSpPr/>
          <p:nvPr/>
        </p:nvSpPr>
        <p:spPr>
          <a:xfrm>
            <a:off x="3477038" y="2247067"/>
            <a:ext cx="0" cy="892492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7" name="Shape 70">
            <a:extLst>
              <a:ext uri="{FF2B5EF4-FFF2-40B4-BE49-F238E27FC236}">
                <a16:creationId xmlns:a16="http://schemas.microsoft.com/office/drawing/2014/main" id="{EF63FB8A-9B85-4434-AAE9-A58988A27893}"/>
              </a:ext>
            </a:extLst>
          </p:cNvPr>
          <p:cNvSpPr/>
          <p:nvPr/>
        </p:nvSpPr>
        <p:spPr>
          <a:xfrm>
            <a:off x="2629374" y="2247067"/>
            <a:ext cx="0" cy="892492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9" name="Shape 58">
            <a:extLst>
              <a:ext uri="{FF2B5EF4-FFF2-40B4-BE49-F238E27FC236}">
                <a16:creationId xmlns:a16="http://schemas.microsoft.com/office/drawing/2014/main" id="{5D940BBF-C574-4A1B-BCA2-4F843BFCB04D}"/>
              </a:ext>
            </a:extLst>
          </p:cNvPr>
          <p:cNvSpPr/>
          <p:nvPr/>
        </p:nvSpPr>
        <p:spPr>
          <a:xfrm>
            <a:off x="3692256" y="2235508"/>
            <a:ext cx="0" cy="63284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1" name="Shape 58">
            <a:extLst>
              <a:ext uri="{FF2B5EF4-FFF2-40B4-BE49-F238E27FC236}">
                <a16:creationId xmlns:a16="http://schemas.microsoft.com/office/drawing/2014/main" id="{CCBCC845-3D49-4EA0-8AC4-E849E3813D34}"/>
              </a:ext>
            </a:extLst>
          </p:cNvPr>
          <p:cNvSpPr/>
          <p:nvPr/>
        </p:nvSpPr>
        <p:spPr>
          <a:xfrm flipH="1">
            <a:off x="5060275" y="2684858"/>
            <a:ext cx="0" cy="18349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3" name="Shape 58">
            <a:extLst>
              <a:ext uri="{FF2B5EF4-FFF2-40B4-BE49-F238E27FC236}">
                <a16:creationId xmlns:a16="http://schemas.microsoft.com/office/drawing/2014/main" id="{0CF46F8F-BA06-4626-A038-F336E3080ABA}"/>
              </a:ext>
            </a:extLst>
          </p:cNvPr>
          <p:cNvSpPr/>
          <p:nvPr/>
        </p:nvSpPr>
        <p:spPr>
          <a:xfrm>
            <a:off x="6047462" y="2243588"/>
            <a:ext cx="0" cy="62476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0" name="Shape 58">
            <a:extLst>
              <a:ext uri="{FF2B5EF4-FFF2-40B4-BE49-F238E27FC236}">
                <a16:creationId xmlns:a16="http://schemas.microsoft.com/office/drawing/2014/main" id="{BC0D0142-36BA-4A69-9EB1-CEFF3150900F}"/>
              </a:ext>
            </a:extLst>
          </p:cNvPr>
          <p:cNvSpPr/>
          <p:nvPr/>
        </p:nvSpPr>
        <p:spPr>
          <a:xfrm>
            <a:off x="6931393" y="2221966"/>
            <a:ext cx="0" cy="646390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1" name="Shape 65">
            <a:extLst>
              <a:ext uri="{FF2B5EF4-FFF2-40B4-BE49-F238E27FC236}">
                <a16:creationId xmlns:a16="http://schemas.microsoft.com/office/drawing/2014/main" id="{73DF3202-B8A3-44C6-A318-96217D218808}"/>
              </a:ext>
            </a:extLst>
          </p:cNvPr>
          <p:cNvSpPr/>
          <p:nvPr/>
        </p:nvSpPr>
        <p:spPr>
          <a:xfrm>
            <a:off x="7080648" y="2214995"/>
            <a:ext cx="0" cy="796424"/>
          </a:xfrm>
          <a:prstGeom prst="line">
            <a:avLst/>
          </a:prstGeom>
          <a:noFill/>
          <a:ln w="8798">
            <a:solidFill>
              <a:srgbClr val="0F6E56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2" name="Text 190">
            <a:extLst>
              <a:ext uri="{FF2B5EF4-FFF2-40B4-BE49-F238E27FC236}">
                <a16:creationId xmlns:a16="http://schemas.microsoft.com/office/drawing/2014/main" id="{D9DE9E08-6E35-46D6-A408-FCA4F4E0EFC2}"/>
              </a:ext>
            </a:extLst>
          </p:cNvPr>
          <p:cNvSpPr txBox="1"/>
          <p:nvPr/>
        </p:nvSpPr>
        <p:spPr>
          <a:xfrm>
            <a:off x="2639952" y="2921775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1200 · 172.30.20.0/24</a:t>
            </a:r>
            <a:endParaRPr lang="en-US" sz="800" dirty="0"/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D1F6E120-B8F4-4BD6-8721-E5E31ADD94CE}"/>
              </a:ext>
            </a:extLst>
          </p:cNvPr>
          <p:cNvCxnSpPr>
            <a:cxnSpLocks/>
            <a:stCxn id="66" idx="1"/>
          </p:cNvCxnSpPr>
          <p:nvPr/>
        </p:nvCxnSpPr>
        <p:spPr>
          <a:xfrm>
            <a:off x="7367739" y="2864924"/>
            <a:ext cx="0" cy="916469"/>
          </a:xfrm>
          <a:prstGeom prst="line">
            <a:avLst/>
          </a:prstGeom>
          <a:ln w="19050">
            <a:solidFill>
              <a:srgbClr val="7030A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 216">
            <a:extLst>
              <a:ext uri="{FF2B5EF4-FFF2-40B4-BE49-F238E27FC236}">
                <a16:creationId xmlns:a16="http://schemas.microsoft.com/office/drawing/2014/main" id="{7D291AC3-D3DD-41D7-A808-6C80ABDA77DE}"/>
              </a:ext>
            </a:extLst>
          </p:cNvPr>
          <p:cNvSpPr txBox="1"/>
          <p:nvPr/>
        </p:nvSpPr>
        <p:spPr>
          <a:xfrm>
            <a:off x="7081288" y="2630406"/>
            <a:ext cx="497396" cy="1461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 Switch </a:t>
            </a:r>
            <a:endParaRPr lang="en-US" sz="600" dirty="0"/>
          </a:p>
        </p:txBody>
      </p:sp>
      <p:cxnSp>
        <p:nvCxnSpPr>
          <p:cNvPr id="354" name="직선 연결선 353">
            <a:extLst>
              <a:ext uri="{FF2B5EF4-FFF2-40B4-BE49-F238E27FC236}">
                <a16:creationId xmlns:a16="http://schemas.microsoft.com/office/drawing/2014/main" id="{795BC0B0-A7BA-4668-8957-BA39AAF0E765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4921315" y="4139340"/>
            <a:ext cx="0" cy="1139341"/>
          </a:xfrm>
          <a:prstGeom prst="line">
            <a:avLst/>
          </a:prstGeom>
          <a:ln w="19050">
            <a:solidFill>
              <a:srgbClr val="7030A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직선 연결선 354">
            <a:extLst>
              <a:ext uri="{FF2B5EF4-FFF2-40B4-BE49-F238E27FC236}">
                <a16:creationId xmlns:a16="http://schemas.microsoft.com/office/drawing/2014/main" id="{C69D926D-A992-494A-B718-3B158D74361E}"/>
              </a:ext>
            </a:extLst>
          </p:cNvPr>
          <p:cNvCxnSpPr>
            <a:cxnSpLocks/>
          </p:cNvCxnSpPr>
          <p:nvPr/>
        </p:nvCxnSpPr>
        <p:spPr>
          <a:xfrm>
            <a:off x="7652960" y="4137156"/>
            <a:ext cx="9729" cy="1181500"/>
          </a:xfrm>
          <a:prstGeom prst="line">
            <a:avLst/>
          </a:prstGeom>
          <a:ln w="19050">
            <a:solidFill>
              <a:srgbClr val="7030A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7C952218-19D6-4A3D-A3F2-10E69CCE81E5}"/>
              </a:ext>
            </a:extLst>
          </p:cNvPr>
          <p:cNvCxnSpPr>
            <a:stCxn id="307" idx="3"/>
            <a:endCxn id="325" idx="2"/>
          </p:cNvCxnSpPr>
          <p:nvPr/>
        </p:nvCxnSpPr>
        <p:spPr>
          <a:xfrm flipV="1">
            <a:off x="8036758" y="3029149"/>
            <a:ext cx="1155145" cy="929427"/>
          </a:xfrm>
          <a:prstGeom prst="bentConnector2">
            <a:avLst/>
          </a:prstGeom>
          <a:ln w="19050">
            <a:solidFill>
              <a:srgbClr val="7030A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연결선: 꺾임 225">
            <a:extLst>
              <a:ext uri="{FF2B5EF4-FFF2-40B4-BE49-F238E27FC236}">
                <a16:creationId xmlns:a16="http://schemas.microsoft.com/office/drawing/2014/main" id="{707F9171-2530-45A5-9BD2-CC9D1DDA1511}"/>
              </a:ext>
            </a:extLst>
          </p:cNvPr>
          <p:cNvCxnSpPr>
            <a:stCxn id="320" idx="3"/>
            <a:endCxn id="321" idx="0"/>
          </p:cNvCxnSpPr>
          <p:nvPr/>
        </p:nvCxnSpPr>
        <p:spPr>
          <a:xfrm>
            <a:off x="10069420" y="2875268"/>
            <a:ext cx="452038" cy="566330"/>
          </a:xfrm>
          <a:prstGeom prst="bentConnector2">
            <a:avLst/>
          </a:prstGeom>
          <a:ln>
            <a:solidFill>
              <a:srgbClr val="FF0066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Text 202">
            <a:extLst>
              <a:ext uri="{FF2B5EF4-FFF2-40B4-BE49-F238E27FC236}">
                <a16:creationId xmlns:a16="http://schemas.microsoft.com/office/drawing/2014/main" id="{86E3682F-4D5A-49DE-9890-3486AC9808B0}"/>
              </a:ext>
            </a:extLst>
          </p:cNvPr>
          <p:cNvSpPr txBox="1"/>
          <p:nvPr/>
        </p:nvSpPr>
        <p:spPr>
          <a:xfrm>
            <a:off x="9655615" y="3195012"/>
            <a:ext cx="1682295" cy="210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Storage Dedicated Network</a:t>
            </a:r>
            <a:endParaRPr lang="en-US" sz="900" dirty="0"/>
          </a:p>
        </p:txBody>
      </p:sp>
      <p:sp>
        <p:nvSpPr>
          <p:cNvPr id="357" name="Text 217">
            <a:extLst>
              <a:ext uri="{FF2B5EF4-FFF2-40B4-BE49-F238E27FC236}">
                <a16:creationId xmlns:a16="http://schemas.microsoft.com/office/drawing/2014/main" id="{1A35B66D-A94C-4EA4-AC89-1E258B7FCF1D}"/>
              </a:ext>
            </a:extLst>
          </p:cNvPr>
          <p:cNvSpPr txBox="1"/>
          <p:nvPr/>
        </p:nvSpPr>
        <p:spPr>
          <a:xfrm>
            <a:off x="8527968" y="2569380"/>
            <a:ext cx="1327096" cy="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</a:rPr>
              <a:t>VIP: 172.30.0.10:8443</a:t>
            </a:r>
            <a:endParaRPr lang="en-US" sz="800" dirty="0"/>
          </a:p>
        </p:txBody>
      </p:sp>
      <p:sp>
        <p:nvSpPr>
          <p:cNvPr id="358" name="Text 26">
            <a:extLst>
              <a:ext uri="{FF2B5EF4-FFF2-40B4-BE49-F238E27FC236}">
                <a16:creationId xmlns:a16="http://schemas.microsoft.com/office/drawing/2014/main" id="{56E8AA6B-BF8F-47B7-A69F-0ADCAB396894}"/>
              </a:ext>
            </a:extLst>
          </p:cNvPr>
          <p:cNvSpPr txBox="1"/>
          <p:nvPr/>
        </p:nvSpPr>
        <p:spPr>
          <a:xfrm>
            <a:off x="7814838" y="3069191"/>
            <a:ext cx="1755033" cy="7911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 </a:t>
            </a:r>
            <a:r>
              <a:rPr lang="en-US" sz="800" b="1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(Static Route/BGP)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172.30.0.0/24 via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Inter-Cluster Switch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각 ToR/Leaf Switch에 등록</a:t>
            </a:r>
            <a:endParaRPr lang="en-US" sz="800" dirty="0"/>
          </a:p>
        </p:txBody>
      </p:sp>
      <p:sp>
        <p:nvSpPr>
          <p:cNvPr id="359" name="Shape 24">
            <a:extLst>
              <a:ext uri="{FF2B5EF4-FFF2-40B4-BE49-F238E27FC236}">
                <a16:creationId xmlns:a16="http://schemas.microsoft.com/office/drawing/2014/main" id="{10F6D5B9-9BF0-4806-A457-0BCD42D41BDE}"/>
              </a:ext>
            </a:extLst>
          </p:cNvPr>
          <p:cNvSpPr/>
          <p:nvPr/>
        </p:nvSpPr>
        <p:spPr>
          <a:xfrm>
            <a:off x="5900290" y="2450951"/>
            <a:ext cx="642284" cy="333558"/>
          </a:xfrm>
          <a:prstGeom prst="roundRect">
            <a:avLst>
              <a:gd name="adj" fmla="val 15000"/>
            </a:avLst>
          </a:prstGeom>
          <a:solidFill>
            <a:srgbClr val="FFFF00"/>
          </a:solidFill>
          <a:ln w="7332">
            <a:solidFill>
              <a:srgbClr val="534AB7"/>
            </a:solidFill>
            <a:prstDash val="solid"/>
          </a:ln>
        </p:spPr>
      </p:sp>
      <p:sp>
        <p:nvSpPr>
          <p:cNvPr id="360" name="Text 206">
            <a:extLst>
              <a:ext uri="{FF2B5EF4-FFF2-40B4-BE49-F238E27FC236}">
                <a16:creationId xmlns:a16="http://schemas.microsoft.com/office/drawing/2014/main" id="{92720864-9C17-4D60-9F26-3817364675B9}"/>
              </a:ext>
            </a:extLst>
          </p:cNvPr>
          <p:cNvSpPr txBox="1"/>
          <p:nvPr/>
        </p:nvSpPr>
        <p:spPr>
          <a:xfrm>
            <a:off x="6006885" y="2487592"/>
            <a:ext cx="466797" cy="26901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Ingress LB</a:t>
            </a:r>
            <a:endParaRPr lang="en-US" sz="800" dirty="0"/>
          </a:p>
        </p:txBody>
      </p:sp>
      <p:cxnSp>
        <p:nvCxnSpPr>
          <p:cNvPr id="361" name="연결선: 꺾임 360">
            <a:extLst>
              <a:ext uri="{FF2B5EF4-FFF2-40B4-BE49-F238E27FC236}">
                <a16:creationId xmlns:a16="http://schemas.microsoft.com/office/drawing/2014/main" id="{57EBA7C6-17F4-434D-A909-D02E856A39EC}"/>
              </a:ext>
            </a:extLst>
          </p:cNvPr>
          <p:cNvCxnSpPr>
            <a:cxnSpLocks/>
            <a:endCxn id="202" idx="2"/>
          </p:cNvCxnSpPr>
          <p:nvPr/>
        </p:nvCxnSpPr>
        <p:spPr>
          <a:xfrm rot="16200000" flipV="1">
            <a:off x="5342098" y="1890280"/>
            <a:ext cx="555054" cy="171906"/>
          </a:xfrm>
          <a:prstGeom prst="bentConnector3">
            <a:avLst>
              <a:gd name="adj1" fmla="val -19266"/>
            </a:avLst>
          </a:prstGeom>
          <a:noFill/>
          <a:ln w="11730">
            <a:solidFill>
              <a:srgbClr val="C0272D"/>
            </a:solidFill>
            <a:prstDash val="solid"/>
            <a:headEnd type="oval"/>
            <a:tailEnd type="triangle"/>
          </a:ln>
        </p:spPr>
      </p:cxnSp>
      <p:cxnSp>
        <p:nvCxnSpPr>
          <p:cNvPr id="364" name="직선 화살표 연결선 363">
            <a:extLst>
              <a:ext uri="{FF2B5EF4-FFF2-40B4-BE49-F238E27FC236}">
                <a16:creationId xmlns:a16="http://schemas.microsoft.com/office/drawing/2014/main" id="{29053FDB-7BAD-42CA-883B-05E164FB204A}"/>
              </a:ext>
            </a:extLst>
          </p:cNvPr>
          <p:cNvCxnSpPr>
            <a:cxnSpLocks/>
            <a:stCxn id="202" idx="0"/>
            <a:endCxn id="7" idx="2"/>
          </p:cNvCxnSpPr>
          <p:nvPr/>
        </p:nvCxnSpPr>
        <p:spPr>
          <a:xfrm flipH="1" flipV="1">
            <a:off x="5533671" y="1343949"/>
            <a:ext cx="1" cy="151100"/>
          </a:xfrm>
          <a:prstGeom prst="straightConnector1">
            <a:avLst/>
          </a:prstGeom>
          <a:noFill/>
          <a:ln w="11730">
            <a:solidFill>
              <a:srgbClr val="C0272D"/>
            </a:solidFill>
            <a:prstDash val="solid"/>
            <a:headEnd type="none"/>
            <a:tailEnd type="triangle"/>
          </a:ln>
        </p:spPr>
      </p:cxnSp>
      <p:cxnSp>
        <p:nvCxnSpPr>
          <p:cNvPr id="370" name="연결선: 꺾임 369">
            <a:extLst>
              <a:ext uri="{FF2B5EF4-FFF2-40B4-BE49-F238E27FC236}">
                <a16:creationId xmlns:a16="http://schemas.microsoft.com/office/drawing/2014/main" id="{6A33DFE1-5A06-4D1C-B670-B50DBE0ED85B}"/>
              </a:ext>
            </a:extLst>
          </p:cNvPr>
          <p:cNvCxnSpPr>
            <a:cxnSpLocks/>
            <a:stCxn id="6" idx="2"/>
            <a:endCxn id="212" idx="1"/>
          </p:cNvCxnSpPr>
          <p:nvPr/>
        </p:nvCxnSpPr>
        <p:spPr>
          <a:xfrm rot="16200000" flipH="1">
            <a:off x="376318" y="2629522"/>
            <a:ext cx="2144680" cy="1738375"/>
          </a:xfrm>
          <a:prstGeom prst="bentConnector2">
            <a:avLst/>
          </a:prstGeom>
          <a:noFill/>
          <a:ln w="9287">
            <a:solidFill>
              <a:srgbClr val="C0272D"/>
            </a:solidFill>
            <a:prstDash val="dash"/>
            <a:tailEnd type="triangle"/>
          </a:ln>
        </p:spPr>
      </p:cxnSp>
      <p:cxnSp>
        <p:nvCxnSpPr>
          <p:cNvPr id="371" name="연결선: 꺾임 370">
            <a:extLst>
              <a:ext uri="{FF2B5EF4-FFF2-40B4-BE49-F238E27FC236}">
                <a16:creationId xmlns:a16="http://schemas.microsoft.com/office/drawing/2014/main" id="{D0C5F798-7EEC-45F7-BEF6-75AD054B9436}"/>
              </a:ext>
            </a:extLst>
          </p:cNvPr>
          <p:cNvCxnSpPr>
            <a:cxnSpLocks/>
            <a:stCxn id="6" idx="2"/>
            <a:endCxn id="9" idx="1"/>
          </p:cNvCxnSpPr>
          <p:nvPr/>
        </p:nvCxnSpPr>
        <p:spPr>
          <a:xfrm rot="5400000" flipH="1" flipV="1">
            <a:off x="1329077" y="1332289"/>
            <a:ext cx="344475" cy="1843688"/>
          </a:xfrm>
          <a:prstGeom prst="bentConnector4">
            <a:avLst>
              <a:gd name="adj1" fmla="val -66362"/>
              <a:gd name="adj2" fmla="val 42336"/>
            </a:avLst>
          </a:prstGeom>
          <a:noFill/>
          <a:ln w="9287">
            <a:solidFill>
              <a:srgbClr val="C0272D"/>
            </a:solidFill>
            <a:prstDash val="dash"/>
            <a:tailEnd type="triangle"/>
          </a:ln>
        </p:spPr>
      </p:cxnSp>
      <p:sp>
        <p:nvSpPr>
          <p:cNvPr id="379" name="Text 171">
            <a:extLst>
              <a:ext uri="{FF2B5EF4-FFF2-40B4-BE49-F238E27FC236}">
                <a16:creationId xmlns:a16="http://schemas.microsoft.com/office/drawing/2014/main" id="{C738C139-AE96-4A7C-9F5D-EBB2D9432F8D}"/>
              </a:ext>
            </a:extLst>
          </p:cNvPr>
          <p:cNvSpPr txBox="1"/>
          <p:nvPr/>
        </p:nvSpPr>
        <p:spPr>
          <a:xfrm>
            <a:off x="29995" y="2789615"/>
            <a:ext cx="544124" cy="1574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r>
              <a:rPr lang="en-US" altLang="ko-KR" dirty="0"/>
              <a:t>NMS</a:t>
            </a:r>
            <a:r>
              <a:rPr lang="ko-KR" altLang="en-US" dirty="0"/>
              <a:t>운용망</a:t>
            </a:r>
            <a:endParaRPr lang="en-US" dirty="0"/>
          </a:p>
        </p:txBody>
      </p:sp>
      <p:sp>
        <p:nvSpPr>
          <p:cNvPr id="380" name="Text 171">
            <a:extLst>
              <a:ext uri="{FF2B5EF4-FFF2-40B4-BE49-F238E27FC236}">
                <a16:creationId xmlns:a16="http://schemas.microsoft.com/office/drawing/2014/main" id="{15975D00-218B-4BF7-865D-0DA95BE3E8CE}"/>
              </a:ext>
            </a:extLst>
          </p:cNvPr>
          <p:cNvSpPr txBox="1"/>
          <p:nvPr/>
        </p:nvSpPr>
        <p:spPr>
          <a:xfrm>
            <a:off x="6476315" y="1237449"/>
            <a:ext cx="544124" cy="1574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r>
              <a:rPr lang="en-US" altLang="ko-KR" dirty="0"/>
              <a:t>NMS</a:t>
            </a:r>
            <a:r>
              <a:rPr lang="ko-KR" altLang="en-US" dirty="0"/>
              <a:t>운용망</a:t>
            </a:r>
            <a:endParaRPr lang="en-US" dirty="0"/>
          </a:p>
        </p:txBody>
      </p:sp>
      <p:sp>
        <p:nvSpPr>
          <p:cNvPr id="381" name="Shape 142">
            <a:extLst>
              <a:ext uri="{FF2B5EF4-FFF2-40B4-BE49-F238E27FC236}">
                <a16:creationId xmlns:a16="http://schemas.microsoft.com/office/drawing/2014/main" id="{655C7F5F-2C09-4DF4-A92E-27BE87909BDB}"/>
              </a:ext>
            </a:extLst>
          </p:cNvPr>
          <p:cNvSpPr/>
          <p:nvPr/>
        </p:nvSpPr>
        <p:spPr>
          <a:xfrm>
            <a:off x="5248401" y="2679170"/>
            <a:ext cx="0" cy="1091572"/>
          </a:xfrm>
          <a:prstGeom prst="line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sp>
      <p:cxnSp>
        <p:nvCxnSpPr>
          <p:cNvPr id="383" name="연결선: 꺾임 382">
            <a:extLst>
              <a:ext uri="{FF2B5EF4-FFF2-40B4-BE49-F238E27FC236}">
                <a16:creationId xmlns:a16="http://schemas.microsoft.com/office/drawing/2014/main" id="{D94B3F01-C454-4434-8259-4152B38977A5}"/>
              </a:ext>
            </a:extLst>
          </p:cNvPr>
          <p:cNvCxnSpPr>
            <a:cxnSpLocks/>
            <a:stCxn id="307" idx="1"/>
            <a:endCxn id="28" idx="0"/>
          </p:cNvCxnSpPr>
          <p:nvPr/>
        </p:nvCxnSpPr>
        <p:spPr>
          <a:xfrm rot="10800000" flipV="1">
            <a:off x="2669761" y="3958576"/>
            <a:ext cx="1266891" cy="532264"/>
          </a:xfrm>
          <a:prstGeom prst="bentConnector2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cxnSp>
        <p:nvCxnSpPr>
          <p:cNvPr id="386" name="연결선: 꺾임 385">
            <a:extLst>
              <a:ext uri="{FF2B5EF4-FFF2-40B4-BE49-F238E27FC236}">
                <a16:creationId xmlns:a16="http://schemas.microsoft.com/office/drawing/2014/main" id="{5297A876-65A3-4DFD-97E2-A83B7F520D96}"/>
              </a:ext>
            </a:extLst>
          </p:cNvPr>
          <p:cNvCxnSpPr>
            <a:cxnSpLocks/>
            <a:endCxn id="263" idx="0"/>
          </p:cNvCxnSpPr>
          <p:nvPr/>
        </p:nvCxnSpPr>
        <p:spPr>
          <a:xfrm>
            <a:off x="8036758" y="4122898"/>
            <a:ext cx="551415" cy="390322"/>
          </a:xfrm>
          <a:prstGeom prst="bentConnector2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cxnSp>
        <p:nvCxnSpPr>
          <p:cNvPr id="390" name="연결선: 꺾임 389">
            <a:extLst>
              <a:ext uri="{FF2B5EF4-FFF2-40B4-BE49-F238E27FC236}">
                <a16:creationId xmlns:a16="http://schemas.microsoft.com/office/drawing/2014/main" id="{C50E20BF-5E0B-4C3D-9109-3F480A1D0B65}"/>
              </a:ext>
            </a:extLst>
          </p:cNvPr>
          <p:cNvCxnSpPr>
            <a:cxnSpLocks/>
            <a:endCxn id="299" idx="1"/>
          </p:cNvCxnSpPr>
          <p:nvPr/>
        </p:nvCxnSpPr>
        <p:spPr>
          <a:xfrm rot="16200000" flipH="1">
            <a:off x="6371880" y="4679386"/>
            <a:ext cx="2408004" cy="1320753"/>
          </a:xfrm>
          <a:prstGeom prst="bentConnector2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cxnSp>
        <p:nvCxnSpPr>
          <p:cNvPr id="397" name="연결선: 꺾임 396">
            <a:extLst>
              <a:ext uri="{FF2B5EF4-FFF2-40B4-BE49-F238E27FC236}">
                <a16:creationId xmlns:a16="http://schemas.microsoft.com/office/drawing/2014/main" id="{893BEDD3-E5D7-4F7B-9AC5-B245794A849D}"/>
              </a:ext>
            </a:extLst>
          </p:cNvPr>
          <p:cNvCxnSpPr>
            <a:cxnSpLocks/>
            <a:stCxn id="307" idx="1"/>
            <a:endCxn id="231" idx="1"/>
          </p:cNvCxnSpPr>
          <p:nvPr/>
        </p:nvCxnSpPr>
        <p:spPr>
          <a:xfrm rot="10800000" flipV="1">
            <a:off x="2317847" y="3958575"/>
            <a:ext cx="1618805" cy="2562809"/>
          </a:xfrm>
          <a:prstGeom prst="bentConnector3">
            <a:avLst>
              <a:gd name="adj1" fmla="val 170608"/>
            </a:avLst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sp>
        <p:nvSpPr>
          <p:cNvPr id="409" name="Text 171">
            <a:extLst>
              <a:ext uri="{FF2B5EF4-FFF2-40B4-BE49-F238E27FC236}">
                <a16:creationId xmlns:a16="http://schemas.microsoft.com/office/drawing/2014/main" id="{71BC0618-9F6F-4686-8BFC-0F23F8A3E898}"/>
              </a:ext>
            </a:extLst>
          </p:cNvPr>
          <p:cNvSpPr txBox="1"/>
          <p:nvPr/>
        </p:nvSpPr>
        <p:spPr>
          <a:xfrm>
            <a:off x="556358" y="5714599"/>
            <a:ext cx="544124" cy="2234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H/W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제어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0" name="Text 171">
            <a:extLst>
              <a:ext uri="{FF2B5EF4-FFF2-40B4-BE49-F238E27FC236}">
                <a16:creationId xmlns:a16="http://schemas.microsoft.com/office/drawing/2014/main" id="{F73C038F-F0D8-4FF4-B6DC-5AEC9CACA7D9}"/>
              </a:ext>
            </a:extLst>
          </p:cNvPr>
          <p:cNvSpPr txBox="1"/>
          <p:nvPr/>
        </p:nvSpPr>
        <p:spPr>
          <a:xfrm>
            <a:off x="2925431" y="4064723"/>
            <a:ext cx="1237878" cy="23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Cluster API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접속 제어 (Bastion 경유)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1" name="Text 205">
            <a:extLst>
              <a:ext uri="{FF2B5EF4-FFF2-40B4-BE49-F238E27FC236}">
                <a16:creationId xmlns:a16="http://schemas.microsoft.com/office/drawing/2014/main" id="{8F8318CD-26A2-41C9-91FA-7056F8C7BBFA}"/>
              </a:ext>
            </a:extLst>
          </p:cNvPr>
          <p:cNvSpPr txBox="1"/>
          <p:nvPr/>
        </p:nvSpPr>
        <p:spPr>
          <a:xfrm flipH="1">
            <a:off x="4834815" y="3514027"/>
            <a:ext cx="1052417" cy="2220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6D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RHAAP 제어 트래픽</a:t>
            </a:r>
            <a:endParaRPr lang="en-US" sz="800" dirty="0"/>
          </a:p>
        </p:txBody>
      </p:sp>
      <p:sp>
        <p:nvSpPr>
          <p:cNvPr id="412" name="Text 171">
            <a:extLst>
              <a:ext uri="{FF2B5EF4-FFF2-40B4-BE49-F238E27FC236}">
                <a16:creationId xmlns:a16="http://schemas.microsoft.com/office/drawing/2014/main" id="{CE64F810-BC6F-41E0-A5DD-AAB578FFE17F}"/>
              </a:ext>
            </a:extLst>
          </p:cNvPr>
          <p:cNvSpPr txBox="1"/>
          <p:nvPr/>
        </p:nvSpPr>
        <p:spPr>
          <a:xfrm>
            <a:off x="8597122" y="4100770"/>
            <a:ext cx="1817334" cy="23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Cluster API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접속 제어 (Bastion 경유)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3" name="Text 171">
            <a:extLst>
              <a:ext uri="{FF2B5EF4-FFF2-40B4-BE49-F238E27FC236}">
                <a16:creationId xmlns:a16="http://schemas.microsoft.com/office/drawing/2014/main" id="{C1E968BE-A64A-4A50-A4D5-ECB9A74AAE00}"/>
              </a:ext>
            </a:extLst>
          </p:cNvPr>
          <p:cNvSpPr txBox="1"/>
          <p:nvPr/>
        </p:nvSpPr>
        <p:spPr>
          <a:xfrm>
            <a:off x="6340795" y="5751564"/>
            <a:ext cx="544124" cy="2234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H/W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제어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7" name="Text 206">
            <a:extLst>
              <a:ext uri="{FF2B5EF4-FFF2-40B4-BE49-F238E27FC236}">
                <a16:creationId xmlns:a16="http://schemas.microsoft.com/office/drawing/2014/main" id="{EF62B0C2-B4BD-49AC-AEEB-867B9A88EC21}"/>
              </a:ext>
            </a:extLst>
          </p:cNvPr>
          <p:cNvSpPr txBox="1"/>
          <p:nvPr/>
        </p:nvSpPr>
        <p:spPr>
          <a:xfrm rot="5400000">
            <a:off x="4633601" y="4696907"/>
            <a:ext cx="1120489" cy="26901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  <a:highlight>
                  <a:srgbClr val="FFFF00"/>
                </a:highlight>
              </a:rPr>
              <a:t>Container Image Download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  <a:highlight>
                  <a:srgbClr val="FFFF00"/>
                </a:highlight>
              </a:rPr>
              <a:t>Kafka Ingress</a:t>
            </a:r>
            <a:r>
              <a:rPr lang="ko-KR" altLang="en-US" sz="800" dirty="0">
                <a:solidFill>
                  <a:srgbClr val="7030A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800" dirty="0">
                <a:solidFill>
                  <a:srgbClr val="7030A0"/>
                </a:solidFill>
                <a:highlight>
                  <a:srgbClr val="FFFF00"/>
                </a:highlight>
              </a:rPr>
              <a:t>LB</a:t>
            </a:r>
            <a:r>
              <a:rPr lang="ko-KR" altLang="en-US" sz="800" dirty="0">
                <a:solidFill>
                  <a:srgbClr val="7030A0"/>
                </a:solidFill>
                <a:highlight>
                  <a:srgbClr val="FFFF00"/>
                </a:highlight>
              </a:rPr>
              <a:t> 연동</a:t>
            </a:r>
            <a:endParaRPr lang="en-US" sz="800" dirty="0">
              <a:solidFill>
                <a:srgbClr val="7030A0"/>
              </a:solidFill>
              <a:highlight>
                <a:srgbClr val="FFFF00"/>
              </a:highlight>
            </a:endParaRPr>
          </a:p>
        </p:txBody>
      </p:sp>
      <p:sp>
        <p:nvSpPr>
          <p:cNvPr id="418" name="Text 206">
            <a:extLst>
              <a:ext uri="{FF2B5EF4-FFF2-40B4-BE49-F238E27FC236}">
                <a16:creationId xmlns:a16="http://schemas.microsoft.com/office/drawing/2014/main" id="{01557BA3-FE21-4050-B38B-150F05898694}"/>
              </a:ext>
            </a:extLst>
          </p:cNvPr>
          <p:cNvSpPr txBox="1"/>
          <p:nvPr/>
        </p:nvSpPr>
        <p:spPr>
          <a:xfrm rot="16200000">
            <a:off x="6895229" y="4725555"/>
            <a:ext cx="1120489" cy="26901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  <a:highlight>
                  <a:srgbClr val="FFFF00"/>
                </a:highlight>
              </a:rPr>
              <a:t>Container Image Download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  <a:highlight>
                  <a:srgbClr val="FFFF00"/>
                </a:highlight>
              </a:rPr>
              <a:t>Kafka Ingress</a:t>
            </a:r>
            <a:r>
              <a:rPr lang="ko-KR" altLang="en-US" sz="800" dirty="0">
                <a:solidFill>
                  <a:srgbClr val="7030A0"/>
                </a:solidFill>
                <a:highlight>
                  <a:srgbClr val="FFFF00"/>
                </a:highlight>
              </a:rPr>
              <a:t> </a:t>
            </a:r>
            <a:r>
              <a:rPr lang="en-US" altLang="ko-KR" sz="800" dirty="0">
                <a:solidFill>
                  <a:srgbClr val="7030A0"/>
                </a:solidFill>
                <a:highlight>
                  <a:srgbClr val="FFFF00"/>
                </a:highlight>
              </a:rPr>
              <a:t>LB</a:t>
            </a:r>
            <a:r>
              <a:rPr lang="ko-KR" altLang="en-US" sz="800" dirty="0">
                <a:solidFill>
                  <a:srgbClr val="7030A0"/>
                </a:solidFill>
                <a:highlight>
                  <a:srgbClr val="FFFF00"/>
                </a:highlight>
              </a:rPr>
              <a:t> 연동</a:t>
            </a:r>
            <a:endParaRPr lang="en-US" sz="800" dirty="0">
              <a:solidFill>
                <a:srgbClr val="7030A0"/>
              </a:solidFill>
              <a:highlight>
                <a:srgbClr val="FFFF00"/>
              </a:highlight>
            </a:endParaRPr>
          </a:p>
        </p:txBody>
      </p:sp>
      <p:sp>
        <p:nvSpPr>
          <p:cNvPr id="419" name="Text 206">
            <a:extLst>
              <a:ext uri="{FF2B5EF4-FFF2-40B4-BE49-F238E27FC236}">
                <a16:creationId xmlns:a16="http://schemas.microsoft.com/office/drawing/2014/main" id="{8FD947F9-C88C-4019-B76F-AAB1A24A612F}"/>
              </a:ext>
            </a:extLst>
          </p:cNvPr>
          <p:cNvSpPr txBox="1"/>
          <p:nvPr/>
        </p:nvSpPr>
        <p:spPr>
          <a:xfrm rot="5400000">
            <a:off x="6967937" y="3187149"/>
            <a:ext cx="1120489" cy="269014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Container Image Download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Kafka Ingress</a:t>
            </a:r>
            <a:r>
              <a:rPr lang="ko-KR" altLang="en-US" sz="800" dirty="0">
                <a:solidFill>
                  <a:srgbClr val="7030A0"/>
                </a:solidFill>
              </a:rPr>
              <a:t> </a:t>
            </a:r>
            <a:r>
              <a:rPr lang="en-US" altLang="ko-KR" sz="800" dirty="0">
                <a:solidFill>
                  <a:srgbClr val="7030A0"/>
                </a:solidFill>
              </a:rPr>
              <a:t>LB</a:t>
            </a:r>
            <a:r>
              <a:rPr lang="ko-KR" altLang="en-US" sz="800" dirty="0">
                <a:solidFill>
                  <a:srgbClr val="7030A0"/>
                </a:solidFill>
              </a:rPr>
              <a:t> 연동</a:t>
            </a:r>
            <a:endParaRPr lang="en-US" sz="800" dirty="0">
              <a:solidFill>
                <a:srgbClr val="7030A0"/>
              </a:solidFill>
            </a:endParaRP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077C39BD-2EE3-43C3-A869-9C7331283646}"/>
              </a:ext>
            </a:extLst>
          </p:cNvPr>
          <p:cNvCxnSpPr>
            <a:endCxn id="21" idx="1"/>
          </p:cNvCxnSpPr>
          <p:nvPr/>
        </p:nvCxnSpPr>
        <p:spPr>
          <a:xfrm rot="10800000" flipV="1">
            <a:off x="2509724" y="2450950"/>
            <a:ext cx="1957904" cy="841615"/>
          </a:xfrm>
          <a:prstGeom prst="bentConnector3">
            <a:avLst>
              <a:gd name="adj1" fmla="val 137150"/>
            </a:avLst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sp>
        <p:nvSpPr>
          <p:cNvPr id="192" name="Shape 65">
            <a:extLst>
              <a:ext uri="{FF2B5EF4-FFF2-40B4-BE49-F238E27FC236}">
                <a16:creationId xmlns:a16="http://schemas.microsoft.com/office/drawing/2014/main" id="{B41DA70B-218D-422A-B7FD-F5F98F2A8AA0}"/>
              </a:ext>
            </a:extLst>
          </p:cNvPr>
          <p:cNvSpPr/>
          <p:nvPr/>
        </p:nvSpPr>
        <p:spPr>
          <a:xfrm>
            <a:off x="4834815" y="5292309"/>
            <a:ext cx="0" cy="668021"/>
          </a:xfrm>
          <a:prstGeom prst="line">
            <a:avLst/>
          </a:prstGeom>
          <a:noFill/>
          <a:ln w="8798">
            <a:solidFill>
              <a:srgbClr val="0F6E56"/>
            </a:solidFill>
            <a:prstDash val="solid"/>
            <a:headEnd type="oval" w="sm" len="sm"/>
            <a:tailEnd type="oval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5" name="Shape 65">
            <a:extLst>
              <a:ext uri="{FF2B5EF4-FFF2-40B4-BE49-F238E27FC236}">
                <a16:creationId xmlns:a16="http://schemas.microsoft.com/office/drawing/2014/main" id="{F0479B8C-AE1C-425D-A46F-19DC7BC9C944}"/>
              </a:ext>
            </a:extLst>
          </p:cNvPr>
          <p:cNvSpPr/>
          <p:nvPr/>
        </p:nvSpPr>
        <p:spPr>
          <a:xfrm>
            <a:off x="10581523" y="5303546"/>
            <a:ext cx="0" cy="708801"/>
          </a:xfrm>
          <a:prstGeom prst="line">
            <a:avLst/>
          </a:prstGeom>
          <a:noFill/>
          <a:ln w="8798">
            <a:solidFill>
              <a:srgbClr val="0F6E56"/>
            </a:solidFill>
            <a:prstDash val="solid"/>
            <a:headEnd type="oval" w="sm" len="sm"/>
            <a:tailEnd type="oval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00" name="Legend Box"/>
          <p:cNvSpPr/>
          <p:nvPr/>
        </p:nvSpPr>
        <p:spPr>
          <a:xfrm>
            <a:off x="9842833" y="825921"/>
            <a:ext cx="2220535" cy="2120000"/>
          </a:xfrm>
          <a:prstGeom prst="roundRect">
            <a:avLst>
              <a:gd name="adj" fmla="val 6000"/>
            </a:avLst>
          </a:prstGeom>
          <a:solidFill>
            <a:srgbClr val="FBFBFB"/>
          </a:solidFill>
          <a:ln w="9525">
            <a:solidFill>
              <a:srgbClr val="9999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1" name="Legend Title"/>
          <p:cNvSpPr txBox="1"/>
          <p:nvPr/>
        </p:nvSpPr>
        <p:spPr>
          <a:xfrm>
            <a:off x="9932833" y="895921"/>
            <a:ext cx="2063791" cy="2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ko-KR" sz="1100" b="1" dirty="0">
                <a:solidFill>
                  <a:srgbClr val="1B2A4A"/>
                </a:solidFill>
                <a:latin typeface="Malgun Gothic" pitchFamily="34" charset="-127"/>
                <a:ea typeface="Malgun Gothic" pitchFamily="34" charset="-127"/>
              </a:rPr>
              <a:t>범례 (Legend)</a:t>
            </a:r>
          </a:p>
        </p:txBody>
      </p:sp>
      <p:sp>
        <p:nvSpPr>
          <p:cNvPr id="502" name="Legend Row 1"/>
          <p:cNvSpPr txBox="1"/>
          <p:nvPr/>
        </p:nvSpPr>
        <p:spPr>
          <a:xfrm>
            <a:off x="9932833" y="1145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6FB2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Machine Network</a:t>
            </a:r>
          </a:p>
        </p:txBody>
      </p:sp>
      <p:sp>
        <p:nvSpPr>
          <p:cNvPr id="503" name="Legend Row 2"/>
          <p:cNvSpPr txBox="1"/>
          <p:nvPr/>
        </p:nvSpPr>
        <p:spPr>
          <a:xfrm>
            <a:off x="9932833" y="1340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F6E56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Storage Network</a:t>
            </a:r>
          </a:p>
        </p:txBody>
      </p:sp>
      <p:sp>
        <p:nvSpPr>
          <p:cNvPr id="504" name="Legend Row 3"/>
          <p:cNvSpPr txBox="1"/>
          <p:nvPr/>
        </p:nvSpPr>
        <p:spPr>
          <a:xfrm>
            <a:off x="9932833" y="1535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BA7517"/>
                </a:solidFill>
                <a:latin typeface="Malgun Gothic" pitchFamily="34" charset="-127"/>
              </a:rPr>
              <a:t>┄┄┄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OOB / Local MGMT (iLO·iDRAC)</a:t>
            </a:r>
          </a:p>
        </p:txBody>
      </p:sp>
      <p:sp>
        <p:nvSpPr>
          <p:cNvPr id="505" name="Legend Row 4"/>
          <p:cNvSpPr txBox="1"/>
          <p:nvPr/>
        </p:nvSpPr>
        <p:spPr>
          <a:xfrm>
            <a:off x="9932833" y="1730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3B6D11"/>
                </a:solidFill>
                <a:latin typeface="Malgun Gothic" pitchFamily="34" charset="-127"/>
              </a:rPr>
              <a:t>┄┄┄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AAP 제어 트래픽 (L3 Routing)</a:t>
            </a:r>
          </a:p>
        </p:txBody>
      </p:sp>
      <p:sp>
        <p:nvSpPr>
          <p:cNvPr id="506" name="Legend Row 5"/>
          <p:cNvSpPr txBox="1"/>
          <p:nvPr/>
        </p:nvSpPr>
        <p:spPr>
          <a:xfrm>
            <a:off x="9932833" y="1925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7030A0"/>
                </a:solidFill>
                <a:highlight>
                  <a:srgbClr val="FFFF00"/>
                </a:highlight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highlight>
                  <a:srgbClr val="FFFF00"/>
                </a:highlight>
                <a:latin typeface="Malgun Gothic" pitchFamily="34" charset="-127"/>
                <a:ea typeface="Malgun Gothic" pitchFamily="34" charset="-127"/>
              </a:rPr>
              <a:t>Container Image·Kafka 연동</a:t>
            </a:r>
          </a:p>
        </p:txBody>
      </p:sp>
      <p:sp>
        <p:nvSpPr>
          <p:cNvPr id="507" name="Legend Row 6"/>
          <p:cNvSpPr txBox="1"/>
          <p:nvPr/>
        </p:nvSpPr>
        <p:spPr>
          <a:xfrm>
            <a:off x="9932833" y="2120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Malgun Gothic" pitchFamily="34" charset="-127"/>
              </a:rPr>
              <a:t>┄┄┄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VPN·NMS 운용망 (운영팀 접속)</a:t>
            </a:r>
          </a:p>
        </p:txBody>
      </p:sp>
      <p:sp>
        <p:nvSpPr>
          <p:cNvPr id="508" name="Legend Row 7"/>
          <p:cNvSpPr txBox="1"/>
          <p:nvPr/>
        </p:nvSpPr>
        <p:spPr>
          <a:xfrm>
            <a:off x="9932833" y="2315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FF0066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External Storage 전용망</a:t>
            </a:r>
          </a:p>
        </p:txBody>
      </p:sp>
      <p:sp>
        <p:nvSpPr>
          <p:cNvPr id="700" name="Local Hop B to Master"/>
          <p:cNvSpPr/>
          <p:nvPr/>
        </p:nvSpPr>
        <p:spPr>
          <a:xfrm>
            <a:off x="3021674" y="4634485"/>
            <a:ext cx="140766" cy="0"/>
          </a:xfrm>
          <a:prstGeom prst="line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triangle"/>
          </a:ln>
        </p:spPr>
        <p:txBody>
          <a:bodyPr/>
          <a:lstStyle/>
          <a:p>
            <a:endParaRPr lang="ko-KR" dirty="0"/>
          </a:p>
        </p:txBody>
      </p:sp>
      <p:sp>
        <p:nvSpPr>
          <p:cNvPr id="701" name="Local Hop C to Master"/>
          <p:cNvSpPr/>
          <p:nvPr/>
        </p:nvSpPr>
        <p:spPr>
          <a:xfrm>
            <a:off x="8940087" y="4656865"/>
            <a:ext cx="140766" cy="0"/>
          </a:xfrm>
          <a:prstGeom prst="line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triangle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02" name="Legend Row 9"/>
          <p:cNvSpPr txBox="1"/>
          <p:nvPr/>
        </p:nvSpPr>
        <p:spPr>
          <a:xfrm>
            <a:off x="9932833" y="2487438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444444"/>
                </a:solidFill>
                <a:latin typeface="Malgun Gothic" pitchFamily="34" charset="-127"/>
              </a:rPr>
              <a:t>───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Bastion→Master 로컬 실행 (SSH/oc)</a:t>
            </a:r>
          </a:p>
        </p:txBody>
      </p:sp>
      <p:sp>
        <p:nvSpPr>
          <p:cNvPr id="196" name="Text 201">
            <a:extLst>
              <a:ext uri="{FF2B5EF4-FFF2-40B4-BE49-F238E27FC236}">
                <a16:creationId xmlns:a16="http://schemas.microsoft.com/office/drawing/2014/main" id="{65236988-063B-4FD9-B2D9-EFBEB74DA3DE}"/>
              </a:ext>
            </a:extLst>
          </p:cNvPr>
          <p:cNvSpPr txBox="1"/>
          <p:nvPr/>
        </p:nvSpPr>
        <p:spPr>
          <a:xfrm>
            <a:off x="6062155" y="2904712"/>
            <a:ext cx="1132783" cy="917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172.30.1.20:9092</a:t>
            </a:r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2010" name="Legend Row 10"/>
          <p:cNvSpPr txBox="1"/>
          <p:nvPr/>
        </p:nvSpPr>
        <p:spPr>
          <a:xfrm>
            <a:off x="9932833" y="2682438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283593"/>
                </a:solidFill>
                <a:highlight>
                  <a:srgbClr val="FFFF00"/>
                </a:highlight>
                <a:latin typeface="Malgun Gothic" pitchFamily="34" charset="-127"/>
              </a:rPr>
              <a:t>┄┄┄ </a:t>
            </a:r>
            <a:r>
              <a:rPr lang="ko-KR" sz="800" dirty="0">
                <a:solidFill>
                  <a:srgbClr val="333333"/>
                </a:solidFill>
                <a:highlight>
                  <a:srgbClr val="FFFF00"/>
                </a:highlight>
                <a:latin typeface="Malgun Gothic" pitchFamily="34" charset="-127"/>
                <a:ea typeface="Malgun Gothic" pitchFamily="34" charset="-127"/>
              </a:rPr>
              <a:t>HW Alarm Relay (Bastion→Kafka Ingress)</a:t>
            </a:r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F2D98863-028F-4C7D-8E2E-0107C2D81CA6}"/>
              </a:ext>
            </a:extLst>
          </p:cNvPr>
          <p:cNvSpPr/>
          <p:nvPr/>
        </p:nvSpPr>
        <p:spPr>
          <a:xfrm>
            <a:off x="1498417" y="4727719"/>
            <a:ext cx="979755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ko-KR" sz="900" b="1" dirty="0"/>
              <a:t>Kafka Connector</a:t>
            </a:r>
          </a:p>
          <a:p>
            <a:r>
              <a:rPr lang="en-US" altLang="ko-KR" sz="900" b="1" dirty="0"/>
              <a:t>(SNMP to Kafka)</a:t>
            </a:r>
            <a:endParaRPr lang="ko-KR" altLang="en-US" sz="900" dirty="0"/>
          </a:p>
        </p:txBody>
      </p:sp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AFCE40CA-2685-4EB7-8A9F-1EE06F7A3C42}"/>
              </a:ext>
            </a:extLst>
          </p:cNvPr>
          <p:cNvSpPr/>
          <p:nvPr/>
        </p:nvSpPr>
        <p:spPr>
          <a:xfrm>
            <a:off x="7708510" y="4776479"/>
            <a:ext cx="979755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altLang="ko-KR" sz="900" b="1" dirty="0"/>
              <a:t>Kafka Connector</a:t>
            </a:r>
          </a:p>
          <a:p>
            <a:r>
              <a:rPr lang="en-US" altLang="ko-KR" sz="900" b="1" dirty="0"/>
              <a:t>(SNMP to Kafka)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97859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361880" y="1367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1B2A4A"/>
                </a:solidFill>
              </a:rPr>
              <a:t>Cluster A/B/C 소프트웨어 Alarm 수집 및 보고 경로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489823" y="61859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555555"/>
                </a:solidFill>
              </a:rPr>
              <a:t>OCP Cluster Monitoring(Prometheus/Alertmanager) + CNF FM Alarm(AMF/SMF/UPF) </a:t>
            </a:r>
            <a:r>
              <a:rPr lang="en-US" altLang="ko-KR" sz="1050" b="1" dirty="0">
                <a:solidFill>
                  <a:srgbClr val="555555"/>
                </a:solidFill>
              </a:rPr>
              <a:t>at worker</a:t>
            </a:r>
            <a:r>
              <a:rPr lang="ko-KR" altLang="en-US" sz="1050" b="1" dirty="0">
                <a:solidFill>
                  <a:srgbClr val="555555"/>
                </a:solidFill>
              </a:rPr>
              <a:t> → </a:t>
            </a:r>
            <a:r>
              <a:rPr lang="ko-KR" altLang="en-US" sz="1050" b="1" dirty="0">
                <a:solidFill>
                  <a:srgbClr val="555555"/>
                </a:solidFill>
                <a:highlight>
                  <a:srgbClr val="FFFF00"/>
                </a:highlight>
              </a:rPr>
              <a:t>Kafka Ingress LB </a:t>
            </a:r>
            <a:r>
              <a:rPr lang="ko-KR" altLang="en-US" sz="1050" b="1" dirty="0">
                <a:solidFill>
                  <a:srgbClr val="555555"/>
                </a:solidFill>
              </a:rPr>
              <a:t>→ </a:t>
            </a:r>
            <a:r>
              <a:rPr lang="ko-KR" altLang="en-US" sz="1050" b="1" dirty="0">
                <a:solidFill>
                  <a:srgbClr val="555555"/>
                </a:solidFill>
                <a:highlight>
                  <a:srgbClr val="FFFF00"/>
                </a:highlight>
              </a:rPr>
              <a:t>Kafka Cluster(Cluster A) </a:t>
            </a:r>
            <a:r>
              <a:rPr lang="ko-KR" altLang="en-US" sz="1050" b="1" dirty="0">
                <a:solidFill>
                  <a:srgbClr val="555555"/>
                </a:solidFill>
              </a:rPr>
              <a:t>→ NOC  (Worker 노드에서 직접 전송 , Machine Network 직접 라우팅, Bastion 비경유)</a:t>
            </a:r>
          </a:p>
        </p:txBody>
      </p:sp>
      <p:sp>
        <p:nvSpPr>
          <p:cNvPr id="6" name="Shape 4"/>
          <p:cNvSpPr/>
          <p:nvPr/>
        </p:nvSpPr>
        <p:spPr>
          <a:xfrm>
            <a:off x="51599" y="1739224"/>
            <a:ext cx="1055743" cy="687146"/>
          </a:xfrm>
          <a:prstGeom prst="roundRect">
            <a:avLst>
              <a:gd name="adj" fmla="val 9231"/>
            </a:avLst>
          </a:prstGeom>
          <a:solidFill>
            <a:srgbClr val="FDEDEE"/>
          </a:solidFill>
          <a:ln w="7332">
            <a:solidFill>
              <a:srgbClr val="C027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36290" y="984838"/>
            <a:ext cx="1794762" cy="359111"/>
          </a:xfrm>
          <a:prstGeom prst="roundRect">
            <a:avLst>
              <a:gd name="adj" fmla="val 9231"/>
            </a:avLst>
          </a:prstGeom>
          <a:solidFill>
            <a:srgbClr val="FDEDEE"/>
          </a:solidFill>
          <a:ln w="7332">
            <a:solidFill>
              <a:srgbClr val="C027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82726" y="1775948"/>
            <a:ext cx="5964945" cy="1737543"/>
          </a:xfrm>
          <a:prstGeom prst="roundRect">
            <a:avLst>
              <a:gd name="adj" fmla="val 1835"/>
            </a:avLst>
          </a:prstGeom>
          <a:solidFill>
            <a:srgbClr val="EEF2F8"/>
          </a:solidFill>
          <a:ln w="10753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59" y="1941824"/>
            <a:ext cx="760135" cy="280141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49285" y="1941825"/>
            <a:ext cx="739020" cy="290792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39150" y="1916714"/>
            <a:ext cx="1154416" cy="33035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82452" y="1916714"/>
            <a:ext cx="935957" cy="305252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44728" y="1916714"/>
            <a:ext cx="860323" cy="298281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65357" y="2253758"/>
            <a:ext cx="1028696" cy="420443"/>
          </a:xfrm>
          <a:prstGeom prst="roundRect">
            <a:avLst>
              <a:gd name="adj" fmla="val 15000"/>
            </a:avLst>
          </a:prstGeom>
          <a:solidFill>
            <a:srgbClr val="F5F0E8"/>
          </a:solidFill>
          <a:ln w="7332">
            <a:solidFill>
              <a:srgbClr val="854F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09724" y="3150216"/>
            <a:ext cx="4753737" cy="284699"/>
          </a:xfrm>
          <a:prstGeom prst="roundRect">
            <a:avLst>
              <a:gd name="adj" fmla="val 13333"/>
            </a:avLst>
          </a:prstGeom>
          <a:solidFill>
            <a:srgbClr val="FFF4E8"/>
          </a:solidFill>
          <a:ln w="7332">
            <a:solidFill>
              <a:srgbClr val="BA7517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005800" y="1485343"/>
            <a:ext cx="1055743" cy="215715"/>
          </a:xfrm>
          <a:prstGeom prst="roundRect">
            <a:avLst>
              <a:gd name="adj" fmla="val 22222"/>
            </a:avLst>
          </a:prstGeom>
          <a:solidFill>
            <a:srgbClr val="FDEDEE"/>
          </a:solidFill>
          <a:ln w="7332">
            <a:solidFill>
              <a:srgbClr val="C027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68137" y="4332479"/>
            <a:ext cx="3640178" cy="2357825"/>
          </a:xfrm>
          <a:prstGeom prst="roundRect">
            <a:avLst>
              <a:gd name="adj" fmla="val 1250"/>
            </a:avLst>
          </a:prstGeom>
          <a:solidFill>
            <a:srgbClr val="EAF6F2"/>
          </a:solidFill>
          <a:ln w="10753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" name="Shape 26"/>
          <p:cNvSpPr/>
          <p:nvPr/>
        </p:nvSpPr>
        <p:spPr>
          <a:xfrm>
            <a:off x="2317846" y="4490840"/>
            <a:ext cx="703828" cy="287289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62440" y="4493992"/>
            <a:ext cx="774211" cy="284137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77417" y="4493992"/>
            <a:ext cx="774211" cy="2783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95167" y="5546583"/>
            <a:ext cx="35191" cy="35191"/>
          </a:xfrm>
          <a:prstGeom prst="ellipse">
            <a:avLst/>
          </a:prstGeom>
          <a:solidFill>
            <a:srgbClr val="E24B4A"/>
          </a:solidFill>
          <a:ln w="3175">
            <a:solidFill>
              <a:srgbClr val="E24B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95167" y="5828115"/>
            <a:ext cx="35191" cy="35191"/>
          </a:xfrm>
          <a:prstGeom prst="ellipse">
            <a:avLst/>
          </a:prstGeom>
          <a:solidFill>
            <a:srgbClr val="7F77DD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17846" y="6398074"/>
            <a:ext cx="2533782" cy="168919"/>
          </a:xfrm>
          <a:prstGeom prst="roundRect">
            <a:avLst>
              <a:gd name="adj" fmla="val 12500"/>
            </a:avLst>
          </a:prstGeom>
          <a:solidFill>
            <a:srgbClr val="FFF4E8"/>
          </a:solidFill>
          <a:ln w="7332">
            <a:solidFill>
              <a:srgbClr val="BA7517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2844041" y="2235508"/>
            <a:ext cx="0" cy="63284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6" name="Shape 64"/>
          <p:cNvSpPr/>
          <p:nvPr/>
        </p:nvSpPr>
        <p:spPr>
          <a:xfrm>
            <a:off x="2575154" y="2864923"/>
            <a:ext cx="4792585" cy="0"/>
          </a:xfrm>
          <a:prstGeom prst="line">
            <a:avLst/>
          </a:prstGeom>
          <a:noFill/>
          <a:ln w="11242">
            <a:solidFill>
              <a:srgbClr val="1F6FB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80105" y="3011419"/>
            <a:ext cx="4757393" cy="0"/>
          </a:xfrm>
          <a:prstGeom prst="line">
            <a:avLst/>
          </a:prstGeom>
          <a:noFill/>
          <a:ln w="11242">
            <a:solidFill>
              <a:srgbClr val="0F6E5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37943" y="2247067"/>
            <a:ext cx="0" cy="924284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7" name="Shape 95"/>
          <p:cNvSpPr/>
          <p:nvPr/>
        </p:nvSpPr>
        <p:spPr>
          <a:xfrm>
            <a:off x="2388228" y="5278680"/>
            <a:ext cx="2570573" cy="0"/>
          </a:xfrm>
          <a:prstGeom prst="line">
            <a:avLst/>
          </a:prstGeom>
          <a:noFill/>
          <a:ln w="11242">
            <a:solidFill>
              <a:srgbClr val="0E8FA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8" name="Shape 96"/>
          <p:cNvSpPr/>
          <p:nvPr/>
        </p:nvSpPr>
        <p:spPr>
          <a:xfrm>
            <a:off x="2388228" y="5564178"/>
            <a:ext cx="2160000" cy="0"/>
          </a:xfrm>
          <a:prstGeom prst="line">
            <a:avLst/>
          </a:prstGeom>
          <a:noFill/>
          <a:ln w="11242">
            <a:solidFill>
              <a:srgbClr val="E24B4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388228" y="5845710"/>
            <a:ext cx="2160000" cy="0"/>
          </a:xfrm>
          <a:prstGeom prst="line">
            <a:avLst/>
          </a:prstGeom>
          <a:noFill/>
          <a:ln w="11242">
            <a:solidFill>
              <a:srgbClr val="7F77D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H="1">
            <a:off x="4412762" y="4778129"/>
            <a:ext cx="0" cy="1606749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2" name="Shape 100"/>
          <p:cNvSpPr/>
          <p:nvPr/>
        </p:nvSpPr>
        <p:spPr>
          <a:xfrm>
            <a:off x="2388228" y="6139510"/>
            <a:ext cx="2357825" cy="0"/>
          </a:xfrm>
          <a:prstGeom prst="line">
            <a:avLst/>
          </a:prstGeom>
          <a:noFill/>
          <a:ln w="11242">
            <a:solidFill>
              <a:srgbClr val="0F6E5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2669758" y="4786095"/>
            <a:ext cx="0" cy="1589489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105" name="Shape 103"/>
          <p:cNvSpPr/>
          <p:nvPr/>
        </p:nvSpPr>
        <p:spPr>
          <a:xfrm>
            <a:off x="3438319" y="4800878"/>
            <a:ext cx="0" cy="1595613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106" name="Shape 104"/>
          <p:cNvSpPr/>
          <p:nvPr/>
        </p:nvSpPr>
        <p:spPr>
          <a:xfrm flipH="1">
            <a:off x="4182228" y="4800878"/>
            <a:ext cx="0" cy="1584000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2" name="Text 170"/>
          <p:cNvSpPr txBox="1"/>
          <p:nvPr/>
        </p:nvSpPr>
        <p:spPr>
          <a:xfrm>
            <a:off x="51599" y="1732186"/>
            <a:ext cx="1055743" cy="29149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VPN 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</a:t>
            </a:r>
            <a:endParaRPr lang="en-US" sz="800" dirty="0"/>
          </a:p>
        </p:txBody>
      </p:sp>
      <p:sp>
        <p:nvSpPr>
          <p:cNvPr id="173" name="Text 171"/>
          <p:cNvSpPr txBox="1"/>
          <p:nvPr/>
        </p:nvSpPr>
        <p:spPr>
          <a:xfrm>
            <a:off x="84362" y="1536465"/>
            <a:ext cx="1055743" cy="157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</a:t>
            </a:r>
            <a:endParaRPr lang="en-US" sz="800" dirty="0">
              <a:solidFill>
                <a:srgbClr val="55555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74" name="Text 172"/>
          <p:cNvSpPr txBox="1"/>
          <p:nvPr/>
        </p:nvSpPr>
        <p:spPr>
          <a:xfrm>
            <a:off x="5040991" y="1040921"/>
            <a:ext cx="985360" cy="11437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Operating Center (NOC)</a:t>
            </a:r>
            <a:endParaRPr lang="en-US" sz="800" dirty="0"/>
          </a:p>
        </p:txBody>
      </p:sp>
      <p:sp>
        <p:nvSpPr>
          <p:cNvPr id="175" name="Text 173"/>
          <p:cNvSpPr txBox="1"/>
          <p:nvPr/>
        </p:nvSpPr>
        <p:spPr>
          <a:xfrm>
            <a:off x="5040991" y="1172889"/>
            <a:ext cx="985360" cy="131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·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</a:t>
            </a:r>
            <a:endParaRPr lang="en-US" sz="800" dirty="0"/>
          </a:p>
        </p:txBody>
      </p:sp>
      <p:sp>
        <p:nvSpPr>
          <p:cNvPr id="176" name="Text 174"/>
          <p:cNvSpPr txBox="1"/>
          <p:nvPr/>
        </p:nvSpPr>
        <p:spPr>
          <a:xfrm>
            <a:off x="2418226" y="1811140"/>
            <a:ext cx="2181868" cy="1055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A — 관리용 특수목적 RHOCP (RHAAP + </a:t>
            </a:r>
            <a:r>
              <a:rPr lang="en-US" sz="900" b="1" dirty="0">
                <a:solidFill>
                  <a:srgbClr val="1B2A4A"/>
                </a:solidFill>
                <a:highlight>
                  <a:srgbClr val="FFFF0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</a:t>
            </a:r>
            <a:r>
              <a:rPr lang="en-US" sz="9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900" dirty="0"/>
          </a:p>
        </p:txBody>
      </p:sp>
      <p:sp>
        <p:nvSpPr>
          <p:cNvPr id="177" name="Text 175"/>
          <p:cNvSpPr txBox="1"/>
          <p:nvPr/>
        </p:nvSpPr>
        <p:spPr>
          <a:xfrm>
            <a:off x="2468908" y="1959913"/>
            <a:ext cx="668637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Bastion-A</a:t>
            </a:r>
            <a:endParaRPr lang="en-US" sz="800" dirty="0"/>
          </a:p>
        </p:txBody>
      </p:sp>
      <p:sp>
        <p:nvSpPr>
          <p:cNvPr id="178" name="Text 176"/>
          <p:cNvSpPr txBox="1"/>
          <p:nvPr/>
        </p:nvSpPr>
        <p:spPr>
          <a:xfrm>
            <a:off x="2468908" y="2062406"/>
            <a:ext cx="668637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 / 설치 CLI</a:t>
            </a:r>
            <a:endParaRPr lang="en-US" sz="800" dirty="0"/>
          </a:p>
        </p:txBody>
      </p:sp>
      <p:sp>
        <p:nvSpPr>
          <p:cNvPr id="179" name="Text 177"/>
          <p:cNvSpPr txBox="1"/>
          <p:nvPr/>
        </p:nvSpPr>
        <p:spPr>
          <a:xfrm>
            <a:off x="3370332" y="1959913"/>
            <a:ext cx="739020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Master-A ×3</a:t>
            </a:r>
            <a:endParaRPr lang="en-US" sz="800" dirty="0"/>
          </a:p>
        </p:txBody>
      </p:sp>
      <p:sp>
        <p:nvSpPr>
          <p:cNvPr id="180" name="Text 178"/>
          <p:cNvSpPr txBox="1"/>
          <p:nvPr/>
        </p:nvSpPr>
        <p:spPr>
          <a:xfrm>
            <a:off x="3349285" y="2090687"/>
            <a:ext cx="739020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181" name="Text 179"/>
          <p:cNvSpPr txBox="1"/>
          <p:nvPr/>
        </p:nvSpPr>
        <p:spPr>
          <a:xfrm>
            <a:off x="4349816" y="1959913"/>
            <a:ext cx="781786" cy="11347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RHAAP</a:t>
            </a:r>
            <a:endParaRPr lang="en-US" sz="800" dirty="0"/>
          </a:p>
        </p:txBody>
      </p:sp>
      <p:sp>
        <p:nvSpPr>
          <p:cNvPr id="182" name="Text 180"/>
          <p:cNvSpPr txBox="1"/>
          <p:nvPr/>
        </p:nvSpPr>
        <p:spPr>
          <a:xfrm>
            <a:off x="4328698" y="2068699"/>
            <a:ext cx="967306" cy="10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Automation Platform</a:t>
            </a:r>
            <a:endParaRPr lang="en-US" sz="800" dirty="0"/>
          </a:p>
        </p:txBody>
      </p:sp>
      <p:sp>
        <p:nvSpPr>
          <p:cNvPr id="183" name="Text 181"/>
          <p:cNvSpPr txBox="1"/>
          <p:nvPr/>
        </p:nvSpPr>
        <p:spPr>
          <a:xfrm>
            <a:off x="5663864" y="1927639"/>
            <a:ext cx="812451" cy="136438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Cluster</a:t>
            </a:r>
            <a:endParaRPr lang="en-US" sz="800" dirty="0"/>
          </a:p>
        </p:txBody>
      </p:sp>
      <p:sp>
        <p:nvSpPr>
          <p:cNvPr id="184" name="Text 182"/>
          <p:cNvSpPr txBox="1"/>
          <p:nvPr/>
        </p:nvSpPr>
        <p:spPr>
          <a:xfrm>
            <a:off x="5584847" y="2072471"/>
            <a:ext cx="957726" cy="12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통계/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/Log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800" dirty="0"/>
          </a:p>
        </p:txBody>
      </p:sp>
      <p:sp>
        <p:nvSpPr>
          <p:cNvPr id="185" name="Text 183"/>
          <p:cNvSpPr txBox="1"/>
          <p:nvPr/>
        </p:nvSpPr>
        <p:spPr>
          <a:xfrm>
            <a:off x="6689634" y="1959913"/>
            <a:ext cx="815417" cy="9008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Storage-A (CSI)</a:t>
            </a:r>
            <a:endParaRPr lang="en-US" sz="800" dirty="0"/>
          </a:p>
        </p:txBody>
      </p:sp>
      <p:sp>
        <p:nvSpPr>
          <p:cNvPr id="186" name="Text 184"/>
          <p:cNvSpPr txBox="1"/>
          <p:nvPr/>
        </p:nvSpPr>
        <p:spPr>
          <a:xfrm>
            <a:off x="6598334" y="2062406"/>
            <a:ext cx="906718" cy="10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A 전용</a:t>
            </a:r>
            <a:endParaRPr lang="en-US" sz="800" dirty="0"/>
          </a:p>
        </p:txBody>
      </p:sp>
      <p:sp>
        <p:nvSpPr>
          <p:cNvPr id="187" name="Text 185"/>
          <p:cNvSpPr txBox="1"/>
          <p:nvPr/>
        </p:nvSpPr>
        <p:spPr>
          <a:xfrm>
            <a:off x="4645387" y="2266954"/>
            <a:ext cx="668637" cy="15547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EE (Job Pod)</a:t>
            </a:r>
            <a:endParaRPr lang="en-US" sz="800" dirty="0"/>
          </a:p>
        </p:txBody>
      </p:sp>
      <p:sp>
        <p:nvSpPr>
          <p:cNvPr id="188" name="Text 186"/>
          <p:cNvSpPr txBox="1"/>
          <p:nvPr/>
        </p:nvSpPr>
        <p:spPr>
          <a:xfrm>
            <a:off x="4652376" y="2408348"/>
            <a:ext cx="654658" cy="13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Multus+Whereabouts</a:t>
            </a:r>
            <a:endParaRPr lang="en-US" sz="800" dirty="0"/>
          </a:p>
        </p:txBody>
      </p:sp>
      <p:sp>
        <p:nvSpPr>
          <p:cNvPr id="189" name="Text 187"/>
          <p:cNvSpPr txBox="1"/>
          <p:nvPr/>
        </p:nvSpPr>
        <p:spPr>
          <a:xfrm>
            <a:off x="1798857" y="2667218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800" dirty="0"/>
          </a:p>
        </p:txBody>
      </p:sp>
      <p:sp>
        <p:nvSpPr>
          <p:cNvPr id="190" name="Text 188"/>
          <p:cNvSpPr txBox="1"/>
          <p:nvPr/>
        </p:nvSpPr>
        <p:spPr>
          <a:xfrm>
            <a:off x="2670215" y="2749628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1000 · 172.30.10.0/24 · GW .1</a:t>
            </a:r>
            <a:endParaRPr lang="en-US" sz="800" dirty="0"/>
          </a:p>
        </p:txBody>
      </p:sp>
      <p:sp>
        <p:nvSpPr>
          <p:cNvPr id="191" name="Text 189"/>
          <p:cNvSpPr txBox="1"/>
          <p:nvPr/>
        </p:nvSpPr>
        <p:spPr>
          <a:xfrm>
            <a:off x="1814289" y="2959448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800" dirty="0"/>
          </a:p>
        </p:txBody>
      </p:sp>
      <p:sp>
        <p:nvSpPr>
          <p:cNvPr id="193" name="Text 191"/>
          <p:cNvSpPr txBox="1"/>
          <p:nvPr/>
        </p:nvSpPr>
        <p:spPr>
          <a:xfrm>
            <a:off x="3213552" y="3146250"/>
            <a:ext cx="2991271" cy="15237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MGMT</a:t>
            </a:r>
            <a:r>
              <a:rPr lang="ko-KR" alt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network:</a:t>
            </a:r>
            <a:r>
              <a:rPr lang="ko-KR" alt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</a:t>
            </a: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/iDRAC + ToR </a:t>
            </a:r>
            <a:r>
              <a:rPr lang="en-US" sz="8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</a:t>
            </a: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 cluster A</a:t>
            </a:r>
            <a:endParaRPr lang="en-US" sz="800" dirty="0"/>
          </a:p>
        </p:txBody>
      </p:sp>
      <p:sp>
        <p:nvSpPr>
          <p:cNvPr id="194" name="Text 192"/>
          <p:cNvSpPr txBox="1"/>
          <p:nvPr/>
        </p:nvSpPr>
        <p:spPr>
          <a:xfrm>
            <a:off x="3213552" y="3304386"/>
            <a:ext cx="2991271" cy="151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172.30.99.1</a:t>
            </a:r>
            <a:endParaRPr lang="en-US" sz="800" dirty="0"/>
          </a:p>
        </p:txBody>
      </p:sp>
      <p:sp>
        <p:nvSpPr>
          <p:cNvPr id="202" name="Text 200"/>
          <p:cNvSpPr txBox="1"/>
          <p:nvPr/>
        </p:nvSpPr>
        <p:spPr>
          <a:xfrm>
            <a:off x="5068736" y="1495049"/>
            <a:ext cx="929871" cy="203657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Egress LB</a:t>
            </a:r>
            <a:endParaRPr lang="en-US" sz="800" dirty="0"/>
          </a:p>
        </p:txBody>
      </p:sp>
      <p:sp>
        <p:nvSpPr>
          <p:cNvPr id="203" name="Text 201"/>
          <p:cNvSpPr txBox="1"/>
          <p:nvPr/>
        </p:nvSpPr>
        <p:spPr>
          <a:xfrm>
            <a:off x="6118298" y="1443615"/>
            <a:ext cx="1132783" cy="204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172.30.1.30:443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(NOC Pull/Push)</a:t>
            </a:r>
            <a:endParaRPr lang="en-US" sz="800" dirty="0"/>
          </a:p>
        </p:txBody>
      </p:sp>
      <p:sp>
        <p:nvSpPr>
          <p:cNvPr id="211" name="Text 209"/>
          <p:cNvSpPr txBox="1"/>
          <p:nvPr/>
        </p:nvSpPr>
        <p:spPr>
          <a:xfrm>
            <a:off x="1416576" y="4367670"/>
            <a:ext cx="1150498" cy="1087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B — 5G CNF </a:t>
            </a:r>
            <a:endParaRPr lang="en-US" sz="900" dirty="0"/>
          </a:p>
        </p:txBody>
      </p:sp>
      <p:sp>
        <p:nvSpPr>
          <p:cNvPr id="212" name="Text 210"/>
          <p:cNvSpPr txBox="1"/>
          <p:nvPr/>
        </p:nvSpPr>
        <p:spPr>
          <a:xfrm>
            <a:off x="2317846" y="4522662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Bastion-B</a:t>
            </a:r>
            <a:endParaRPr lang="en-US" sz="800" dirty="0"/>
          </a:p>
        </p:txBody>
      </p:sp>
      <p:sp>
        <p:nvSpPr>
          <p:cNvPr id="213" name="Text 211"/>
          <p:cNvSpPr txBox="1"/>
          <p:nvPr/>
        </p:nvSpPr>
        <p:spPr>
          <a:xfrm>
            <a:off x="2317846" y="4618938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 / 설치 CLI</a:t>
            </a:r>
            <a:endParaRPr lang="en-US" sz="800" dirty="0"/>
          </a:p>
        </p:txBody>
      </p:sp>
      <p:sp>
        <p:nvSpPr>
          <p:cNvPr id="214" name="Text 212"/>
          <p:cNvSpPr txBox="1"/>
          <p:nvPr/>
        </p:nvSpPr>
        <p:spPr>
          <a:xfrm>
            <a:off x="3162440" y="4522662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Master-B ×3</a:t>
            </a:r>
            <a:endParaRPr lang="en-US" sz="800" dirty="0"/>
          </a:p>
        </p:txBody>
      </p:sp>
      <p:sp>
        <p:nvSpPr>
          <p:cNvPr id="215" name="Text 213"/>
          <p:cNvSpPr txBox="1"/>
          <p:nvPr/>
        </p:nvSpPr>
        <p:spPr>
          <a:xfrm>
            <a:off x="3162440" y="4618938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216" name="Text 214"/>
          <p:cNvSpPr txBox="1"/>
          <p:nvPr/>
        </p:nvSpPr>
        <p:spPr>
          <a:xfrm>
            <a:off x="4077417" y="4522662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Worker-B</a:t>
            </a:r>
            <a:endParaRPr lang="en-US" sz="800" dirty="0"/>
          </a:p>
        </p:txBody>
      </p:sp>
      <p:sp>
        <p:nvSpPr>
          <p:cNvPr id="217" name="Text 215"/>
          <p:cNvSpPr txBox="1"/>
          <p:nvPr/>
        </p:nvSpPr>
        <p:spPr>
          <a:xfrm>
            <a:off x="4077417" y="4644275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AMF/SMF/UPF</a:t>
            </a:r>
            <a:endParaRPr lang="en-US" sz="800" dirty="0"/>
          </a:p>
        </p:txBody>
      </p:sp>
      <p:sp>
        <p:nvSpPr>
          <p:cNvPr id="218" name="Text 216"/>
          <p:cNvSpPr txBox="1"/>
          <p:nvPr/>
        </p:nvSpPr>
        <p:spPr>
          <a:xfrm>
            <a:off x="4429254" y="5094876"/>
            <a:ext cx="497396" cy="1461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 Switch </a:t>
            </a:r>
            <a:endParaRPr lang="en-US" sz="600" dirty="0"/>
          </a:p>
        </p:txBody>
      </p:sp>
      <p:sp>
        <p:nvSpPr>
          <p:cNvPr id="219" name="Text 217"/>
          <p:cNvSpPr txBox="1"/>
          <p:nvPr/>
        </p:nvSpPr>
        <p:spPr>
          <a:xfrm>
            <a:off x="4467628" y="5334576"/>
            <a:ext cx="711837" cy="9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172.31.99.2</a:t>
            </a:r>
            <a:endParaRPr lang="en-US" sz="600" dirty="0"/>
          </a:p>
        </p:txBody>
      </p:sp>
      <p:sp>
        <p:nvSpPr>
          <p:cNvPr id="220" name="Text 218"/>
          <p:cNvSpPr txBox="1"/>
          <p:nvPr/>
        </p:nvSpPr>
        <p:spPr>
          <a:xfrm>
            <a:off x="1771144" y="518059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21" name="Text 219"/>
          <p:cNvSpPr txBox="1"/>
          <p:nvPr/>
        </p:nvSpPr>
        <p:spPr>
          <a:xfrm>
            <a:off x="2437496" y="5179888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1000 · 172.31.10.0/24</a:t>
            </a:r>
            <a:endParaRPr lang="en-US" sz="600" dirty="0"/>
          </a:p>
        </p:txBody>
      </p:sp>
      <p:sp>
        <p:nvSpPr>
          <p:cNvPr id="222" name="Text 220"/>
          <p:cNvSpPr txBox="1"/>
          <p:nvPr/>
        </p:nvSpPr>
        <p:spPr>
          <a:xfrm>
            <a:off x="1786199" y="5479720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MacVLAN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(SBI/N2,N4)</a:t>
            </a:r>
            <a:endParaRPr lang="en-US" sz="600" dirty="0"/>
          </a:p>
        </p:txBody>
      </p:sp>
      <p:sp>
        <p:nvSpPr>
          <p:cNvPr id="223" name="Text 221"/>
          <p:cNvSpPr txBox="1"/>
          <p:nvPr/>
        </p:nvSpPr>
        <p:spPr>
          <a:xfrm>
            <a:off x="2437496" y="5479720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1100/2000 · 10.31.0.0/27,/28</a:t>
            </a:r>
            <a:endParaRPr lang="en-US" sz="600" dirty="0"/>
          </a:p>
        </p:txBody>
      </p:sp>
      <p:sp>
        <p:nvSpPr>
          <p:cNvPr id="224" name="Text 222"/>
          <p:cNvSpPr txBox="1"/>
          <p:nvPr/>
        </p:nvSpPr>
        <p:spPr>
          <a:xfrm>
            <a:off x="1798857" y="576916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SR-IOV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(N3/N6,UPF)</a:t>
            </a:r>
            <a:endParaRPr lang="en-US" sz="600" dirty="0"/>
          </a:p>
        </p:txBody>
      </p:sp>
      <p:sp>
        <p:nvSpPr>
          <p:cNvPr id="225" name="Text 223"/>
          <p:cNvSpPr txBox="1"/>
          <p:nvPr/>
        </p:nvSpPr>
        <p:spPr>
          <a:xfrm>
            <a:off x="2437496" y="5761251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3000/3100 · vfio-pci(DPDK)</a:t>
            </a:r>
            <a:endParaRPr lang="en-US" sz="600" dirty="0"/>
          </a:p>
        </p:txBody>
      </p:sp>
      <p:sp>
        <p:nvSpPr>
          <p:cNvPr id="228" name="Text 226"/>
          <p:cNvSpPr txBox="1"/>
          <p:nvPr/>
        </p:nvSpPr>
        <p:spPr>
          <a:xfrm>
            <a:off x="1789734" y="605974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29" name="Text 227"/>
          <p:cNvSpPr txBox="1"/>
          <p:nvPr/>
        </p:nvSpPr>
        <p:spPr>
          <a:xfrm>
            <a:off x="2437496" y="6067274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1200 · 172.31.20.0/24</a:t>
            </a:r>
            <a:endParaRPr lang="en-US" sz="600" dirty="0"/>
          </a:p>
        </p:txBody>
      </p:sp>
      <p:sp>
        <p:nvSpPr>
          <p:cNvPr id="230" name="Text 228"/>
          <p:cNvSpPr txBox="1"/>
          <p:nvPr/>
        </p:nvSpPr>
        <p:spPr>
          <a:xfrm>
            <a:off x="2317846" y="6411587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/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MGMT network: Server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/iDRAC +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 cluster B</a:t>
            </a:r>
            <a:endParaRPr lang="en-US" sz="600" dirty="0"/>
          </a:p>
        </p:txBody>
      </p:sp>
      <p:sp>
        <p:nvSpPr>
          <p:cNvPr id="231" name="Text 229"/>
          <p:cNvSpPr txBox="1"/>
          <p:nvPr/>
        </p:nvSpPr>
        <p:spPr>
          <a:xfrm>
            <a:off x="2317846" y="6479155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172.31.99.1</a:t>
            </a:r>
            <a:endParaRPr lang="en-US" sz="600" dirty="0"/>
          </a:p>
        </p:txBody>
      </p:sp>
      <p:sp>
        <p:nvSpPr>
          <p:cNvPr id="255" name="Text 171">
            <a:extLst>
              <a:ext uri="{FF2B5EF4-FFF2-40B4-BE49-F238E27FC236}">
                <a16:creationId xmlns:a16="http://schemas.microsoft.com/office/drawing/2014/main" id="{97660401-3718-4FD5-8A71-DFF51EFFA65D}"/>
              </a:ext>
            </a:extLst>
          </p:cNvPr>
          <p:cNvSpPr txBox="1"/>
          <p:nvPr/>
        </p:nvSpPr>
        <p:spPr>
          <a:xfrm>
            <a:off x="227099" y="2044544"/>
            <a:ext cx="770271" cy="173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Bastion </a:t>
            </a:r>
          </a:p>
          <a:p>
            <a:pPr marL="0" indent="0" algn="ctr">
              <a:buNone/>
            </a:pP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관리 경로</a:t>
            </a:r>
            <a:endParaRPr lang="en-US" sz="800" dirty="0"/>
          </a:p>
        </p:txBody>
      </p:sp>
      <p:sp>
        <p:nvSpPr>
          <p:cNvPr id="256" name="Shape 32">
            <a:extLst>
              <a:ext uri="{FF2B5EF4-FFF2-40B4-BE49-F238E27FC236}">
                <a16:creationId xmlns:a16="http://schemas.microsoft.com/office/drawing/2014/main" id="{74C0E114-6A93-4619-9BC6-691142F8E9E4}"/>
              </a:ext>
            </a:extLst>
          </p:cNvPr>
          <p:cNvSpPr/>
          <p:nvPr/>
        </p:nvSpPr>
        <p:spPr>
          <a:xfrm>
            <a:off x="4395167" y="6121915"/>
            <a:ext cx="35191" cy="35191"/>
          </a:xfrm>
          <a:prstGeom prst="ellipse">
            <a:avLst/>
          </a:prstGeom>
          <a:solidFill>
            <a:srgbClr val="00B050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259" name="Shape 98">
            <a:extLst>
              <a:ext uri="{FF2B5EF4-FFF2-40B4-BE49-F238E27FC236}">
                <a16:creationId xmlns:a16="http://schemas.microsoft.com/office/drawing/2014/main" id="{F10F9FA5-A44F-4955-8EDD-261AF17C7D79}"/>
              </a:ext>
            </a:extLst>
          </p:cNvPr>
          <p:cNvSpPr/>
          <p:nvPr/>
        </p:nvSpPr>
        <p:spPr>
          <a:xfrm flipH="1">
            <a:off x="3617177" y="4770196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Shape 30"/>
          <p:cNvSpPr/>
          <p:nvPr/>
        </p:nvSpPr>
        <p:spPr>
          <a:xfrm>
            <a:off x="4395167" y="526108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258" name="Shape 30">
            <a:extLst>
              <a:ext uri="{FF2B5EF4-FFF2-40B4-BE49-F238E27FC236}">
                <a16:creationId xmlns:a16="http://schemas.microsoft.com/office/drawing/2014/main" id="{77FC20C8-589B-43BD-AFA9-4D6C99080C3B}"/>
              </a:ext>
            </a:extLst>
          </p:cNvPr>
          <p:cNvSpPr/>
          <p:nvPr/>
        </p:nvSpPr>
        <p:spPr>
          <a:xfrm>
            <a:off x="3599543" y="526108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260" name="Shape 98">
            <a:extLst>
              <a:ext uri="{FF2B5EF4-FFF2-40B4-BE49-F238E27FC236}">
                <a16:creationId xmlns:a16="http://schemas.microsoft.com/office/drawing/2014/main" id="{073537D6-7EF4-4D79-AC51-BF881FB01B22}"/>
              </a:ext>
            </a:extLst>
          </p:cNvPr>
          <p:cNvSpPr/>
          <p:nvPr/>
        </p:nvSpPr>
        <p:spPr>
          <a:xfrm flipH="1">
            <a:off x="2807470" y="4772372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1" name="Shape 30">
            <a:extLst>
              <a:ext uri="{FF2B5EF4-FFF2-40B4-BE49-F238E27FC236}">
                <a16:creationId xmlns:a16="http://schemas.microsoft.com/office/drawing/2014/main" id="{D9D3C2C2-FF2D-41A4-A45D-C110A02ABC78}"/>
              </a:ext>
            </a:extLst>
          </p:cNvPr>
          <p:cNvSpPr/>
          <p:nvPr/>
        </p:nvSpPr>
        <p:spPr>
          <a:xfrm>
            <a:off x="2789836" y="526108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262" name="Shape 25">
            <a:extLst>
              <a:ext uri="{FF2B5EF4-FFF2-40B4-BE49-F238E27FC236}">
                <a16:creationId xmlns:a16="http://schemas.microsoft.com/office/drawing/2014/main" id="{73D81B14-9C05-45D5-B571-40A117DC25BB}"/>
              </a:ext>
            </a:extLst>
          </p:cNvPr>
          <p:cNvSpPr/>
          <p:nvPr/>
        </p:nvSpPr>
        <p:spPr>
          <a:xfrm>
            <a:off x="7286550" y="4354859"/>
            <a:ext cx="3640178" cy="2357825"/>
          </a:xfrm>
          <a:prstGeom prst="roundRect">
            <a:avLst>
              <a:gd name="adj" fmla="val 1250"/>
            </a:avLst>
          </a:prstGeom>
          <a:solidFill>
            <a:srgbClr val="EAF6F2"/>
          </a:solidFill>
          <a:ln w="10753">
            <a:solidFill>
              <a:srgbClr val="0F6E56"/>
            </a:solidFill>
            <a:prstDash val="solid"/>
          </a:ln>
        </p:spPr>
      </p:sp>
      <p:sp>
        <p:nvSpPr>
          <p:cNvPr id="263" name="Shape 26">
            <a:extLst>
              <a:ext uri="{FF2B5EF4-FFF2-40B4-BE49-F238E27FC236}">
                <a16:creationId xmlns:a16="http://schemas.microsoft.com/office/drawing/2014/main" id="{73896CB2-8849-4275-A5B9-C4F5D1A6EB65}"/>
              </a:ext>
            </a:extLst>
          </p:cNvPr>
          <p:cNvSpPr/>
          <p:nvPr/>
        </p:nvSpPr>
        <p:spPr>
          <a:xfrm>
            <a:off x="8236259" y="4513220"/>
            <a:ext cx="703828" cy="287289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64" name="Shape 27">
            <a:extLst>
              <a:ext uri="{FF2B5EF4-FFF2-40B4-BE49-F238E27FC236}">
                <a16:creationId xmlns:a16="http://schemas.microsoft.com/office/drawing/2014/main" id="{1192560E-B3DC-41E1-BB90-7417B83D49A1}"/>
              </a:ext>
            </a:extLst>
          </p:cNvPr>
          <p:cNvSpPr/>
          <p:nvPr/>
        </p:nvSpPr>
        <p:spPr>
          <a:xfrm>
            <a:off x="9080853" y="4516372"/>
            <a:ext cx="774211" cy="284137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65" name="Shape 28">
            <a:extLst>
              <a:ext uri="{FF2B5EF4-FFF2-40B4-BE49-F238E27FC236}">
                <a16:creationId xmlns:a16="http://schemas.microsoft.com/office/drawing/2014/main" id="{76B69E4F-0EB0-4C4D-A93B-3AF1E31F0DF1}"/>
              </a:ext>
            </a:extLst>
          </p:cNvPr>
          <p:cNvSpPr/>
          <p:nvPr/>
        </p:nvSpPr>
        <p:spPr>
          <a:xfrm>
            <a:off x="9995830" y="4516372"/>
            <a:ext cx="774211" cy="2783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66" name="Shape 31">
            <a:extLst>
              <a:ext uri="{FF2B5EF4-FFF2-40B4-BE49-F238E27FC236}">
                <a16:creationId xmlns:a16="http://schemas.microsoft.com/office/drawing/2014/main" id="{5E662153-48B6-4695-99DC-C769DDF36FC8}"/>
              </a:ext>
            </a:extLst>
          </p:cNvPr>
          <p:cNvSpPr/>
          <p:nvPr/>
        </p:nvSpPr>
        <p:spPr>
          <a:xfrm>
            <a:off x="10313580" y="5568963"/>
            <a:ext cx="35191" cy="35191"/>
          </a:xfrm>
          <a:prstGeom prst="ellipse">
            <a:avLst/>
          </a:prstGeom>
          <a:solidFill>
            <a:srgbClr val="E24B4A"/>
          </a:solidFill>
          <a:ln w="3175">
            <a:solidFill>
              <a:srgbClr val="E24B4A"/>
            </a:solidFill>
            <a:prstDash val="solid"/>
          </a:ln>
        </p:spPr>
      </p:sp>
      <p:sp>
        <p:nvSpPr>
          <p:cNvPr id="267" name="Shape 32">
            <a:extLst>
              <a:ext uri="{FF2B5EF4-FFF2-40B4-BE49-F238E27FC236}">
                <a16:creationId xmlns:a16="http://schemas.microsoft.com/office/drawing/2014/main" id="{48962F3C-7AF9-4FB5-A17E-53EFE6DA0970}"/>
              </a:ext>
            </a:extLst>
          </p:cNvPr>
          <p:cNvSpPr/>
          <p:nvPr/>
        </p:nvSpPr>
        <p:spPr>
          <a:xfrm>
            <a:off x="10313580" y="5850495"/>
            <a:ext cx="35191" cy="35191"/>
          </a:xfrm>
          <a:prstGeom prst="ellipse">
            <a:avLst/>
          </a:prstGeom>
          <a:solidFill>
            <a:srgbClr val="7F77DD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268" name="Shape 34">
            <a:extLst>
              <a:ext uri="{FF2B5EF4-FFF2-40B4-BE49-F238E27FC236}">
                <a16:creationId xmlns:a16="http://schemas.microsoft.com/office/drawing/2014/main" id="{8273F291-5E20-43DD-AB79-6479F1F8B6AB}"/>
              </a:ext>
            </a:extLst>
          </p:cNvPr>
          <p:cNvSpPr/>
          <p:nvPr/>
        </p:nvSpPr>
        <p:spPr>
          <a:xfrm>
            <a:off x="8236259" y="6420454"/>
            <a:ext cx="2533782" cy="168919"/>
          </a:xfrm>
          <a:prstGeom prst="roundRect">
            <a:avLst>
              <a:gd name="adj" fmla="val 12500"/>
            </a:avLst>
          </a:prstGeom>
          <a:solidFill>
            <a:srgbClr val="FFF4E8"/>
          </a:solidFill>
          <a:ln w="7332">
            <a:solidFill>
              <a:srgbClr val="BA7517"/>
            </a:solidFill>
            <a:prstDash val="dash"/>
          </a:ln>
        </p:spPr>
      </p:sp>
      <p:sp>
        <p:nvSpPr>
          <p:cNvPr id="269" name="Shape 95">
            <a:extLst>
              <a:ext uri="{FF2B5EF4-FFF2-40B4-BE49-F238E27FC236}">
                <a16:creationId xmlns:a16="http://schemas.microsoft.com/office/drawing/2014/main" id="{39E11845-C635-4EC0-9F7F-EEC4F0DC5595}"/>
              </a:ext>
            </a:extLst>
          </p:cNvPr>
          <p:cNvSpPr/>
          <p:nvPr/>
        </p:nvSpPr>
        <p:spPr>
          <a:xfrm>
            <a:off x="7477968" y="5301060"/>
            <a:ext cx="3186498" cy="0"/>
          </a:xfrm>
          <a:prstGeom prst="line">
            <a:avLst/>
          </a:prstGeom>
          <a:noFill/>
          <a:ln w="11242">
            <a:solidFill>
              <a:srgbClr val="0E8FA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0" name="Shape 96">
            <a:extLst>
              <a:ext uri="{FF2B5EF4-FFF2-40B4-BE49-F238E27FC236}">
                <a16:creationId xmlns:a16="http://schemas.microsoft.com/office/drawing/2014/main" id="{FF270B66-F309-47E9-AE38-29503711FFC1}"/>
              </a:ext>
            </a:extLst>
          </p:cNvPr>
          <p:cNvSpPr/>
          <p:nvPr/>
        </p:nvSpPr>
        <p:spPr>
          <a:xfrm>
            <a:off x="8306641" y="5586558"/>
            <a:ext cx="2160000" cy="0"/>
          </a:xfrm>
          <a:prstGeom prst="line">
            <a:avLst/>
          </a:prstGeom>
          <a:noFill/>
          <a:ln w="11242">
            <a:solidFill>
              <a:srgbClr val="E24B4A"/>
            </a:solidFill>
            <a:prstDash val="solid"/>
          </a:ln>
        </p:spPr>
      </p:sp>
      <p:sp>
        <p:nvSpPr>
          <p:cNvPr id="271" name="Shape 97">
            <a:extLst>
              <a:ext uri="{FF2B5EF4-FFF2-40B4-BE49-F238E27FC236}">
                <a16:creationId xmlns:a16="http://schemas.microsoft.com/office/drawing/2014/main" id="{A3D73C4A-BD4B-422F-9A48-26375E0A87DB}"/>
              </a:ext>
            </a:extLst>
          </p:cNvPr>
          <p:cNvSpPr/>
          <p:nvPr/>
        </p:nvSpPr>
        <p:spPr>
          <a:xfrm>
            <a:off x="8306641" y="5868090"/>
            <a:ext cx="2160000" cy="0"/>
          </a:xfrm>
          <a:prstGeom prst="line">
            <a:avLst/>
          </a:prstGeom>
          <a:noFill/>
          <a:ln w="11242">
            <a:solidFill>
              <a:srgbClr val="7F77DD"/>
            </a:solidFill>
            <a:prstDash val="solid"/>
          </a:ln>
        </p:spPr>
      </p:sp>
      <p:sp>
        <p:nvSpPr>
          <p:cNvPr id="272" name="Shape 98">
            <a:extLst>
              <a:ext uri="{FF2B5EF4-FFF2-40B4-BE49-F238E27FC236}">
                <a16:creationId xmlns:a16="http://schemas.microsoft.com/office/drawing/2014/main" id="{60D8C2FC-40C3-4929-B2C4-F73C84B7D1BC}"/>
              </a:ext>
            </a:extLst>
          </p:cNvPr>
          <p:cNvSpPr/>
          <p:nvPr/>
        </p:nvSpPr>
        <p:spPr>
          <a:xfrm flipH="1">
            <a:off x="10331175" y="4800509"/>
            <a:ext cx="0" cy="1606749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3" name="Shape 100">
            <a:extLst>
              <a:ext uri="{FF2B5EF4-FFF2-40B4-BE49-F238E27FC236}">
                <a16:creationId xmlns:a16="http://schemas.microsoft.com/office/drawing/2014/main" id="{45F1312C-B2F8-4094-A47C-9CC9FE99F86D}"/>
              </a:ext>
            </a:extLst>
          </p:cNvPr>
          <p:cNvSpPr/>
          <p:nvPr/>
        </p:nvSpPr>
        <p:spPr>
          <a:xfrm>
            <a:off x="8306641" y="6161890"/>
            <a:ext cx="2357825" cy="0"/>
          </a:xfrm>
          <a:prstGeom prst="line">
            <a:avLst/>
          </a:prstGeom>
          <a:noFill/>
          <a:ln w="11242">
            <a:solidFill>
              <a:srgbClr val="0F6E56"/>
            </a:solidFill>
            <a:prstDash val="solid"/>
          </a:ln>
        </p:spPr>
      </p:sp>
      <p:sp>
        <p:nvSpPr>
          <p:cNvPr id="274" name="Shape 102">
            <a:extLst>
              <a:ext uri="{FF2B5EF4-FFF2-40B4-BE49-F238E27FC236}">
                <a16:creationId xmlns:a16="http://schemas.microsoft.com/office/drawing/2014/main" id="{B827AC71-C526-4B61-ADE4-8693FAD82842}"/>
              </a:ext>
            </a:extLst>
          </p:cNvPr>
          <p:cNvSpPr/>
          <p:nvPr/>
        </p:nvSpPr>
        <p:spPr>
          <a:xfrm flipH="1">
            <a:off x="8588171" y="4808475"/>
            <a:ext cx="0" cy="1589489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275" name="Shape 103">
            <a:extLst>
              <a:ext uri="{FF2B5EF4-FFF2-40B4-BE49-F238E27FC236}">
                <a16:creationId xmlns:a16="http://schemas.microsoft.com/office/drawing/2014/main" id="{15D9D0DC-E15B-412D-9927-A1ECC85D668D}"/>
              </a:ext>
            </a:extLst>
          </p:cNvPr>
          <p:cNvSpPr/>
          <p:nvPr/>
        </p:nvSpPr>
        <p:spPr>
          <a:xfrm>
            <a:off x="9356732" y="4823258"/>
            <a:ext cx="0" cy="1595613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276" name="Shape 104">
            <a:extLst>
              <a:ext uri="{FF2B5EF4-FFF2-40B4-BE49-F238E27FC236}">
                <a16:creationId xmlns:a16="http://schemas.microsoft.com/office/drawing/2014/main" id="{4E964B1D-88FD-41B0-A809-E6EB1B61F2C0}"/>
              </a:ext>
            </a:extLst>
          </p:cNvPr>
          <p:cNvSpPr/>
          <p:nvPr/>
        </p:nvSpPr>
        <p:spPr>
          <a:xfrm flipH="1">
            <a:off x="10100641" y="4823258"/>
            <a:ext cx="0" cy="1584000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1" name="Text 209">
            <a:extLst>
              <a:ext uri="{FF2B5EF4-FFF2-40B4-BE49-F238E27FC236}">
                <a16:creationId xmlns:a16="http://schemas.microsoft.com/office/drawing/2014/main" id="{4BEA6FD3-0276-48A1-99C6-F5227FA95E99}"/>
              </a:ext>
            </a:extLst>
          </p:cNvPr>
          <p:cNvSpPr txBox="1"/>
          <p:nvPr/>
        </p:nvSpPr>
        <p:spPr>
          <a:xfrm>
            <a:off x="9356731" y="4390050"/>
            <a:ext cx="969897" cy="1139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C — 5G CNF </a:t>
            </a:r>
            <a:endParaRPr lang="en-US" sz="900" dirty="0"/>
          </a:p>
        </p:txBody>
      </p:sp>
      <p:sp>
        <p:nvSpPr>
          <p:cNvPr id="282" name="Text 210">
            <a:extLst>
              <a:ext uri="{FF2B5EF4-FFF2-40B4-BE49-F238E27FC236}">
                <a16:creationId xmlns:a16="http://schemas.microsoft.com/office/drawing/2014/main" id="{999FE4A4-F87D-47DA-9219-B3076A61F62C}"/>
              </a:ext>
            </a:extLst>
          </p:cNvPr>
          <p:cNvSpPr txBox="1"/>
          <p:nvPr/>
        </p:nvSpPr>
        <p:spPr>
          <a:xfrm>
            <a:off x="8236259" y="4565824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Bastion-C</a:t>
            </a:r>
            <a:endParaRPr lang="en-US" sz="800" dirty="0"/>
          </a:p>
        </p:txBody>
      </p:sp>
      <p:sp>
        <p:nvSpPr>
          <p:cNvPr id="283" name="Text 211">
            <a:extLst>
              <a:ext uri="{FF2B5EF4-FFF2-40B4-BE49-F238E27FC236}">
                <a16:creationId xmlns:a16="http://schemas.microsoft.com/office/drawing/2014/main" id="{151C42BD-9BDC-43B4-B9FF-AC2EB2CBCFB7}"/>
              </a:ext>
            </a:extLst>
          </p:cNvPr>
          <p:cNvSpPr txBox="1"/>
          <p:nvPr/>
        </p:nvSpPr>
        <p:spPr>
          <a:xfrm>
            <a:off x="8236259" y="4641318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 / 설치 CLI</a:t>
            </a:r>
            <a:endParaRPr lang="en-US" sz="800" dirty="0"/>
          </a:p>
        </p:txBody>
      </p:sp>
      <p:sp>
        <p:nvSpPr>
          <p:cNvPr id="284" name="Text 212">
            <a:extLst>
              <a:ext uri="{FF2B5EF4-FFF2-40B4-BE49-F238E27FC236}">
                <a16:creationId xmlns:a16="http://schemas.microsoft.com/office/drawing/2014/main" id="{E3996E02-4416-49C6-9B13-8305F554AF86}"/>
              </a:ext>
            </a:extLst>
          </p:cNvPr>
          <p:cNvSpPr txBox="1"/>
          <p:nvPr/>
        </p:nvSpPr>
        <p:spPr>
          <a:xfrm>
            <a:off x="9080853" y="4565824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Master-C ×3</a:t>
            </a:r>
            <a:endParaRPr lang="en-US" sz="800" dirty="0"/>
          </a:p>
        </p:txBody>
      </p:sp>
      <p:sp>
        <p:nvSpPr>
          <p:cNvPr id="285" name="Text 213">
            <a:extLst>
              <a:ext uri="{FF2B5EF4-FFF2-40B4-BE49-F238E27FC236}">
                <a16:creationId xmlns:a16="http://schemas.microsoft.com/office/drawing/2014/main" id="{D8452CBE-A5B1-493B-B56C-13FEED72E10B}"/>
              </a:ext>
            </a:extLst>
          </p:cNvPr>
          <p:cNvSpPr txBox="1"/>
          <p:nvPr/>
        </p:nvSpPr>
        <p:spPr>
          <a:xfrm>
            <a:off x="9080853" y="4641318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286" name="Text 214">
            <a:extLst>
              <a:ext uri="{FF2B5EF4-FFF2-40B4-BE49-F238E27FC236}">
                <a16:creationId xmlns:a16="http://schemas.microsoft.com/office/drawing/2014/main" id="{F7F973F9-7559-4B14-B00D-DBA32B7A1C99}"/>
              </a:ext>
            </a:extLst>
          </p:cNvPr>
          <p:cNvSpPr txBox="1"/>
          <p:nvPr/>
        </p:nvSpPr>
        <p:spPr>
          <a:xfrm>
            <a:off x="9995830" y="4565824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Worker-C</a:t>
            </a:r>
            <a:endParaRPr lang="en-US" sz="800" dirty="0"/>
          </a:p>
        </p:txBody>
      </p:sp>
      <p:sp>
        <p:nvSpPr>
          <p:cNvPr id="287" name="Text 215">
            <a:extLst>
              <a:ext uri="{FF2B5EF4-FFF2-40B4-BE49-F238E27FC236}">
                <a16:creationId xmlns:a16="http://schemas.microsoft.com/office/drawing/2014/main" id="{AFB55AE4-0EAD-4D93-BCEE-BF874114CA8E}"/>
              </a:ext>
            </a:extLst>
          </p:cNvPr>
          <p:cNvSpPr txBox="1"/>
          <p:nvPr/>
        </p:nvSpPr>
        <p:spPr>
          <a:xfrm>
            <a:off x="9995830" y="4666655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AMF/SMF/UPF</a:t>
            </a:r>
            <a:endParaRPr lang="en-US" sz="800" dirty="0"/>
          </a:p>
        </p:txBody>
      </p:sp>
      <p:sp>
        <p:nvSpPr>
          <p:cNvPr id="288" name="Text 216">
            <a:extLst>
              <a:ext uri="{FF2B5EF4-FFF2-40B4-BE49-F238E27FC236}">
                <a16:creationId xmlns:a16="http://schemas.microsoft.com/office/drawing/2014/main" id="{70233423-55B9-4FC9-8821-BCD49A5BAEA4}"/>
              </a:ext>
            </a:extLst>
          </p:cNvPr>
          <p:cNvSpPr txBox="1"/>
          <p:nvPr/>
        </p:nvSpPr>
        <p:spPr>
          <a:xfrm>
            <a:off x="10418198" y="5090610"/>
            <a:ext cx="497396" cy="1461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 Switch </a:t>
            </a:r>
            <a:endParaRPr lang="en-US" sz="600" dirty="0"/>
          </a:p>
        </p:txBody>
      </p:sp>
      <p:sp>
        <p:nvSpPr>
          <p:cNvPr id="289" name="Text 217">
            <a:extLst>
              <a:ext uri="{FF2B5EF4-FFF2-40B4-BE49-F238E27FC236}">
                <a16:creationId xmlns:a16="http://schemas.microsoft.com/office/drawing/2014/main" id="{D6C1D411-1C9A-4B0F-9189-215B48933FCE}"/>
              </a:ext>
            </a:extLst>
          </p:cNvPr>
          <p:cNvSpPr txBox="1"/>
          <p:nvPr/>
        </p:nvSpPr>
        <p:spPr>
          <a:xfrm>
            <a:off x="10419995" y="5041376"/>
            <a:ext cx="711837" cy="9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172.32.99.2</a:t>
            </a:r>
            <a:endParaRPr lang="en-US" sz="600" dirty="0"/>
          </a:p>
        </p:txBody>
      </p:sp>
      <p:sp>
        <p:nvSpPr>
          <p:cNvPr id="290" name="Text 218">
            <a:extLst>
              <a:ext uri="{FF2B5EF4-FFF2-40B4-BE49-F238E27FC236}">
                <a16:creationId xmlns:a16="http://schemas.microsoft.com/office/drawing/2014/main" id="{A369E30D-5AD2-45C5-9A40-CB35FDE022CD}"/>
              </a:ext>
            </a:extLst>
          </p:cNvPr>
          <p:cNvSpPr txBox="1"/>
          <p:nvPr/>
        </p:nvSpPr>
        <p:spPr>
          <a:xfrm>
            <a:off x="7689557" y="520297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91" name="Text 219">
            <a:extLst>
              <a:ext uri="{FF2B5EF4-FFF2-40B4-BE49-F238E27FC236}">
                <a16:creationId xmlns:a16="http://schemas.microsoft.com/office/drawing/2014/main" id="{C1BE6F36-EC22-47CF-98BE-BAA6DBFB9AE1}"/>
              </a:ext>
            </a:extLst>
          </p:cNvPr>
          <p:cNvSpPr txBox="1"/>
          <p:nvPr/>
        </p:nvSpPr>
        <p:spPr>
          <a:xfrm>
            <a:off x="8355909" y="5202268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1000 · 172.32.10.0/24</a:t>
            </a:r>
            <a:endParaRPr lang="en-US" sz="600" dirty="0"/>
          </a:p>
        </p:txBody>
      </p:sp>
      <p:sp>
        <p:nvSpPr>
          <p:cNvPr id="292" name="Text 220">
            <a:extLst>
              <a:ext uri="{FF2B5EF4-FFF2-40B4-BE49-F238E27FC236}">
                <a16:creationId xmlns:a16="http://schemas.microsoft.com/office/drawing/2014/main" id="{C5EF1C57-5EEA-4DAA-B4AF-859A52A55A84}"/>
              </a:ext>
            </a:extLst>
          </p:cNvPr>
          <p:cNvSpPr txBox="1"/>
          <p:nvPr/>
        </p:nvSpPr>
        <p:spPr>
          <a:xfrm>
            <a:off x="7704612" y="5502100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MacVLAN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(SBI/N2,N4)</a:t>
            </a:r>
            <a:endParaRPr lang="en-US" sz="600" dirty="0"/>
          </a:p>
        </p:txBody>
      </p:sp>
      <p:sp>
        <p:nvSpPr>
          <p:cNvPr id="293" name="Text 221">
            <a:extLst>
              <a:ext uri="{FF2B5EF4-FFF2-40B4-BE49-F238E27FC236}">
                <a16:creationId xmlns:a16="http://schemas.microsoft.com/office/drawing/2014/main" id="{B5BF523A-4D18-41EC-9316-62899D5A453D}"/>
              </a:ext>
            </a:extLst>
          </p:cNvPr>
          <p:cNvSpPr txBox="1"/>
          <p:nvPr/>
        </p:nvSpPr>
        <p:spPr>
          <a:xfrm>
            <a:off x="8355909" y="5502100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1100/2000 · 10.32.0.0/27,/28</a:t>
            </a:r>
            <a:endParaRPr lang="en-US" sz="600" dirty="0"/>
          </a:p>
        </p:txBody>
      </p:sp>
      <p:sp>
        <p:nvSpPr>
          <p:cNvPr id="294" name="Text 222">
            <a:extLst>
              <a:ext uri="{FF2B5EF4-FFF2-40B4-BE49-F238E27FC236}">
                <a16:creationId xmlns:a16="http://schemas.microsoft.com/office/drawing/2014/main" id="{97E620AC-5936-4B18-B2AB-23CD7A489F5D}"/>
              </a:ext>
            </a:extLst>
          </p:cNvPr>
          <p:cNvSpPr txBox="1"/>
          <p:nvPr/>
        </p:nvSpPr>
        <p:spPr>
          <a:xfrm>
            <a:off x="7717270" y="579154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SR-IOV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(N3/N6,UPF)</a:t>
            </a:r>
            <a:endParaRPr lang="en-US" sz="600" dirty="0"/>
          </a:p>
        </p:txBody>
      </p:sp>
      <p:sp>
        <p:nvSpPr>
          <p:cNvPr id="295" name="Text 223">
            <a:extLst>
              <a:ext uri="{FF2B5EF4-FFF2-40B4-BE49-F238E27FC236}">
                <a16:creationId xmlns:a16="http://schemas.microsoft.com/office/drawing/2014/main" id="{43FB19A4-DD35-49A5-AF92-7114BCA223B7}"/>
              </a:ext>
            </a:extLst>
          </p:cNvPr>
          <p:cNvSpPr txBox="1"/>
          <p:nvPr/>
        </p:nvSpPr>
        <p:spPr>
          <a:xfrm>
            <a:off x="8355909" y="5783631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3000/3100 · vfio-pci(DPDK)</a:t>
            </a:r>
            <a:endParaRPr lang="en-US" sz="600" dirty="0"/>
          </a:p>
        </p:txBody>
      </p:sp>
      <p:sp>
        <p:nvSpPr>
          <p:cNvPr id="296" name="Text 226">
            <a:extLst>
              <a:ext uri="{FF2B5EF4-FFF2-40B4-BE49-F238E27FC236}">
                <a16:creationId xmlns:a16="http://schemas.microsoft.com/office/drawing/2014/main" id="{4B24C1F5-0EB4-4485-8DE3-30414B1B7A3C}"/>
              </a:ext>
            </a:extLst>
          </p:cNvPr>
          <p:cNvSpPr txBox="1"/>
          <p:nvPr/>
        </p:nvSpPr>
        <p:spPr>
          <a:xfrm>
            <a:off x="7708147" y="608212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97" name="Text 227">
            <a:extLst>
              <a:ext uri="{FF2B5EF4-FFF2-40B4-BE49-F238E27FC236}">
                <a16:creationId xmlns:a16="http://schemas.microsoft.com/office/drawing/2014/main" id="{186A65AB-0998-4620-871E-B2D279F731E6}"/>
              </a:ext>
            </a:extLst>
          </p:cNvPr>
          <p:cNvSpPr txBox="1"/>
          <p:nvPr/>
        </p:nvSpPr>
        <p:spPr>
          <a:xfrm>
            <a:off x="8355909" y="6089654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1200 · 172.32.20.0/24</a:t>
            </a:r>
            <a:endParaRPr lang="en-US" sz="600" dirty="0"/>
          </a:p>
        </p:txBody>
      </p:sp>
      <p:sp>
        <p:nvSpPr>
          <p:cNvPr id="298" name="Text 228">
            <a:extLst>
              <a:ext uri="{FF2B5EF4-FFF2-40B4-BE49-F238E27FC236}">
                <a16:creationId xmlns:a16="http://schemas.microsoft.com/office/drawing/2014/main" id="{12B87896-9598-4AAC-ADC0-A22BEB31D22D}"/>
              </a:ext>
            </a:extLst>
          </p:cNvPr>
          <p:cNvSpPr txBox="1"/>
          <p:nvPr/>
        </p:nvSpPr>
        <p:spPr>
          <a:xfrm>
            <a:off x="8236259" y="6433967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/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MGMT network: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/iDRAC +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 cluster C</a:t>
            </a:r>
            <a:endParaRPr lang="en-US" sz="600" dirty="0"/>
          </a:p>
        </p:txBody>
      </p:sp>
      <p:sp>
        <p:nvSpPr>
          <p:cNvPr id="299" name="Text 229">
            <a:extLst>
              <a:ext uri="{FF2B5EF4-FFF2-40B4-BE49-F238E27FC236}">
                <a16:creationId xmlns:a16="http://schemas.microsoft.com/office/drawing/2014/main" id="{834F22FA-D279-4547-A599-5BF3FCBB3568}"/>
              </a:ext>
            </a:extLst>
          </p:cNvPr>
          <p:cNvSpPr txBox="1"/>
          <p:nvPr/>
        </p:nvSpPr>
        <p:spPr>
          <a:xfrm>
            <a:off x="8236259" y="6501535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172.32.99.1</a:t>
            </a:r>
            <a:endParaRPr lang="en-US" sz="600" dirty="0"/>
          </a:p>
        </p:txBody>
      </p:sp>
      <p:sp>
        <p:nvSpPr>
          <p:cNvPr id="300" name="Text 230">
            <a:extLst>
              <a:ext uri="{FF2B5EF4-FFF2-40B4-BE49-F238E27FC236}">
                <a16:creationId xmlns:a16="http://schemas.microsoft.com/office/drawing/2014/main" id="{24A883C6-C79D-4B80-B47E-D9567B4D54B6}"/>
              </a:ext>
            </a:extLst>
          </p:cNvPr>
          <p:cNvSpPr txBox="1"/>
          <p:nvPr/>
        </p:nvSpPr>
        <p:spPr>
          <a:xfrm>
            <a:off x="9356732" y="6317140"/>
            <a:ext cx="387106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854F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Port</a:t>
            </a:r>
            <a:endParaRPr lang="en-US" sz="600" dirty="0"/>
          </a:p>
        </p:txBody>
      </p:sp>
      <p:sp>
        <p:nvSpPr>
          <p:cNvPr id="301" name="Shape 32">
            <a:extLst>
              <a:ext uri="{FF2B5EF4-FFF2-40B4-BE49-F238E27FC236}">
                <a16:creationId xmlns:a16="http://schemas.microsoft.com/office/drawing/2014/main" id="{A5B1FD3E-CA59-472E-8C59-17EC956D1FEE}"/>
              </a:ext>
            </a:extLst>
          </p:cNvPr>
          <p:cNvSpPr/>
          <p:nvPr/>
        </p:nvSpPr>
        <p:spPr>
          <a:xfrm>
            <a:off x="10313580" y="6144295"/>
            <a:ext cx="35191" cy="35191"/>
          </a:xfrm>
          <a:prstGeom prst="ellipse">
            <a:avLst/>
          </a:prstGeom>
          <a:solidFill>
            <a:srgbClr val="00B050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302" name="Shape 98">
            <a:extLst>
              <a:ext uri="{FF2B5EF4-FFF2-40B4-BE49-F238E27FC236}">
                <a16:creationId xmlns:a16="http://schemas.microsoft.com/office/drawing/2014/main" id="{E8791106-B937-4A75-A037-3DDEA8E41591}"/>
              </a:ext>
            </a:extLst>
          </p:cNvPr>
          <p:cNvSpPr/>
          <p:nvPr/>
        </p:nvSpPr>
        <p:spPr>
          <a:xfrm flipH="1">
            <a:off x="9535590" y="4792576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3" name="Shape 30">
            <a:extLst>
              <a:ext uri="{FF2B5EF4-FFF2-40B4-BE49-F238E27FC236}">
                <a16:creationId xmlns:a16="http://schemas.microsoft.com/office/drawing/2014/main" id="{85255EE7-FD17-4FEE-87BB-F21F51CD5D31}"/>
              </a:ext>
            </a:extLst>
          </p:cNvPr>
          <p:cNvSpPr/>
          <p:nvPr/>
        </p:nvSpPr>
        <p:spPr>
          <a:xfrm>
            <a:off x="10313580" y="528346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304" name="Shape 30">
            <a:extLst>
              <a:ext uri="{FF2B5EF4-FFF2-40B4-BE49-F238E27FC236}">
                <a16:creationId xmlns:a16="http://schemas.microsoft.com/office/drawing/2014/main" id="{C7128658-EFF7-4E0F-8D98-3300BED28BDD}"/>
              </a:ext>
            </a:extLst>
          </p:cNvPr>
          <p:cNvSpPr/>
          <p:nvPr/>
        </p:nvSpPr>
        <p:spPr>
          <a:xfrm>
            <a:off x="9517956" y="528346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305" name="Shape 98">
            <a:extLst>
              <a:ext uri="{FF2B5EF4-FFF2-40B4-BE49-F238E27FC236}">
                <a16:creationId xmlns:a16="http://schemas.microsoft.com/office/drawing/2014/main" id="{0D41DA53-C6D9-471D-AFFB-C6681561145A}"/>
              </a:ext>
            </a:extLst>
          </p:cNvPr>
          <p:cNvSpPr/>
          <p:nvPr/>
        </p:nvSpPr>
        <p:spPr>
          <a:xfrm flipH="1">
            <a:off x="8725883" y="4794752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6" name="Shape 30">
            <a:extLst>
              <a:ext uri="{FF2B5EF4-FFF2-40B4-BE49-F238E27FC236}">
                <a16:creationId xmlns:a16="http://schemas.microsoft.com/office/drawing/2014/main" id="{BA736F86-B1D8-44DD-B750-427D13468F6F}"/>
              </a:ext>
            </a:extLst>
          </p:cNvPr>
          <p:cNvSpPr/>
          <p:nvPr/>
        </p:nvSpPr>
        <p:spPr>
          <a:xfrm>
            <a:off x="8708249" y="528346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307" name="Shape 23">
            <a:extLst>
              <a:ext uri="{FF2B5EF4-FFF2-40B4-BE49-F238E27FC236}">
                <a16:creationId xmlns:a16="http://schemas.microsoft.com/office/drawing/2014/main" id="{C87A7C77-0287-47C7-B780-F10CEBFCAD2C}"/>
              </a:ext>
            </a:extLst>
          </p:cNvPr>
          <p:cNvSpPr/>
          <p:nvPr/>
        </p:nvSpPr>
        <p:spPr>
          <a:xfrm>
            <a:off x="3936651" y="3781393"/>
            <a:ext cx="4100107" cy="354366"/>
          </a:xfrm>
          <a:prstGeom prst="roundRect">
            <a:avLst>
              <a:gd name="adj" fmla="val 0"/>
            </a:avLst>
          </a:prstGeom>
          <a:solidFill>
            <a:srgbClr val="F3ECFB"/>
          </a:solidFill>
          <a:ln w="7332">
            <a:solidFill>
              <a:srgbClr val="534AB7"/>
            </a:solidFill>
            <a:prstDash val="solid"/>
          </a:ln>
        </p:spPr>
      </p:sp>
      <p:sp>
        <p:nvSpPr>
          <p:cNvPr id="318" name="Text 203">
            <a:extLst>
              <a:ext uri="{FF2B5EF4-FFF2-40B4-BE49-F238E27FC236}">
                <a16:creationId xmlns:a16="http://schemas.microsoft.com/office/drawing/2014/main" id="{55E4B43D-0261-49A0-A4C6-EEE6FD48ACDF}"/>
              </a:ext>
            </a:extLst>
          </p:cNvPr>
          <p:cNvSpPr txBox="1"/>
          <p:nvPr/>
        </p:nvSpPr>
        <p:spPr>
          <a:xfrm>
            <a:off x="4470957" y="3800602"/>
            <a:ext cx="3031495" cy="17952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Inter-Cluster Aggregation Switch</a:t>
            </a:r>
            <a:endParaRPr lang="en-US" sz="900" dirty="0"/>
          </a:p>
        </p:txBody>
      </p:sp>
      <p:sp>
        <p:nvSpPr>
          <p:cNvPr id="319" name="Text 204">
            <a:extLst>
              <a:ext uri="{FF2B5EF4-FFF2-40B4-BE49-F238E27FC236}">
                <a16:creationId xmlns:a16="http://schemas.microsoft.com/office/drawing/2014/main" id="{D0EFE8F2-588D-4BEC-934A-D5A02F5C53CE}"/>
              </a:ext>
            </a:extLst>
          </p:cNvPr>
          <p:cNvSpPr txBox="1"/>
          <p:nvPr/>
        </p:nvSpPr>
        <p:spPr>
          <a:xfrm>
            <a:off x="4109352" y="3989986"/>
            <a:ext cx="3790913" cy="140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A ↔ B/C L3 라우팅 (동일 서브넷 불필요, 단일 스위치) · Mgmt IP 172.30.1.1</a:t>
            </a:r>
            <a:endParaRPr lang="en-US" sz="800" dirty="0"/>
          </a:p>
        </p:txBody>
      </p:sp>
      <p:sp>
        <p:nvSpPr>
          <p:cNvPr id="320" name="Shape 20">
            <a:extLst>
              <a:ext uri="{FF2B5EF4-FFF2-40B4-BE49-F238E27FC236}">
                <a16:creationId xmlns:a16="http://schemas.microsoft.com/office/drawing/2014/main" id="{34231D2D-301A-45EC-A7D2-8DC210EB73C1}"/>
              </a:ext>
            </a:extLst>
          </p:cNvPr>
          <p:cNvSpPr/>
          <p:nvPr/>
        </p:nvSpPr>
        <p:spPr>
          <a:xfrm>
            <a:off x="8314387" y="2716906"/>
            <a:ext cx="1755033" cy="31672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332">
            <a:solidFill>
              <a:srgbClr val="5F5E5A"/>
            </a:solidFill>
            <a:prstDash val="solid"/>
          </a:ln>
        </p:spPr>
      </p:sp>
      <p:sp>
        <p:nvSpPr>
          <p:cNvPr id="321" name="Shape 21">
            <a:extLst>
              <a:ext uri="{FF2B5EF4-FFF2-40B4-BE49-F238E27FC236}">
                <a16:creationId xmlns:a16="http://schemas.microsoft.com/office/drawing/2014/main" id="{D524D73F-0F0F-454E-BE0A-C569319DF660}"/>
              </a:ext>
            </a:extLst>
          </p:cNvPr>
          <p:cNvSpPr/>
          <p:nvPr/>
        </p:nvSpPr>
        <p:spPr>
          <a:xfrm>
            <a:off x="9680310" y="3441598"/>
            <a:ext cx="1682296" cy="31672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332">
            <a:solidFill>
              <a:srgbClr val="5F5E5A"/>
            </a:solidFill>
            <a:prstDash val="solid"/>
          </a:ln>
        </p:spPr>
      </p:sp>
      <p:sp>
        <p:nvSpPr>
          <p:cNvPr id="324" name="Text 196">
            <a:extLst>
              <a:ext uri="{FF2B5EF4-FFF2-40B4-BE49-F238E27FC236}">
                <a16:creationId xmlns:a16="http://schemas.microsoft.com/office/drawing/2014/main" id="{C3EAB912-E371-4E1E-8BAB-BAFFAABF6CAF}"/>
              </a:ext>
            </a:extLst>
          </p:cNvPr>
          <p:cNvSpPr txBox="1"/>
          <p:nvPr/>
        </p:nvSpPr>
        <p:spPr>
          <a:xfrm>
            <a:off x="8664032" y="2730032"/>
            <a:ext cx="1055743" cy="158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Harbor Registry</a:t>
            </a:r>
            <a:endParaRPr lang="en-US" sz="800" dirty="0"/>
          </a:p>
        </p:txBody>
      </p:sp>
      <p:sp>
        <p:nvSpPr>
          <p:cNvPr id="325" name="Text 197">
            <a:extLst>
              <a:ext uri="{FF2B5EF4-FFF2-40B4-BE49-F238E27FC236}">
                <a16:creationId xmlns:a16="http://schemas.microsoft.com/office/drawing/2014/main" id="{25B3D30E-1A22-4327-9B1F-E77F3883C794}"/>
              </a:ext>
            </a:extLst>
          </p:cNvPr>
          <p:cNvSpPr txBox="1"/>
          <p:nvPr/>
        </p:nvSpPr>
        <p:spPr>
          <a:xfrm>
            <a:off x="8360480" y="2888594"/>
            <a:ext cx="1662846" cy="140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RHOCP/Operator/CNF Image 공용</a:t>
            </a:r>
            <a:endParaRPr lang="en-US" sz="800" dirty="0"/>
          </a:p>
        </p:txBody>
      </p:sp>
      <p:sp>
        <p:nvSpPr>
          <p:cNvPr id="326" name="Text 198">
            <a:extLst>
              <a:ext uri="{FF2B5EF4-FFF2-40B4-BE49-F238E27FC236}">
                <a16:creationId xmlns:a16="http://schemas.microsoft.com/office/drawing/2014/main" id="{37F81400-4E25-438E-8289-CC17CBD7008D}"/>
              </a:ext>
            </a:extLst>
          </p:cNvPr>
          <p:cNvSpPr txBox="1"/>
          <p:nvPr/>
        </p:nvSpPr>
        <p:spPr>
          <a:xfrm>
            <a:off x="9923204" y="3467603"/>
            <a:ext cx="1196508" cy="158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Storage Cluster</a:t>
            </a:r>
            <a:endParaRPr lang="en-US" sz="800" dirty="0"/>
          </a:p>
        </p:txBody>
      </p:sp>
      <p:sp>
        <p:nvSpPr>
          <p:cNvPr id="327" name="Text 199">
            <a:extLst>
              <a:ext uri="{FF2B5EF4-FFF2-40B4-BE49-F238E27FC236}">
                <a16:creationId xmlns:a16="http://schemas.microsoft.com/office/drawing/2014/main" id="{1608CFBD-2275-46A7-B35F-C0FF9C4525C4}"/>
              </a:ext>
            </a:extLst>
          </p:cNvPr>
          <p:cNvSpPr txBox="1"/>
          <p:nvPr/>
        </p:nvSpPr>
        <p:spPr>
          <a:xfrm>
            <a:off x="9923204" y="3630141"/>
            <a:ext cx="1196508" cy="158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Harbor 백엔드 (Ceph, 공용)</a:t>
            </a:r>
            <a:endParaRPr lang="en-US" sz="800" dirty="0"/>
          </a:p>
        </p:txBody>
      </p:sp>
      <p:sp>
        <p:nvSpPr>
          <p:cNvPr id="328" name="Shape 11">
            <a:extLst>
              <a:ext uri="{FF2B5EF4-FFF2-40B4-BE49-F238E27FC236}">
                <a16:creationId xmlns:a16="http://schemas.microsoft.com/office/drawing/2014/main" id="{9207FCE9-AE8F-4797-A0E3-9817FCFBC54B}"/>
              </a:ext>
            </a:extLst>
          </p:cNvPr>
          <p:cNvSpPr/>
          <p:nvPr/>
        </p:nvSpPr>
        <p:spPr>
          <a:xfrm>
            <a:off x="4633730" y="5985168"/>
            <a:ext cx="860323" cy="27474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29" name="Text 183">
            <a:extLst>
              <a:ext uri="{FF2B5EF4-FFF2-40B4-BE49-F238E27FC236}">
                <a16:creationId xmlns:a16="http://schemas.microsoft.com/office/drawing/2014/main" id="{72537836-37B1-4AA6-BAF0-BA705DC8F115}"/>
              </a:ext>
            </a:extLst>
          </p:cNvPr>
          <p:cNvSpPr txBox="1"/>
          <p:nvPr/>
        </p:nvSpPr>
        <p:spPr>
          <a:xfrm>
            <a:off x="4656183" y="6029901"/>
            <a:ext cx="815417" cy="9008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Storage-B (CSI)</a:t>
            </a:r>
            <a:endParaRPr lang="en-US" sz="800" dirty="0"/>
          </a:p>
        </p:txBody>
      </p:sp>
      <p:sp>
        <p:nvSpPr>
          <p:cNvPr id="330" name="Text 184">
            <a:extLst>
              <a:ext uri="{FF2B5EF4-FFF2-40B4-BE49-F238E27FC236}">
                <a16:creationId xmlns:a16="http://schemas.microsoft.com/office/drawing/2014/main" id="{F05D8734-60B0-4D40-911F-E0D293233D24}"/>
              </a:ext>
            </a:extLst>
          </p:cNvPr>
          <p:cNvSpPr txBox="1"/>
          <p:nvPr/>
        </p:nvSpPr>
        <p:spPr>
          <a:xfrm>
            <a:off x="4610532" y="6107322"/>
            <a:ext cx="906718" cy="10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B 전용</a:t>
            </a:r>
            <a:endParaRPr lang="en-US" sz="800" dirty="0"/>
          </a:p>
        </p:txBody>
      </p:sp>
      <p:sp>
        <p:nvSpPr>
          <p:cNvPr id="331" name="Shape 11">
            <a:extLst>
              <a:ext uri="{FF2B5EF4-FFF2-40B4-BE49-F238E27FC236}">
                <a16:creationId xmlns:a16="http://schemas.microsoft.com/office/drawing/2014/main" id="{755D933C-45CE-4ACE-BAC3-B45B8F542E6B}"/>
              </a:ext>
            </a:extLst>
          </p:cNvPr>
          <p:cNvSpPr/>
          <p:nvPr/>
        </p:nvSpPr>
        <p:spPr>
          <a:xfrm>
            <a:off x="10488658" y="6018745"/>
            <a:ext cx="860323" cy="27474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32" name="Text 183">
            <a:extLst>
              <a:ext uri="{FF2B5EF4-FFF2-40B4-BE49-F238E27FC236}">
                <a16:creationId xmlns:a16="http://schemas.microsoft.com/office/drawing/2014/main" id="{3719B5B1-8060-4308-A3B4-0060E18913A5}"/>
              </a:ext>
            </a:extLst>
          </p:cNvPr>
          <p:cNvSpPr txBox="1"/>
          <p:nvPr/>
        </p:nvSpPr>
        <p:spPr>
          <a:xfrm>
            <a:off x="10511111" y="6063478"/>
            <a:ext cx="815417" cy="9008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Storage-C (CSI)</a:t>
            </a:r>
            <a:endParaRPr lang="en-US" sz="800" dirty="0"/>
          </a:p>
        </p:txBody>
      </p:sp>
      <p:sp>
        <p:nvSpPr>
          <p:cNvPr id="333" name="Text 184">
            <a:extLst>
              <a:ext uri="{FF2B5EF4-FFF2-40B4-BE49-F238E27FC236}">
                <a16:creationId xmlns:a16="http://schemas.microsoft.com/office/drawing/2014/main" id="{CDCE8425-B16B-4F78-96B7-9664022A741E}"/>
              </a:ext>
            </a:extLst>
          </p:cNvPr>
          <p:cNvSpPr txBox="1"/>
          <p:nvPr/>
        </p:nvSpPr>
        <p:spPr>
          <a:xfrm>
            <a:off x="10455199" y="6173608"/>
            <a:ext cx="906718" cy="10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C 전용</a:t>
            </a:r>
            <a:endParaRPr lang="en-US" sz="800" dirty="0"/>
          </a:p>
        </p:txBody>
      </p:sp>
      <p:sp>
        <p:nvSpPr>
          <p:cNvPr id="334" name="Shape 70">
            <a:extLst>
              <a:ext uri="{FF2B5EF4-FFF2-40B4-BE49-F238E27FC236}">
                <a16:creationId xmlns:a16="http://schemas.microsoft.com/office/drawing/2014/main" id="{9871E599-B878-479D-BB99-C4626093E590}"/>
              </a:ext>
            </a:extLst>
          </p:cNvPr>
          <p:cNvSpPr/>
          <p:nvPr/>
        </p:nvSpPr>
        <p:spPr>
          <a:xfrm>
            <a:off x="6789824" y="2225480"/>
            <a:ext cx="0" cy="924736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5" name="Shape 70">
            <a:extLst>
              <a:ext uri="{FF2B5EF4-FFF2-40B4-BE49-F238E27FC236}">
                <a16:creationId xmlns:a16="http://schemas.microsoft.com/office/drawing/2014/main" id="{1D91C928-8C26-4357-8DCD-B5C61A088968}"/>
              </a:ext>
            </a:extLst>
          </p:cNvPr>
          <p:cNvSpPr/>
          <p:nvPr/>
        </p:nvSpPr>
        <p:spPr>
          <a:xfrm>
            <a:off x="4359435" y="2253759"/>
            <a:ext cx="0" cy="892492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6" name="Shape 70">
            <a:extLst>
              <a:ext uri="{FF2B5EF4-FFF2-40B4-BE49-F238E27FC236}">
                <a16:creationId xmlns:a16="http://schemas.microsoft.com/office/drawing/2014/main" id="{D76A3C27-0B3A-4E11-9B05-350ED340E398}"/>
              </a:ext>
            </a:extLst>
          </p:cNvPr>
          <p:cNvSpPr/>
          <p:nvPr/>
        </p:nvSpPr>
        <p:spPr>
          <a:xfrm>
            <a:off x="3477038" y="2247067"/>
            <a:ext cx="0" cy="892492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7" name="Shape 70">
            <a:extLst>
              <a:ext uri="{FF2B5EF4-FFF2-40B4-BE49-F238E27FC236}">
                <a16:creationId xmlns:a16="http://schemas.microsoft.com/office/drawing/2014/main" id="{EF63FB8A-9B85-4434-AAE9-A58988A27893}"/>
              </a:ext>
            </a:extLst>
          </p:cNvPr>
          <p:cNvSpPr/>
          <p:nvPr/>
        </p:nvSpPr>
        <p:spPr>
          <a:xfrm>
            <a:off x="2629374" y="2247067"/>
            <a:ext cx="0" cy="892492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9" name="Shape 58">
            <a:extLst>
              <a:ext uri="{FF2B5EF4-FFF2-40B4-BE49-F238E27FC236}">
                <a16:creationId xmlns:a16="http://schemas.microsoft.com/office/drawing/2014/main" id="{5D940BBF-C574-4A1B-BCA2-4F843BFCB04D}"/>
              </a:ext>
            </a:extLst>
          </p:cNvPr>
          <p:cNvSpPr/>
          <p:nvPr/>
        </p:nvSpPr>
        <p:spPr>
          <a:xfrm>
            <a:off x="3692256" y="2235508"/>
            <a:ext cx="0" cy="63284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1" name="Shape 58">
            <a:extLst>
              <a:ext uri="{FF2B5EF4-FFF2-40B4-BE49-F238E27FC236}">
                <a16:creationId xmlns:a16="http://schemas.microsoft.com/office/drawing/2014/main" id="{CCBCC845-3D49-4EA0-8AC4-E849E3813D34}"/>
              </a:ext>
            </a:extLst>
          </p:cNvPr>
          <p:cNvSpPr/>
          <p:nvPr/>
        </p:nvSpPr>
        <p:spPr>
          <a:xfrm flipH="1">
            <a:off x="5060275" y="2684858"/>
            <a:ext cx="0" cy="18349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3" name="Shape 58">
            <a:extLst>
              <a:ext uri="{FF2B5EF4-FFF2-40B4-BE49-F238E27FC236}">
                <a16:creationId xmlns:a16="http://schemas.microsoft.com/office/drawing/2014/main" id="{0CF46F8F-BA06-4626-A038-F336E3080ABA}"/>
              </a:ext>
            </a:extLst>
          </p:cNvPr>
          <p:cNvSpPr/>
          <p:nvPr/>
        </p:nvSpPr>
        <p:spPr>
          <a:xfrm>
            <a:off x="6047462" y="2243588"/>
            <a:ext cx="0" cy="62476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0" name="Shape 58">
            <a:extLst>
              <a:ext uri="{FF2B5EF4-FFF2-40B4-BE49-F238E27FC236}">
                <a16:creationId xmlns:a16="http://schemas.microsoft.com/office/drawing/2014/main" id="{BC0D0142-36BA-4A69-9EB1-CEFF3150900F}"/>
              </a:ext>
            </a:extLst>
          </p:cNvPr>
          <p:cNvSpPr/>
          <p:nvPr/>
        </p:nvSpPr>
        <p:spPr>
          <a:xfrm>
            <a:off x="6931393" y="2221966"/>
            <a:ext cx="0" cy="646390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1" name="Shape 65">
            <a:extLst>
              <a:ext uri="{FF2B5EF4-FFF2-40B4-BE49-F238E27FC236}">
                <a16:creationId xmlns:a16="http://schemas.microsoft.com/office/drawing/2014/main" id="{73DF3202-B8A3-44C6-A318-96217D218808}"/>
              </a:ext>
            </a:extLst>
          </p:cNvPr>
          <p:cNvSpPr/>
          <p:nvPr/>
        </p:nvSpPr>
        <p:spPr>
          <a:xfrm>
            <a:off x="7080648" y="2214995"/>
            <a:ext cx="0" cy="796424"/>
          </a:xfrm>
          <a:prstGeom prst="line">
            <a:avLst/>
          </a:prstGeom>
          <a:noFill/>
          <a:ln w="8798">
            <a:solidFill>
              <a:srgbClr val="0F6E56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2" name="Text 190">
            <a:extLst>
              <a:ext uri="{FF2B5EF4-FFF2-40B4-BE49-F238E27FC236}">
                <a16:creationId xmlns:a16="http://schemas.microsoft.com/office/drawing/2014/main" id="{D9DE9E08-6E35-46D6-A408-FCA4F4E0EFC2}"/>
              </a:ext>
            </a:extLst>
          </p:cNvPr>
          <p:cNvSpPr txBox="1"/>
          <p:nvPr/>
        </p:nvSpPr>
        <p:spPr>
          <a:xfrm>
            <a:off x="2639952" y="2921775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1200 · 172.30.20.0/24</a:t>
            </a:r>
            <a:endParaRPr lang="en-US" sz="800" dirty="0"/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D1F6E120-B8F4-4BD6-8721-E5E31ADD94CE}"/>
              </a:ext>
            </a:extLst>
          </p:cNvPr>
          <p:cNvCxnSpPr>
            <a:cxnSpLocks/>
            <a:stCxn id="66" idx="1"/>
          </p:cNvCxnSpPr>
          <p:nvPr/>
        </p:nvCxnSpPr>
        <p:spPr>
          <a:xfrm>
            <a:off x="7367739" y="2864924"/>
            <a:ext cx="0" cy="916469"/>
          </a:xfrm>
          <a:prstGeom prst="line">
            <a:avLst/>
          </a:prstGeom>
          <a:ln w="19050">
            <a:solidFill>
              <a:srgbClr val="7030A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 216">
            <a:extLst>
              <a:ext uri="{FF2B5EF4-FFF2-40B4-BE49-F238E27FC236}">
                <a16:creationId xmlns:a16="http://schemas.microsoft.com/office/drawing/2014/main" id="{7D291AC3-D3DD-41D7-A808-6C80ABDA77DE}"/>
              </a:ext>
            </a:extLst>
          </p:cNvPr>
          <p:cNvSpPr txBox="1"/>
          <p:nvPr/>
        </p:nvSpPr>
        <p:spPr>
          <a:xfrm>
            <a:off x="7081288" y="2630406"/>
            <a:ext cx="497396" cy="1461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 Switch </a:t>
            </a:r>
            <a:endParaRPr lang="en-US" sz="600" dirty="0"/>
          </a:p>
        </p:txBody>
      </p:sp>
      <p:cxnSp>
        <p:nvCxnSpPr>
          <p:cNvPr id="354" name="직선 연결선 353">
            <a:extLst>
              <a:ext uri="{FF2B5EF4-FFF2-40B4-BE49-F238E27FC236}">
                <a16:creationId xmlns:a16="http://schemas.microsoft.com/office/drawing/2014/main" id="{795BC0B0-A7BA-4668-8957-BA39AAF0E765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4921315" y="4139340"/>
            <a:ext cx="0" cy="1139341"/>
          </a:xfrm>
          <a:prstGeom prst="line">
            <a:avLst/>
          </a:prstGeom>
          <a:ln w="19050">
            <a:solidFill>
              <a:srgbClr val="7030A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직선 연결선 354">
            <a:extLst>
              <a:ext uri="{FF2B5EF4-FFF2-40B4-BE49-F238E27FC236}">
                <a16:creationId xmlns:a16="http://schemas.microsoft.com/office/drawing/2014/main" id="{C69D926D-A992-494A-B718-3B158D74361E}"/>
              </a:ext>
            </a:extLst>
          </p:cNvPr>
          <p:cNvCxnSpPr>
            <a:cxnSpLocks/>
          </p:cNvCxnSpPr>
          <p:nvPr/>
        </p:nvCxnSpPr>
        <p:spPr>
          <a:xfrm>
            <a:off x="7652960" y="4137156"/>
            <a:ext cx="9729" cy="1181500"/>
          </a:xfrm>
          <a:prstGeom prst="line">
            <a:avLst/>
          </a:prstGeom>
          <a:ln w="19050">
            <a:solidFill>
              <a:srgbClr val="7030A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7C952218-19D6-4A3D-A3F2-10E69CCE81E5}"/>
              </a:ext>
            </a:extLst>
          </p:cNvPr>
          <p:cNvCxnSpPr>
            <a:stCxn id="307" idx="3"/>
            <a:endCxn id="325" idx="2"/>
          </p:cNvCxnSpPr>
          <p:nvPr/>
        </p:nvCxnSpPr>
        <p:spPr>
          <a:xfrm flipV="1">
            <a:off x="8036758" y="3029149"/>
            <a:ext cx="1155145" cy="929427"/>
          </a:xfrm>
          <a:prstGeom prst="bentConnector2">
            <a:avLst/>
          </a:prstGeom>
          <a:ln w="19050">
            <a:solidFill>
              <a:srgbClr val="7030A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연결선: 꺾임 225">
            <a:extLst>
              <a:ext uri="{FF2B5EF4-FFF2-40B4-BE49-F238E27FC236}">
                <a16:creationId xmlns:a16="http://schemas.microsoft.com/office/drawing/2014/main" id="{707F9171-2530-45A5-9BD2-CC9D1DDA1511}"/>
              </a:ext>
            </a:extLst>
          </p:cNvPr>
          <p:cNvCxnSpPr>
            <a:stCxn id="320" idx="3"/>
            <a:endCxn id="321" idx="0"/>
          </p:cNvCxnSpPr>
          <p:nvPr/>
        </p:nvCxnSpPr>
        <p:spPr>
          <a:xfrm>
            <a:off x="10069420" y="2875268"/>
            <a:ext cx="452038" cy="566330"/>
          </a:xfrm>
          <a:prstGeom prst="bentConnector2">
            <a:avLst/>
          </a:prstGeom>
          <a:ln>
            <a:solidFill>
              <a:srgbClr val="FF0066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Text 202">
            <a:extLst>
              <a:ext uri="{FF2B5EF4-FFF2-40B4-BE49-F238E27FC236}">
                <a16:creationId xmlns:a16="http://schemas.microsoft.com/office/drawing/2014/main" id="{86E3682F-4D5A-49DE-9890-3486AC9808B0}"/>
              </a:ext>
            </a:extLst>
          </p:cNvPr>
          <p:cNvSpPr txBox="1"/>
          <p:nvPr/>
        </p:nvSpPr>
        <p:spPr>
          <a:xfrm>
            <a:off x="9655615" y="3195012"/>
            <a:ext cx="1682295" cy="210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Storage Dedicated Network</a:t>
            </a:r>
            <a:endParaRPr lang="en-US" sz="900" dirty="0"/>
          </a:p>
        </p:txBody>
      </p:sp>
      <p:sp>
        <p:nvSpPr>
          <p:cNvPr id="357" name="Text 217">
            <a:extLst>
              <a:ext uri="{FF2B5EF4-FFF2-40B4-BE49-F238E27FC236}">
                <a16:creationId xmlns:a16="http://schemas.microsoft.com/office/drawing/2014/main" id="{1A35B66D-A94C-4EA4-AC89-1E258B7FCF1D}"/>
              </a:ext>
            </a:extLst>
          </p:cNvPr>
          <p:cNvSpPr txBox="1"/>
          <p:nvPr/>
        </p:nvSpPr>
        <p:spPr>
          <a:xfrm>
            <a:off x="8527968" y="2569380"/>
            <a:ext cx="1327096" cy="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</a:rPr>
              <a:t>VIP: 172.30.0.10:8443</a:t>
            </a:r>
            <a:endParaRPr lang="en-US" sz="800" dirty="0"/>
          </a:p>
        </p:txBody>
      </p:sp>
      <p:sp>
        <p:nvSpPr>
          <p:cNvPr id="358" name="Text 26">
            <a:extLst>
              <a:ext uri="{FF2B5EF4-FFF2-40B4-BE49-F238E27FC236}">
                <a16:creationId xmlns:a16="http://schemas.microsoft.com/office/drawing/2014/main" id="{56E8AA6B-BF8F-47B7-A69F-0ADCAB396894}"/>
              </a:ext>
            </a:extLst>
          </p:cNvPr>
          <p:cNvSpPr txBox="1"/>
          <p:nvPr/>
        </p:nvSpPr>
        <p:spPr>
          <a:xfrm>
            <a:off x="7814838" y="3069191"/>
            <a:ext cx="1755033" cy="7911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 </a:t>
            </a:r>
            <a:r>
              <a:rPr lang="en-US" sz="800" b="1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(Static Route/BGP)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172.30.0.0/24 via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Inter-Cluster Switch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각 ToR/Leaf Switch에 등록</a:t>
            </a:r>
            <a:endParaRPr lang="en-US" sz="800" dirty="0"/>
          </a:p>
        </p:txBody>
      </p:sp>
      <p:sp>
        <p:nvSpPr>
          <p:cNvPr id="359" name="Shape 24">
            <a:extLst>
              <a:ext uri="{FF2B5EF4-FFF2-40B4-BE49-F238E27FC236}">
                <a16:creationId xmlns:a16="http://schemas.microsoft.com/office/drawing/2014/main" id="{10F6D5B9-9BF0-4806-A457-0BCD42D41BDE}"/>
              </a:ext>
            </a:extLst>
          </p:cNvPr>
          <p:cNvSpPr/>
          <p:nvPr/>
        </p:nvSpPr>
        <p:spPr>
          <a:xfrm>
            <a:off x="5900290" y="2450951"/>
            <a:ext cx="642284" cy="333558"/>
          </a:xfrm>
          <a:prstGeom prst="roundRect">
            <a:avLst>
              <a:gd name="adj" fmla="val 15000"/>
            </a:avLst>
          </a:prstGeom>
          <a:solidFill>
            <a:srgbClr val="FFFF00"/>
          </a:solidFill>
          <a:ln w="7332">
            <a:solidFill>
              <a:srgbClr val="534AB7"/>
            </a:solidFill>
            <a:prstDash val="solid"/>
          </a:ln>
        </p:spPr>
      </p:sp>
      <p:sp>
        <p:nvSpPr>
          <p:cNvPr id="360" name="Text 206">
            <a:extLst>
              <a:ext uri="{FF2B5EF4-FFF2-40B4-BE49-F238E27FC236}">
                <a16:creationId xmlns:a16="http://schemas.microsoft.com/office/drawing/2014/main" id="{92720864-9C17-4D60-9F26-3817364675B9}"/>
              </a:ext>
            </a:extLst>
          </p:cNvPr>
          <p:cNvSpPr txBox="1"/>
          <p:nvPr/>
        </p:nvSpPr>
        <p:spPr>
          <a:xfrm>
            <a:off x="6006885" y="2487592"/>
            <a:ext cx="466797" cy="269014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Ingress LB</a:t>
            </a:r>
            <a:endParaRPr lang="en-US" sz="800" dirty="0"/>
          </a:p>
        </p:txBody>
      </p:sp>
      <p:cxnSp>
        <p:nvCxnSpPr>
          <p:cNvPr id="361" name="연결선: 꺾임 360">
            <a:extLst>
              <a:ext uri="{FF2B5EF4-FFF2-40B4-BE49-F238E27FC236}">
                <a16:creationId xmlns:a16="http://schemas.microsoft.com/office/drawing/2014/main" id="{57EBA7C6-17F4-434D-A909-D02E856A39EC}"/>
              </a:ext>
            </a:extLst>
          </p:cNvPr>
          <p:cNvCxnSpPr>
            <a:cxnSpLocks/>
            <a:endCxn id="202" idx="2"/>
          </p:cNvCxnSpPr>
          <p:nvPr/>
        </p:nvCxnSpPr>
        <p:spPr>
          <a:xfrm rot="16200000" flipV="1">
            <a:off x="5342098" y="1890280"/>
            <a:ext cx="555054" cy="171906"/>
          </a:xfrm>
          <a:prstGeom prst="bentConnector3">
            <a:avLst>
              <a:gd name="adj1" fmla="val -19266"/>
            </a:avLst>
          </a:prstGeom>
          <a:noFill/>
          <a:ln w="11730">
            <a:solidFill>
              <a:srgbClr val="C0272D"/>
            </a:solidFill>
            <a:prstDash val="solid"/>
            <a:headEnd type="oval"/>
            <a:tailEnd type="triangle"/>
          </a:ln>
        </p:spPr>
      </p:cxnSp>
      <p:cxnSp>
        <p:nvCxnSpPr>
          <p:cNvPr id="364" name="직선 화살표 연결선 363">
            <a:extLst>
              <a:ext uri="{FF2B5EF4-FFF2-40B4-BE49-F238E27FC236}">
                <a16:creationId xmlns:a16="http://schemas.microsoft.com/office/drawing/2014/main" id="{29053FDB-7BAD-42CA-883B-05E164FB204A}"/>
              </a:ext>
            </a:extLst>
          </p:cNvPr>
          <p:cNvCxnSpPr>
            <a:cxnSpLocks/>
            <a:stCxn id="202" idx="0"/>
            <a:endCxn id="7" idx="2"/>
          </p:cNvCxnSpPr>
          <p:nvPr/>
        </p:nvCxnSpPr>
        <p:spPr>
          <a:xfrm flipH="1" flipV="1">
            <a:off x="5533671" y="1343949"/>
            <a:ext cx="1" cy="151100"/>
          </a:xfrm>
          <a:prstGeom prst="straightConnector1">
            <a:avLst/>
          </a:prstGeom>
          <a:noFill/>
          <a:ln w="11730">
            <a:solidFill>
              <a:srgbClr val="C0272D"/>
            </a:solidFill>
            <a:prstDash val="solid"/>
            <a:headEnd type="none"/>
            <a:tailEnd type="triangle"/>
          </a:ln>
        </p:spPr>
      </p:cxnSp>
      <p:cxnSp>
        <p:nvCxnSpPr>
          <p:cNvPr id="370" name="연결선: 꺾임 369">
            <a:extLst>
              <a:ext uri="{FF2B5EF4-FFF2-40B4-BE49-F238E27FC236}">
                <a16:creationId xmlns:a16="http://schemas.microsoft.com/office/drawing/2014/main" id="{6A33DFE1-5A06-4D1C-B670-B50DBE0ED85B}"/>
              </a:ext>
            </a:extLst>
          </p:cNvPr>
          <p:cNvCxnSpPr>
            <a:cxnSpLocks/>
            <a:stCxn id="6" idx="2"/>
            <a:endCxn id="212" idx="1"/>
          </p:cNvCxnSpPr>
          <p:nvPr/>
        </p:nvCxnSpPr>
        <p:spPr>
          <a:xfrm rot="16200000" flipH="1">
            <a:off x="376318" y="2629522"/>
            <a:ext cx="2144680" cy="1738375"/>
          </a:xfrm>
          <a:prstGeom prst="bentConnector2">
            <a:avLst/>
          </a:prstGeom>
          <a:noFill/>
          <a:ln w="9287">
            <a:solidFill>
              <a:srgbClr val="C0272D"/>
            </a:solidFill>
            <a:prstDash val="dash"/>
            <a:tailEnd type="triangle"/>
          </a:ln>
        </p:spPr>
      </p:cxnSp>
      <p:cxnSp>
        <p:nvCxnSpPr>
          <p:cNvPr id="371" name="연결선: 꺾임 370">
            <a:extLst>
              <a:ext uri="{FF2B5EF4-FFF2-40B4-BE49-F238E27FC236}">
                <a16:creationId xmlns:a16="http://schemas.microsoft.com/office/drawing/2014/main" id="{D0C5F798-7EEC-45F7-BEF6-75AD054B9436}"/>
              </a:ext>
            </a:extLst>
          </p:cNvPr>
          <p:cNvCxnSpPr>
            <a:cxnSpLocks/>
            <a:stCxn id="6" idx="2"/>
            <a:endCxn id="9" idx="1"/>
          </p:cNvCxnSpPr>
          <p:nvPr/>
        </p:nvCxnSpPr>
        <p:spPr>
          <a:xfrm rot="5400000" flipH="1" flipV="1">
            <a:off x="1329077" y="1332289"/>
            <a:ext cx="344475" cy="1843688"/>
          </a:xfrm>
          <a:prstGeom prst="bentConnector4">
            <a:avLst>
              <a:gd name="adj1" fmla="val -66362"/>
              <a:gd name="adj2" fmla="val 42336"/>
            </a:avLst>
          </a:prstGeom>
          <a:noFill/>
          <a:ln w="9287">
            <a:solidFill>
              <a:srgbClr val="C0272D"/>
            </a:solidFill>
            <a:prstDash val="dash"/>
            <a:tailEnd type="triangle"/>
          </a:ln>
        </p:spPr>
      </p:cxnSp>
      <p:sp>
        <p:nvSpPr>
          <p:cNvPr id="379" name="Text 171">
            <a:extLst>
              <a:ext uri="{FF2B5EF4-FFF2-40B4-BE49-F238E27FC236}">
                <a16:creationId xmlns:a16="http://schemas.microsoft.com/office/drawing/2014/main" id="{C738C139-AE96-4A7C-9F5D-EBB2D9432F8D}"/>
              </a:ext>
            </a:extLst>
          </p:cNvPr>
          <p:cNvSpPr txBox="1"/>
          <p:nvPr/>
        </p:nvSpPr>
        <p:spPr>
          <a:xfrm>
            <a:off x="29995" y="2789615"/>
            <a:ext cx="544124" cy="1574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r>
              <a:rPr lang="en-US" altLang="ko-KR" dirty="0"/>
              <a:t>NMS</a:t>
            </a:r>
            <a:r>
              <a:rPr lang="ko-KR" altLang="en-US" dirty="0"/>
              <a:t>운용망</a:t>
            </a:r>
            <a:endParaRPr lang="en-US" dirty="0"/>
          </a:p>
        </p:txBody>
      </p:sp>
      <p:sp>
        <p:nvSpPr>
          <p:cNvPr id="380" name="Text 171">
            <a:extLst>
              <a:ext uri="{FF2B5EF4-FFF2-40B4-BE49-F238E27FC236}">
                <a16:creationId xmlns:a16="http://schemas.microsoft.com/office/drawing/2014/main" id="{15975D00-218B-4BF7-865D-0DA95BE3E8CE}"/>
              </a:ext>
            </a:extLst>
          </p:cNvPr>
          <p:cNvSpPr txBox="1"/>
          <p:nvPr/>
        </p:nvSpPr>
        <p:spPr>
          <a:xfrm>
            <a:off x="6476315" y="1237449"/>
            <a:ext cx="544124" cy="1574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r>
              <a:rPr lang="en-US" altLang="ko-KR" dirty="0"/>
              <a:t>NMS</a:t>
            </a:r>
            <a:r>
              <a:rPr lang="ko-KR" altLang="en-US" dirty="0"/>
              <a:t>운용망</a:t>
            </a:r>
            <a:endParaRPr lang="en-US" dirty="0"/>
          </a:p>
        </p:txBody>
      </p:sp>
      <p:sp>
        <p:nvSpPr>
          <p:cNvPr id="381" name="Shape 142">
            <a:extLst>
              <a:ext uri="{FF2B5EF4-FFF2-40B4-BE49-F238E27FC236}">
                <a16:creationId xmlns:a16="http://schemas.microsoft.com/office/drawing/2014/main" id="{655C7F5F-2C09-4DF4-A92E-27BE87909BDB}"/>
              </a:ext>
            </a:extLst>
          </p:cNvPr>
          <p:cNvSpPr/>
          <p:nvPr/>
        </p:nvSpPr>
        <p:spPr>
          <a:xfrm>
            <a:off x="5248401" y="2679170"/>
            <a:ext cx="0" cy="1091572"/>
          </a:xfrm>
          <a:prstGeom prst="line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sp>
      <p:cxnSp>
        <p:nvCxnSpPr>
          <p:cNvPr id="383" name="연결선: 꺾임 382">
            <a:extLst>
              <a:ext uri="{FF2B5EF4-FFF2-40B4-BE49-F238E27FC236}">
                <a16:creationId xmlns:a16="http://schemas.microsoft.com/office/drawing/2014/main" id="{D94B3F01-C454-4434-8259-4152B38977A5}"/>
              </a:ext>
            </a:extLst>
          </p:cNvPr>
          <p:cNvCxnSpPr>
            <a:cxnSpLocks/>
            <a:stCxn id="307" idx="1"/>
            <a:endCxn id="28" idx="0"/>
          </p:cNvCxnSpPr>
          <p:nvPr/>
        </p:nvCxnSpPr>
        <p:spPr>
          <a:xfrm rot="10800000" flipV="1">
            <a:off x="2669761" y="3958576"/>
            <a:ext cx="1266891" cy="532264"/>
          </a:xfrm>
          <a:prstGeom prst="bentConnector2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cxnSp>
        <p:nvCxnSpPr>
          <p:cNvPr id="386" name="연결선: 꺾임 385">
            <a:extLst>
              <a:ext uri="{FF2B5EF4-FFF2-40B4-BE49-F238E27FC236}">
                <a16:creationId xmlns:a16="http://schemas.microsoft.com/office/drawing/2014/main" id="{5297A876-65A3-4DFD-97E2-A83B7F520D96}"/>
              </a:ext>
            </a:extLst>
          </p:cNvPr>
          <p:cNvCxnSpPr>
            <a:cxnSpLocks/>
            <a:endCxn id="263" idx="0"/>
          </p:cNvCxnSpPr>
          <p:nvPr/>
        </p:nvCxnSpPr>
        <p:spPr>
          <a:xfrm>
            <a:off x="8036758" y="4122898"/>
            <a:ext cx="551415" cy="390322"/>
          </a:xfrm>
          <a:prstGeom prst="bentConnector2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cxnSp>
        <p:nvCxnSpPr>
          <p:cNvPr id="390" name="연결선: 꺾임 389">
            <a:extLst>
              <a:ext uri="{FF2B5EF4-FFF2-40B4-BE49-F238E27FC236}">
                <a16:creationId xmlns:a16="http://schemas.microsoft.com/office/drawing/2014/main" id="{C50E20BF-5E0B-4C3D-9109-3F480A1D0B65}"/>
              </a:ext>
            </a:extLst>
          </p:cNvPr>
          <p:cNvCxnSpPr>
            <a:cxnSpLocks/>
            <a:endCxn id="299" idx="1"/>
          </p:cNvCxnSpPr>
          <p:nvPr/>
        </p:nvCxnSpPr>
        <p:spPr>
          <a:xfrm rot="16200000" flipH="1">
            <a:off x="6371880" y="4679386"/>
            <a:ext cx="2408004" cy="1320753"/>
          </a:xfrm>
          <a:prstGeom prst="bentConnector2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cxnSp>
        <p:nvCxnSpPr>
          <p:cNvPr id="397" name="연결선: 꺾임 396">
            <a:extLst>
              <a:ext uri="{FF2B5EF4-FFF2-40B4-BE49-F238E27FC236}">
                <a16:creationId xmlns:a16="http://schemas.microsoft.com/office/drawing/2014/main" id="{893BEDD3-E5D7-4F7B-9AC5-B245794A849D}"/>
              </a:ext>
            </a:extLst>
          </p:cNvPr>
          <p:cNvCxnSpPr>
            <a:cxnSpLocks/>
            <a:stCxn id="307" idx="1"/>
            <a:endCxn id="231" idx="1"/>
          </p:cNvCxnSpPr>
          <p:nvPr/>
        </p:nvCxnSpPr>
        <p:spPr>
          <a:xfrm rot="10800000" flipV="1">
            <a:off x="2317847" y="3958575"/>
            <a:ext cx="1618805" cy="2562809"/>
          </a:xfrm>
          <a:prstGeom prst="bentConnector3">
            <a:avLst>
              <a:gd name="adj1" fmla="val 170608"/>
            </a:avLst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sp>
        <p:nvSpPr>
          <p:cNvPr id="409" name="Text 171">
            <a:extLst>
              <a:ext uri="{FF2B5EF4-FFF2-40B4-BE49-F238E27FC236}">
                <a16:creationId xmlns:a16="http://schemas.microsoft.com/office/drawing/2014/main" id="{71BC0618-9F6F-4686-8BFC-0F23F8A3E898}"/>
              </a:ext>
            </a:extLst>
          </p:cNvPr>
          <p:cNvSpPr txBox="1"/>
          <p:nvPr/>
        </p:nvSpPr>
        <p:spPr>
          <a:xfrm>
            <a:off x="556358" y="5714599"/>
            <a:ext cx="544124" cy="2234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H/W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제어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0" name="Text 171">
            <a:extLst>
              <a:ext uri="{FF2B5EF4-FFF2-40B4-BE49-F238E27FC236}">
                <a16:creationId xmlns:a16="http://schemas.microsoft.com/office/drawing/2014/main" id="{F73C038F-F0D8-4FF4-B6DC-5AEC9CACA7D9}"/>
              </a:ext>
            </a:extLst>
          </p:cNvPr>
          <p:cNvSpPr txBox="1"/>
          <p:nvPr/>
        </p:nvSpPr>
        <p:spPr>
          <a:xfrm>
            <a:off x="2925431" y="4064723"/>
            <a:ext cx="1237878" cy="23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Cluster API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접속 제어 (Bastion 경유)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1" name="Text 205">
            <a:extLst>
              <a:ext uri="{FF2B5EF4-FFF2-40B4-BE49-F238E27FC236}">
                <a16:creationId xmlns:a16="http://schemas.microsoft.com/office/drawing/2014/main" id="{8F8318CD-26A2-41C9-91FA-7056F8C7BBFA}"/>
              </a:ext>
            </a:extLst>
          </p:cNvPr>
          <p:cNvSpPr txBox="1"/>
          <p:nvPr/>
        </p:nvSpPr>
        <p:spPr>
          <a:xfrm flipH="1">
            <a:off x="4834815" y="3514027"/>
            <a:ext cx="1052417" cy="2220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6D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RHAAP 제어 트래픽</a:t>
            </a:r>
            <a:endParaRPr lang="en-US" sz="800" dirty="0"/>
          </a:p>
        </p:txBody>
      </p:sp>
      <p:sp>
        <p:nvSpPr>
          <p:cNvPr id="412" name="Text 171">
            <a:extLst>
              <a:ext uri="{FF2B5EF4-FFF2-40B4-BE49-F238E27FC236}">
                <a16:creationId xmlns:a16="http://schemas.microsoft.com/office/drawing/2014/main" id="{CE64F810-BC6F-41E0-A5DD-AAB578FFE17F}"/>
              </a:ext>
            </a:extLst>
          </p:cNvPr>
          <p:cNvSpPr txBox="1"/>
          <p:nvPr/>
        </p:nvSpPr>
        <p:spPr>
          <a:xfrm>
            <a:off x="8597122" y="4100770"/>
            <a:ext cx="1817334" cy="23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Cluster API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접속 제어 (Bastion 경유)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3" name="Text 171">
            <a:extLst>
              <a:ext uri="{FF2B5EF4-FFF2-40B4-BE49-F238E27FC236}">
                <a16:creationId xmlns:a16="http://schemas.microsoft.com/office/drawing/2014/main" id="{C1E968BE-A64A-4A50-A4D5-ECB9A74AAE00}"/>
              </a:ext>
            </a:extLst>
          </p:cNvPr>
          <p:cNvSpPr txBox="1"/>
          <p:nvPr/>
        </p:nvSpPr>
        <p:spPr>
          <a:xfrm>
            <a:off x="6340795" y="5751564"/>
            <a:ext cx="544124" cy="2234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H/W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제어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7" name="Text 206">
            <a:extLst>
              <a:ext uri="{FF2B5EF4-FFF2-40B4-BE49-F238E27FC236}">
                <a16:creationId xmlns:a16="http://schemas.microsoft.com/office/drawing/2014/main" id="{EF62B0C2-B4BD-49AC-AEEB-867B9A88EC21}"/>
              </a:ext>
            </a:extLst>
          </p:cNvPr>
          <p:cNvSpPr txBox="1"/>
          <p:nvPr/>
        </p:nvSpPr>
        <p:spPr>
          <a:xfrm rot="5400000">
            <a:off x="4633601" y="4696907"/>
            <a:ext cx="1120489" cy="269014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Container Image Download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Kafka Ingress</a:t>
            </a:r>
            <a:r>
              <a:rPr lang="ko-KR" altLang="en-US" sz="800" dirty="0">
                <a:solidFill>
                  <a:srgbClr val="7030A0"/>
                </a:solidFill>
              </a:rPr>
              <a:t> </a:t>
            </a:r>
            <a:r>
              <a:rPr lang="en-US" altLang="ko-KR" sz="800" dirty="0">
                <a:solidFill>
                  <a:srgbClr val="7030A0"/>
                </a:solidFill>
              </a:rPr>
              <a:t>LB</a:t>
            </a:r>
            <a:r>
              <a:rPr lang="ko-KR" altLang="en-US" sz="800" dirty="0">
                <a:solidFill>
                  <a:srgbClr val="7030A0"/>
                </a:solidFill>
              </a:rPr>
              <a:t> 연동</a:t>
            </a:r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418" name="Text 206">
            <a:extLst>
              <a:ext uri="{FF2B5EF4-FFF2-40B4-BE49-F238E27FC236}">
                <a16:creationId xmlns:a16="http://schemas.microsoft.com/office/drawing/2014/main" id="{01557BA3-FE21-4050-B38B-150F05898694}"/>
              </a:ext>
            </a:extLst>
          </p:cNvPr>
          <p:cNvSpPr txBox="1"/>
          <p:nvPr/>
        </p:nvSpPr>
        <p:spPr>
          <a:xfrm rot="16200000">
            <a:off x="6895229" y="4725555"/>
            <a:ext cx="1120489" cy="269014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Container Image Download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Kafka Ingress</a:t>
            </a:r>
            <a:r>
              <a:rPr lang="ko-KR" altLang="en-US" sz="800" dirty="0">
                <a:solidFill>
                  <a:srgbClr val="7030A0"/>
                </a:solidFill>
              </a:rPr>
              <a:t> </a:t>
            </a:r>
            <a:r>
              <a:rPr lang="en-US" altLang="ko-KR" sz="800" dirty="0">
                <a:solidFill>
                  <a:srgbClr val="7030A0"/>
                </a:solidFill>
              </a:rPr>
              <a:t>LB</a:t>
            </a:r>
            <a:r>
              <a:rPr lang="ko-KR" altLang="en-US" sz="800" dirty="0">
                <a:solidFill>
                  <a:srgbClr val="7030A0"/>
                </a:solidFill>
              </a:rPr>
              <a:t> 연동</a:t>
            </a:r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419" name="Text 206">
            <a:extLst>
              <a:ext uri="{FF2B5EF4-FFF2-40B4-BE49-F238E27FC236}">
                <a16:creationId xmlns:a16="http://schemas.microsoft.com/office/drawing/2014/main" id="{8FD947F9-C88C-4019-B76F-AAB1A24A612F}"/>
              </a:ext>
            </a:extLst>
          </p:cNvPr>
          <p:cNvSpPr txBox="1"/>
          <p:nvPr/>
        </p:nvSpPr>
        <p:spPr>
          <a:xfrm rot="5400000">
            <a:off x="6967937" y="3187149"/>
            <a:ext cx="1120489" cy="269014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Container Image Download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Kafka Ingress</a:t>
            </a:r>
            <a:r>
              <a:rPr lang="ko-KR" altLang="en-US" sz="800" dirty="0">
                <a:solidFill>
                  <a:srgbClr val="7030A0"/>
                </a:solidFill>
              </a:rPr>
              <a:t> </a:t>
            </a:r>
            <a:r>
              <a:rPr lang="en-US" altLang="ko-KR" sz="800" dirty="0">
                <a:solidFill>
                  <a:srgbClr val="7030A0"/>
                </a:solidFill>
              </a:rPr>
              <a:t>LB</a:t>
            </a:r>
            <a:r>
              <a:rPr lang="ko-KR" altLang="en-US" sz="800" dirty="0">
                <a:solidFill>
                  <a:srgbClr val="7030A0"/>
                </a:solidFill>
              </a:rPr>
              <a:t> 연동</a:t>
            </a:r>
            <a:endParaRPr lang="en-US" sz="800" dirty="0">
              <a:solidFill>
                <a:srgbClr val="7030A0"/>
              </a:solidFill>
            </a:endParaRP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077C39BD-2EE3-43C3-A869-9C7331283646}"/>
              </a:ext>
            </a:extLst>
          </p:cNvPr>
          <p:cNvCxnSpPr>
            <a:endCxn id="21" idx="1"/>
          </p:cNvCxnSpPr>
          <p:nvPr/>
        </p:nvCxnSpPr>
        <p:spPr>
          <a:xfrm rot="10800000" flipV="1">
            <a:off x="2509724" y="2450950"/>
            <a:ext cx="1957904" cy="841615"/>
          </a:xfrm>
          <a:prstGeom prst="bentConnector3">
            <a:avLst>
              <a:gd name="adj1" fmla="val 137150"/>
            </a:avLst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sp>
        <p:nvSpPr>
          <p:cNvPr id="192" name="Shape 65">
            <a:extLst>
              <a:ext uri="{FF2B5EF4-FFF2-40B4-BE49-F238E27FC236}">
                <a16:creationId xmlns:a16="http://schemas.microsoft.com/office/drawing/2014/main" id="{B41DA70B-218D-422A-B7FD-F5F98F2A8AA0}"/>
              </a:ext>
            </a:extLst>
          </p:cNvPr>
          <p:cNvSpPr/>
          <p:nvPr/>
        </p:nvSpPr>
        <p:spPr>
          <a:xfrm>
            <a:off x="4834815" y="5292309"/>
            <a:ext cx="0" cy="668021"/>
          </a:xfrm>
          <a:prstGeom prst="line">
            <a:avLst/>
          </a:prstGeom>
          <a:noFill/>
          <a:ln w="8798">
            <a:solidFill>
              <a:srgbClr val="0F6E56"/>
            </a:solidFill>
            <a:prstDash val="solid"/>
            <a:headEnd type="oval" w="sm" len="sm"/>
            <a:tailEnd type="oval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5" name="Shape 65">
            <a:extLst>
              <a:ext uri="{FF2B5EF4-FFF2-40B4-BE49-F238E27FC236}">
                <a16:creationId xmlns:a16="http://schemas.microsoft.com/office/drawing/2014/main" id="{F0479B8C-AE1C-425D-A46F-19DC7BC9C944}"/>
              </a:ext>
            </a:extLst>
          </p:cNvPr>
          <p:cNvSpPr/>
          <p:nvPr/>
        </p:nvSpPr>
        <p:spPr>
          <a:xfrm>
            <a:off x="10581523" y="5303546"/>
            <a:ext cx="0" cy="708801"/>
          </a:xfrm>
          <a:prstGeom prst="line">
            <a:avLst/>
          </a:prstGeom>
          <a:noFill/>
          <a:ln w="8798">
            <a:solidFill>
              <a:srgbClr val="0F6E56"/>
            </a:solidFill>
            <a:prstDash val="solid"/>
            <a:headEnd type="oval" w="sm" len="sm"/>
            <a:tailEnd type="oval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00" name="Legend Box"/>
          <p:cNvSpPr/>
          <p:nvPr/>
        </p:nvSpPr>
        <p:spPr>
          <a:xfrm>
            <a:off x="9842833" y="825921"/>
            <a:ext cx="2220535" cy="2120000"/>
          </a:xfrm>
          <a:prstGeom prst="roundRect">
            <a:avLst>
              <a:gd name="adj" fmla="val 6000"/>
            </a:avLst>
          </a:prstGeom>
          <a:solidFill>
            <a:srgbClr val="FBFBFB"/>
          </a:solidFill>
          <a:ln w="9525">
            <a:solidFill>
              <a:srgbClr val="9999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1" name="Legend Title"/>
          <p:cNvSpPr txBox="1"/>
          <p:nvPr/>
        </p:nvSpPr>
        <p:spPr>
          <a:xfrm>
            <a:off x="9932833" y="895921"/>
            <a:ext cx="2063791" cy="2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ko-KR" sz="1100" b="1" dirty="0">
                <a:solidFill>
                  <a:srgbClr val="1B2A4A"/>
                </a:solidFill>
                <a:latin typeface="Malgun Gothic" pitchFamily="34" charset="-127"/>
                <a:ea typeface="Malgun Gothic" pitchFamily="34" charset="-127"/>
              </a:rPr>
              <a:t>범례 (Legend)</a:t>
            </a:r>
          </a:p>
        </p:txBody>
      </p:sp>
      <p:sp>
        <p:nvSpPr>
          <p:cNvPr id="502" name="Legend Row 1"/>
          <p:cNvSpPr txBox="1"/>
          <p:nvPr/>
        </p:nvSpPr>
        <p:spPr>
          <a:xfrm>
            <a:off x="9932833" y="1145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6FB2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Machine Network</a:t>
            </a:r>
          </a:p>
        </p:txBody>
      </p:sp>
      <p:sp>
        <p:nvSpPr>
          <p:cNvPr id="503" name="Legend Row 2"/>
          <p:cNvSpPr txBox="1"/>
          <p:nvPr/>
        </p:nvSpPr>
        <p:spPr>
          <a:xfrm>
            <a:off x="9932833" y="1340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F6E56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Storage Network</a:t>
            </a:r>
          </a:p>
        </p:txBody>
      </p:sp>
      <p:sp>
        <p:nvSpPr>
          <p:cNvPr id="504" name="Legend Row 3"/>
          <p:cNvSpPr txBox="1"/>
          <p:nvPr/>
        </p:nvSpPr>
        <p:spPr>
          <a:xfrm>
            <a:off x="9932833" y="1535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BA7517"/>
                </a:solidFill>
                <a:latin typeface="Malgun Gothic" pitchFamily="34" charset="-127"/>
              </a:rPr>
              <a:t>┄┄┄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OOB / Local MGMT (iLO·iDRAC)</a:t>
            </a:r>
          </a:p>
        </p:txBody>
      </p:sp>
      <p:sp>
        <p:nvSpPr>
          <p:cNvPr id="505" name="Legend Row 4"/>
          <p:cNvSpPr txBox="1"/>
          <p:nvPr/>
        </p:nvSpPr>
        <p:spPr>
          <a:xfrm>
            <a:off x="9932833" y="1730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3B6D11"/>
                </a:solidFill>
                <a:latin typeface="Malgun Gothic" pitchFamily="34" charset="-127"/>
              </a:rPr>
              <a:t>┄┄┄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AAP 제어 트래픽 (L3 Routing)</a:t>
            </a:r>
          </a:p>
        </p:txBody>
      </p:sp>
      <p:sp>
        <p:nvSpPr>
          <p:cNvPr id="506" name="Legend Row 5"/>
          <p:cNvSpPr txBox="1"/>
          <p:nvPr/>
        </p:nvSpPr>
        <p:spPr>
          <a:xfrm>
            <a:off x="9932833" y="1925921"/>
            <a:ext cx="2063791" cy="195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7030A0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Container Image·Kafka 연동</a:t>
            </a:r>
          </a:p>
        </p:txBody>
      </p:sp>
      <p:sp>
        <p:nvSpPr>
          <p:cNvPr id="507" name="Legend Row 6"/>
          <p:cNvSpPr txBox="1"/>
          <p:nvPr/>
        </p:nvSpPr>
        <p:spPr>
          <a:xfrm>
            <a:off x="9932833" y="2120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Malgun Gothic" pitchFamily="34" charset="-127"/>
              </a:rPr>
              <a:t>┄┄┄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VPN·NMS 운용망 (운영팀 접속)</a:t>
            </a:r>
          </a:p>
        </p:txBody>
      </p:sp>
      <p:sp>
        <p:nvSpPr>
          <p:cNvPr id="508" name="Legend Row 7"/>
          <p:cNvSpPr txBox="1"/>
          <p:nvPr/>
        </p:nvSpPr>
        <p:spPr>
          <a:xfrm>
            <a:off x="9932833" y="2315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FF0066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External Storage 전용망</a:t>
            </a:r>
          </a:p>
        </p:txBody>
      </p:sp>
      <p:sp>
        <p:nvSpPr>
          <p:cNvPr id="700" name="Local Hop B to Master"/>
          <p:cNvSpPr/>
          <p:nvPr/>
        </p:nvSpPr>
        <p:spPr>
          <a:xfrm>
            <a:off x="3021674" y="4634485"/>
            <a:ext cx="140766" cy="0"/>
          </a:xfrm>
          <a:prstGeom prst="line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triangle"/>
          </a:ln>
        </p:spPr>
        <p:txBody>
          <a:bodyPr/>
          <a:lstStyle/>
          <a:p>
            <a:endParaRPr lang="ko-KR" dirty="0"/>
          </a:p>
        </p:txBody>
      </p:sp>
      <p:sp>
        <p:nvSpPr>
          <p:cNvPr id="701" name="Local Hop C to Master"/>
          <p:cNvSpPr/>
          <p:nvPr/>
        </p:nvSpPr>
        <p:spPr>
          <a:xfrm>
            <a:off x="8940087" y="4656865"/>
            <a:ext cx="140766" cy="0"/>
          </a:xfrm>
          <a:prstGeom prst="line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triangle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02" name="Legend Row 9"/>
          <p:cNvSpPr txBox="1"/>
          <p:nvPr/>
        </p:nvSpPr>
        <p:spPr>
          <a:xfrm>
            <a:off x="9932833" y="2487438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444444"/>
                </a:solidFill>
                <a:latin typeface="Malgun Gothic" pitchFamily="34" charset="-127"/>
              </a:rPr>
              <a:t>───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Bastion→Master 로컬 실행 (SSH/oc)</a:t>
            </a:r>
          </a:p>
        </p:txBody>
      </p:sp>
      <p:sp>
        <p:nvSpPr>
          <p:cNvPr id="196" name="Text 201">
            <a:extLst>
              <a:ext uri="{FF2B5EF4-FFF2-40B4-BE49-F238E27FC236}">
                <a16:creationId xmlns:a16="http://schemas.microsoft.com/office/drawing/2014/main" id="{65236988-063B-4FD9-B2D9-EFBEB74DA3DE}"/>
              </a:ext>
            </a:extLst>
          </p:cNvPr>
          <p:cNvSpPr txBox="1"/>
          <p:nvPr/>
        </p:nvSpPr>
        <p:spPr>
          <a:xfrm>
            <a:off x="6062155" y="2904712"/>
            <a:ext cx="1132783" cy="917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172.30.1.20:9092</a:t>
            </a:r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2110" name="Legend Row 10"/>
          <p:cNvSpPr txBox="1"/>
          <p:nvPr/>
        </p:nvSpPr>
        <p:spPr>
          <a:xfrm>
            <a:off x="9932833" y="2682438"/>
            <a:ext cx="2063791" cy="195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283593"/>
                </a:solidFill>
                <a:latin typeface="Malgun Gothic" pitchFamily="34" charset="-127"/>
              </a:rPr>
              <a:t>┄┄┄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SW Alarm Relay (Worker→Kafka Ingress)</a:t>
            </a:r>
          </a:p>
        </p:txBody>
      </p:sp>
    </p:spTree>
    <p:extLst>
      <p:ext uri="{BB962C8B-B14F-4D97-AF65-F5344CB8AC3E}">
        <p14:creationId xmlns:p14="http://schemas.microsoft.com/office/powerpoint/2010/main" val="2978597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361880" y="1367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1B2A4A"/>
                </a:solidFill>
              </a:rPr>
              <a:t>Cluster B/C 클러스터·CNF 설정을 위한 AAP 제어 메시지 경로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489823" y="61859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555555"/>
                </a:solidFill>
              </a:rPr>
              <a:t>EE → Bastion(SSH) → Master API(oc apply/kubernetes.core) → Operator Reconcile → Worker(CNF Pod) 적용</a:t>
            </a:r>
          </a:p>
        </p:txBody>
      </p:sp>
      <p:sp>
        <p:nvSpPr>
          <p:cNvPr id="6" name="Shape 4"/>
          <p:cNvSpPr/>
          <p:nvPr/>
        </p:nvSpPr>
        <p:spPr>
          <a:xfrm>
            <a:off x="51599" y="1739224"/>
            <a:ext cx="1055743" cy="687146"/>
          </a:xfrm>
          <a:prstGeom prst="roundRect">
            <a:avLst>
              <a:gd name="adj" fmla="val 9231"/>
            </a:avLst>
          </a:prstGeom>
          <a:solidFill>
            <a:srgbClr val="FDEDEE"/>
          </a:solidFill>
          <a:ln w="7332">
            <a:solidFill>
              <a:srgbClr val="C027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36290" y="984838"/>
            <a:ext cx="1794762" cy="359111"/>
          </a:xfrm>
          <a:prstGeom prst="roundRect">
            <a:avLst>
              <a:gd name="adj" fmla="val 9231"/>
            </a:avLst>
          </a:prstGeom>
          <a:solidFill>
            <a:srgbClr val="FDEDEE"/>
          </a:solidFill>
          <a:ln w="7332">
            <a:solidFill>
              <a:srgbClr val="C027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82726" y="1775948"/>
            <a:ext cx="5964945" cy="1737543"/>
          </a:xfrm>
          <a:prstGeom prst="roundRect">
            <a:avLst>
              <a:gd name="adj" fmla="val 1835"/>
            </a:avLst>
          </a:prstGeom>
          <a:solidFill>
            <a:srgbClr val="EEF2F8"/>
          </a:solidFill>
          <a:ln w="10753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59" y="1941824"/>
            <a:ext cx="760135" cy="280141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49285" y="1941825"/>
            <a:ext cx="739020" cy="290792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39150" y="1916714"/>
            <a:ext cx="1154416" cy="33035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82452" y="1916714"/>
            <a:ext cx="935957" cy="305252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44728" y="1916714"/>
            <a:ext cx="860323" cy="298281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65357" y="2253758"/>
            <a:ext cx="1028696" cy="420443"/>
          </a:xfrm>
          <a:prstGeom prst="roundRect">
            <a:avLst>
              <a:gd name="adj" fmla="val 15000"/>
            </a:avLst>
          </a:prstGeom>
          <a:solidFill>
            <a:srgbClr val="F5F0E8"/>
          </a:solidFill>
          <a:ln w="7332">
            <a:solidFill>
              <a:srgbClr val="854F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09724" y="3150216"/>
            <a:ext cx="4753737" cy="284699"/>
          </a:xfrm>
          <a:prstGeom prst="roundRect">
            <a:avLst>
              <a:gd name="adj" fmla="val 13333"/>
            </a:avLst>
          </a:prstGeom>
          <a:solidFill>
            <a:srgbClr val="FFF4E8"/>
          </a:solidFill>
          <a:ln w="7332">
            <a:solidFill>
              <a:srgbClr val="BA7517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005800" y="1485343"/>
            <a:ext cx="1055743" cy="215715"/>
          </a:xfrm>
          <a:prstGeom prst="roundRect">
            <a:avLst>
              <a:gd name="adj" fmla="val 22222"/>
            </a:avLst>
          </a:prstGeom>
          <a:solidFill>
            <a:srgbClr val="FDEDEE"/>
          </a:solidFill>
          <a:ln w="7332">
            <a:solidFill>
              <a:srgbClr val="C027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68137" y="4332479"/>
            <a:ext cx="3640178" cy="2357825"/>
          </a:xfrm>
          <a:prstGeom prst="roundRect">
            <a:avLst>
              <a:gd name="adj" fmla="val 1250"/>
            </a:avLst>
          </a:prstGeom>
          <a:solidFill>
            <a:srgbClr val="EAF6F2"/>
          </a:solidFill>
          <a:ln w="10753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" name="Shape 26"/>
          <p:cNvSpPr/>
          <p:nvPr/>
        </p:nvSpPr>
        <p:spPr>
          <a:xfrm>
            <a:off x="2317846" y="4490840"/>
            <a:ext cx="703828" cy="287289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62440" y="4493992"/>
            <a:ext cx="774211" cy="284137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77417" y="4493992"/>
            <a:ext cx="774211" cy="2783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95167" y="5546583"/>
            <a:ext cx="35191" cy="35191"/>
          </a:xfrm>
          <a:prstGeom prst="ellipse">
            <a:avLst/>
          </a:prstGeom>
          <a:solidFill>
            <a:srgbClr val="E24B4A"/>
          </a:solidFill>
          <a:ln w="3175">
            <a:solidFill>
              <a:srgbClr val="E24B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95167" y="5828115"/>
            <a:ext cx="35191" cy="35191"/>
          </a:xfrm>
          <a:prstGeom prst="ellipse">
            <a:avLst/>
          </a:prstGeom>
          <a:solidFill>
            <a:srgbClr val="7F77DD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17846" y="6398074"/>
            <a:ext cx="2533782" cy="168919"/>
          </a:xfrm>
          <a:prstGeom prst="roundRect">
            <a:avLst>
              <a:gd name="adj" fmla="val 12500"/>
            </a:avLst>
          </a:prstGeom>
          <a:solidFill>
            <a:srgbClr val="FFF4E8"/>
          </a:solidFill>
          <a:ln w="7332">
            <a:solidFill>
              <a:srgbClr val="BA7517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2844041" y="2235508"/>
            <a:ext cx="0" cy="63284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6" name="Shape 64"/>
          <p:cNvSpPr/>
          <p:nvPr/>
        </p:nvSpPr>
        <p:spPr>
          <a:xfrm>
            <a:off x="2575154" y="2864923"/>
            <a:ext cx="4792585" cy="0"/>
          </a:xfrm>
          <a:prstGeom prst="line">
            <a:avLst/>
          </a:prstGeom>
          <a:noFill/>
          <a:ln w="11242">
            <a:solidFill>
              <a:srgbClr val="1F6FB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80105" y="3011419"/>
            <a:ext cx="4757393" cy="0"/>
          </a:xfrm>
          <a:prstGeom prst="line">
            <a:avLst/>
          </a:prstGeom>
          <a:noFill/>
          <a:ln w="11242">
            <a:solidFill>
              <a:srgbClr val="0F6E5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37943" y="2247067"/>
            <a:ext cx="0" cy="924284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7" name="Shape 95"/>
          <p:cNvSpPr/>
          <p:nvPr/>
        </p:nvSpPr>
        <p:spPr>
          <a:xfrm>
            <a:off x="2388228" y="5278680"/>
            <a:ext cx="2570573" cy="0"/>
          </a:xfrm>
          <a:prstGeom prst="line">
            <a:avLst/>
          </a:prstGeom>
          <a:noFill/>
          <a:ln w="11242">
            <a:solidFill>
              <a:srgbClr val="0E8FA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8" name="Shape 96"/>
          <p:cNvSpPr/>
          <p:nvPr/>
        </p:nvSpPr>
        <p:spPr>
          <a:xfrm>
            <a:off x="2388228" y="5564178"/>
            <a:ext cx="2160000" cy="0"/>
          </a:xfrm>
          <a:prstGeom prst="line">
            <a:avLst/>
          </a:prstGeom>
          <a:noFill/>
          <a:ln w="11242">
            <a:solidFill>
              <a:srgbClr val="E24B4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388228" y="5845710"/>
            <a:ext cx="2160000" cy="0"/>
          </a:xfrm>
          <a:prstGeom prst="line">
            <a:avLst/>
          </a:prstGeom>
          <a:noFill/>
          <a:ln w="11242">
            <a:solidFill>
              <a:srgbClr val="7F77D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H="1">
            <a:off x="4412762" y="4778129"/>
            <a:ext cx="0" cy="1606749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2" name="Shape 100"/>
          <p:cNvSpPr/>
          <p:nvPr/>
        </p:nvSpPr>
        <p:spPr>
          <a:xfrm>
            <a:off x="2388228" y="6139510"/>
            <a:ext cx="2357825" cy="0"/>
          </a:xfrm>
          <a:prstGeom prst="line">
            <a:avLst/>
          </a:prstGeom>
          <a:noFill/>
          <a:ln w="11242">
            <a:solidFill>
              <a:srgbClr val="0F6E5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2669758" y="4786095"/>
            <a:ext cx="0" cy="1589489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105" name="Shape 103"/>
          <p:cNvSpPr/>
          <p:nvPr/>
        </p:nvSpPr>
        <p:spPr>
          <a:xfrm>
            <a:off x="3438319" y="4800878"/>
            <a:ext cx="0" cy="1595613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106" name="Shape 104"/>
          <p:cNvSpPr/>
          <p:nvPr/>
        </p:nvSpPr>
        <p:spPr>
          <a:xfrm flipH="1">
            <a:off x="4182228" y="4800878"/>
            <a:ext cx="0" cy="1584000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2" name="Text 170"/>
          <p:cNvSpPr txBox="1"/>
          <p:nvPr/>
        </p:nvSpPr>
        <p:spPr>
          <a:xfrm>
            <a:off x="51599" y="1732186"/>
            <a:ext cx="1055743" cy="29149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VPN 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</a:t>
            </a:r>
            <a:endParaRPr lang="en-US" sz="800" dirty="0"/>
          </a:p>
        </p:txBody>
      </p:sp>
      <p:sp>
        <p:nvSpPr>
          <p:cNvPr id="173" name="Text 171"/>
          <p:cNvSpPr txBox="1"/>
          <p:nvPr/>
        </p:nvSpPr>
        <p:spPr>
          <a:xfrm>
            <a:off x="84362" y="1536465"/>
            <a:ext cx="1055743" cy="157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</a:t>
            </a:r>
            <a:endParaRPr lang="en-US" sz="800" dirty="0">
              <a:solidFill>
                <a:srgbClr val="55555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74" name="Text 172"/>
          <p:cNvSpPr txBox="1"/>
          <p:nvPr/>
        </p:nvSpPr>
        <p:spPr>
          <a:xfrm>
            <a:off x="5040991" y="1040921"/>
            <a:ext cx="985360" cy="11437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Operating Center (NOC)</a:t>
            </a:r>
            <a:endParaRPr lang="en-US" sz="800" dirty="0"/>
          </a:p>
        </p:txBody>
      </p:sp>
      <p:sp>
        <p:nvSpPr>
          <p:cNvPr id="175" name="Text 173"/>
          <p:cNvSpPr txBox="1"/>
          <p:nvPr/>
        </p:nvSpPr>
        <p:spPr>
          <a:xfrm>
            <a:off x="5040991" y="1172889"/>
            <a:ext cx="985360" cy="131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·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</a:t>
            </a:r>
            <a:endParaRPr lang="en-US" sz="800" dirty="0"/>
          </a:p>
        </p:txBody>
      </p:sp>
      <p:sp>
        <p:nvSpPr>
          <p:cNvPr id="176" name="Text 174"/>
          <p:cNvSpPr txBox="1"/>
          <p:nvPr/>
        </p:nvSpPr>
        <p:spPr>
          <a:xfrm>
            <a:off x="2418226" y="1811140"/>
            <a:ext cx="2181868" cy="105574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A — 관리용 특수목적 RHOCP (RHAAP + Kafka)</a:t>
            </a:r>
            <a:endParaRPr lang="en-US" sz="900" dirty="0"/>
          </a:p>
        </p:txBody>
      </p:sp>
      <p:sp>
        <p:nvSpPr>
          <p:cNvPr id="177" name="Text 175"/>
          <p:cNvSpPr txBox="1"/>
          <p:nvPr/>
        </p:nvSpPr>
        <p:spPr>
          <a:xfrm>
            <a:off x="2468908" y="1959913"/>
            <a:ext cx="668637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Bastion-A</a:t>
            </a:r>
            <a:endParaRPr lang="en-US" sz="800" dirty="0"/>
          </a:p>
        </p:txBody>
      </p:sp>
      <p:sp>
        <p:nvSpPr>
          <p:cNvPr id="178" name="Text 176"/>
          <p:cNvSpPr txBox="1"/>
          <p:nvPr/>
        </p:nvSpPr>
        <p:spPr>
          <a:xfrm>
            <a:off x="2468908" y="2062406"/>
            <a:ext cx="668637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 / 설치 CLI</a:t>
            </a:r>
            <a:endParaRPr lang="en-US" sz="800" dirty="0"/>
          </a:p>
        </p:txBody>
      </p:sp>
      <p:sp>
        <p:nvSpPr>
          <p:cNvPr id="179" name="Text 177"/>
          <p:cNvSpPr txBox="1"/>
          <p:nvPr/>
        </p:nvSpPr>
        <p:spPr>
          <a:xfrm>
            <a:off x="3370332" y="1959913"/>
            <a:ext cx="739020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Master-A ×3</a:t>
            </a:r>
            <a:endParaRPr lang="en-US" sz="800" dirty="0"/>
          </a:p>
        </p:txBody>
      </p:sp>
      <p:sp>
        <p:nvSpPr>
          <p:cNvPr id="180" name="Text 178"/>
          <p:cNvSpPr txBox="1"/>
          <p:nvPr/>
        </p:nvSpPr>
        <p:spPr>
          <a:xfrm>
            <a:off x="3349285" y="2090687"/>
            <a:ext cx="739020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181" name="Text 179"/>
          <p:cNvSpPr txBox="1"/>
          <p:nvPr/>
        </p:nvSpPr>
        <p:spPr>
          <a:xfrm>
            <a:off x="4349816" y="1959913"/>
            <a:ext cx="781786" cy="11347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RHAAP</a:t>
            </a:r>
            <a:endParaRPr lang="en-US" sz="800" dirty="0"/>
          </a:p>
        </p:txBody>
      </p:sp>
      <p:sp>
        <p:nvSpPr>
          <p:cNvPr id="182" name="Text 180"/>
          <p:cNvSpPr txBox="1"/>
          <p:nvPr/>
        </p:nvSpPr>
        <p:spPr>
          <a:xfrm>
            <a:off x="4328698" y="2068699"/>
            <a:ext cx="967306" cy="10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Automation Platform</a:t>
            </a:r>
            <a:endParaRPr lang="en-US" sz="800" dirty="0"/>
          </a:p>
        </p:txBody>
      </p:sp>
      <p:sp>
        <p:nvSpPr>
          <p:cNvPr id="183" name="Text 181"/>
          <p:cNvSpPr txBox="1"/>
          <p:nvPr/>
        </p:nvSpPr>
        <p:spPr>
          <a:xfrm>
            <a:off x="5663864" y="1927639"/>
            <a:ext cx="812451" cy="136438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Cluster</a:t>
            </a:r>
            <a:endParaRPr lang="en-US" sz="800" dirty="0"/>
          </a:p>
        </p:txBody>
      </p:sp>
      <p:sp>
        <p:nvSpPr>
          <p:cNvPr id="184" name="Text 182"/>
          <p:cNvSpPr txBox="1"/>
          <p:nvPr/>
        </p:nvSpPr>
        <p:spPr>
          <a:xfrm>
            <a:off x="5584847" y="2072471"/>
            <a:ext cx="957726" cy="12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통계/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/Log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800" dirty="0"/>
          </a:p>
        </p:txBody>
      </p:sp>
      <p:sp>
        <p:nvSpPr>
          <p:cNvPr id="185" name="Text 183"/>
          <p:cNvSpPr txBox="1"/>
          <p:nvPr/>
        </p:nvSpPr>
        <p:spPr>
          <a:xfrm>
            <a:off x="6689634" y="1959913"/>
            <a:ext cx="815417" cy="9008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Storage-A (CSI)</a:t>
            </a:r>
            <a:endParaRPr lang="en-US" sz="800" dirty="0"/>
          </a:p>
        </p:txBody>
      </p:sp>
      <p:sp>
        <p:nvSpPr>
          <p:cNvPr id="186" name="Text 184"/>
          <p:cNvSpPr txBox="1"/>
          <p:nvPr/>
        </p:nvSpPr>
        <p:spPr>
          <a:xfrm>
            <a:off x="6598334" y="2062406"/>
            <a:ext cx="906718" cy="10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A 전용</a:t>
            </a:r>
            <a:endParaRPr lang="en-US" sz="800" dirty="0"/>
          </a:p>
        </p:txBody>
      </p:sp>
      <p:sp>
        <p:nvSpPr>
          <p:cNvPr id="187" name="Text 185"/>
          <p:cNvSpPr txBox="1"/>
          <p:nvPr/>
        </p:nvSpPr>
        <p:spPr>
          <a:xfrm>
            <a:off x="4645387" y="2266954"/>
            <a:ext cx="668637" cy="15547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EE (Job Pod)</a:t>
            </a:r>
            <a:endParaRPr lang="en-US" sz="800" dirty="0"/>
          </a:p>
        </p:txBody>
      </p:sp>
      <p:sp>
        <p:nvSpPr>
          <p:cNvPr id="188" name="Text 186"/>
          <p:cNvSpPr txBox="1"/>
          <p:nvPr/>
        </p:nvSpPr>
        <p:spPr>
          <a:xfrm>
            <a:off x="4652376" y="2408348"/>
            <a:ext cx="654658" cy="13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Multus+Whereabouts</a:t>
            </a:r>
            <a:endParaRPr lang="en-US" sz="800" dirty="0"/>
          </a:p>
        </p:txBody>
      </p:sp>
      <p:sp>
        <p:nvSpPr>
          <p:cNvPr id="189" name="Text 187"/>
          <p:cNvSpPr txBox="1"/>
          <p:nvPr/>
        </p:nvSpPr>
        <p:spPr>
          <a:xfrm>
            <a:off x="1798857" y="2667218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800" dirty="0"/>
          </a:p>
        </p:txBody>
      </p:sp>
      <p:sp>
        <p:nvSpPr>
          <p:cNvPr id="190" name="Text 188"/>
          <p:cNvSpPr txBox="1"/>
          <p:nvPr/>
        </p:nvSpPr>
        <p:spPr>
          <a:xfrm>
            <a:off x="2670215" y="2749628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1000 · 172.30.10.0/24 · GW .1</a:t>
            </a:r>
            <a:endParaRPr lang="en-US" sz="800" dirty="0"/>
          </a:p>
        </p:txBody>
      </p:sp>
      <p:sp>
        <p:nvSpPr>
          <p:cNvPr id="191" name="Text 189"/>
          <p:cNvSpPr txBox="1"/>
          <p:nvPr/>
        </p:nvSpPr>
        <p:spPr>
          <a:xfrm>
            <a:off x="1814289" y="2959448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800" dirty="0"/>
          </a:p>
        </p:txBody>
      </p:sp>
      <p:sp>
        <p:nvSpPr>
          <p:cNvPr id="193" name="Text 191"/>
          <p:cNvSpPr txBox="1"/>
          <p:nvPr/>
        </p:nvSpPr>
        <p:spPr>
          <a:xfrm>
            <a:off x="3213552" y="3146250"/>
            <a:ext cx="2991271" cy="15237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MGMT</a:t>
            </a:r>
            <a:r>
              <a:rPr lang="ko-KR" alt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network:</a:t>
            </a:r>
            <a:r>
              <a:rPr lang="ko-KR" alt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</a:t>
            </a: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/iDRAC + ToR </a:t>
            </a:r>
            <a:r>
              <a:rPr lang="en-US" sz="8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</a:t>
            </a: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 cluster A</a:t>
            </a:r>
            <a:endParaRPr lang="en-US" sz="800" dirty="0"/>
          </a:p>
        </p:txBody>
      </p:sp>
      <p:sp>
        <p:nvSpPr>
          <p:cNvPr id="194" name="Text 192"/>
          <p:cNvSpPr txBox="1"/>
          <p:nvPr/>
        </p:nvSpPr>
        <p:spPr>
          <a:xfrm>
            <a:off x="3213552" y="3304386"/>
            <a:ext cx="2991271" cy="151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172.30.99.1</a:t>
            </a:r>
            <a:endParaRPr lang="en-US" sz="800" dirty="0"/>
          </a:p>
        </p:txBody>
      </p:sp>
      <p:sp>
        <p:nvSpPr>
          <p:cNvPr id="202" name="Text 200"/>
          <p:cNvSpPr txBox="1"/>
          <p:nvPr/>
        </p:nvSpPr>
        <p:spPr>
          <a:xfrm>
            <a:off x="5068736" y="1495049"/>
            <a:ext cx="929871" cy="203657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Egress LB</a:t>
            </a:r>
            <a:endParaRPr lang="en-US" sz="800" dirty="0"/>
          </a:p>
        </p:txBody>
      </p:sp>
      <p:sp>
        <p:nvSpPr>
          <p:cNvPr id="203" name="Text 201"/>
          <p:cNvSpPr txBox="1"/>
          <p:nvPr/>
        </p:nvSpPr>
        <p:spPr>
          <a:xfrm>
            <a:off x="6118298" y="1443615"/>
            <a:ext cx="1132783" cy="204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172.30.1.30:443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(NOC Pull/Push)</a:t>
            </a:r>
            <a:endParaRPr lang="en-US" sz="800" dirty="0"/>
          </a:p>
        </p:txBody>
      </p:sp>
      <p:sp>
        <p:nvSpPr>
          <p:cNvPr id="211" name="Text 209"/>
          <p:cNvSpPr txBox="1"/>
          <p:nvPr/>
        </p:nvSpPr>
        <p:spPr>
          <a:xfrm>
            <a:off x="1416576" y="4367670"/>
            <a:ext cx="1150498" cy="1087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B — 5G CNF </a:t>
            </a:r>
            <a:endParaRPr lang="en-US" sz="900" dirty="0"/>
          </a:p>
        </p:txBody>
      </p:sp>
      <p:sp>
        <p:nvSpPr>
          <p:cNvPr id="212" name="Text 210"/>
          <p:cNvSpPr txBox="1"/>
          <p:nvPr/>
        </p:nvSpPr>
        <p:spPr>
          <a:xfrm>
            <a:off x="2317846" y="4522662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Bastion-B</a:t>
            </a:r>
            <a:endParaRPr lang="en-US" sz="800" dirty="0"/>
          </a:p>
        </p:txBody>
      </p:sp>
      <p:sp>
        <p:nvSpPr>
          <p:cNvPr id="213" name="Text 211"/>
          <p:cNvSpPr txBox="1"/>
          <p:nvPr/>
        </p:nvSpPr>
        <p:spPr>
          <a:xfrm>
            <a:off x="2317846" y="4618938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 / 설치 CLI</a:t>
            </a:r>
            <a:endParaRPr lang="en-US" sz="800" dirty="0"/>
          </a:p>
        </p:txBody>
      </p:sp>
      <p:sp>
        <p:nvSpPr>
          <p:cNvPr id="214" name="Text 212"/>
          <p:cNvSpPr txBox="1"/>
          <p:nvPr/>
        </p:nvSpPr>
        <p:spPr>
          <a:xfrm>
            <a:off x="3162440" y="4522662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Master-B ×3</a:t>
            </a:r>
            <a:endParaRPr lang="en-US" sz="800" dirty="0"/>
          </a:p>
        </p:txBody>
      </p:sp>
      <p:sp>
        <p:nvSpPr>
          <p:cNvPr id="215" name="Text 213"/>
          <p:cNvSpPr txBox="1"/>
          <p:nvPr/>
        </p:nvSpPr>
        <p:spPr>
          <a:xfrm>
            <a:off x="3162440" y="4618938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216" name="Text 214"/>
          <p:cNvSpPr txBox="1"/>
          <p:nvPr/>
        </p:nvSpPr>
        <p:spPr>
          <a:xfrm>
            <a:off x="4077417" y="4522662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Worker-B</a:t>
            </a:r>
            <a:endParaRPr lang="en-US" sz="800" dirty="0"/>
          </a:p>
        </p:txBody>
      </p:sp>
      <p:sp>
        <p:nvSpPr>
          <p:cNvPr id="217" name="Text 215"/>
          <p:cNvSpPr txBox="1"/>
          <p:nvPr/>
        </p:nvSpPr>
        <p:spPr>
          <a:xfrm>
            <a:off x="4077417" y="4644275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AMF/SMF/UPF</a:t>
            </a:r>
            <a:endParaRPr lang="en-US" sz="800" dirty="0"/>
          </a:p>
        </p:txBody>
      </p:sp>
      <p:sp>
        <p:nvSpPr>
          <p:cNvPr id="218" name="Text 216"/>
          <p:cNvSpPr txBox="1"/>
          <p:nvPr/>
        </p:nvSpPr>
        <p:spPr>
          <a:xfrm>
            <a:off x="4429254" y="5094876"/>
            <a:ext cx="497396" cy="1461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 Switch </a:t>
            </a:r>
            <a:endParaRPr lang="en-US" sz="600" dirty="0"/>
          </a:p>
        </p:txBody>
      </p:sp>
      <p:sp>
        <p:nvSpPr>
          <p:cNvPr id="219" name="Text 217"/>
          <p:cNvSpPr txBox="1"/>
          <p:nvPr/>
        </p:nvSpPr>
        <p:spPr>
          <a:xfrm>
            <a:off x="4467628" y="5334576"/>
            <a:ext cx="711837" cy="9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172.31.99.2</a:t>
            </a:r>
            <a:endParaRPr lang="en-US" sz="600" dirty="0"/>
          </a:p>
        </p:txBody>
      </p:sp>
      <p:sp>
        <p:nvSpPr>
          <p:cNvPr id="220" name="Text 218"/>
          <p:cNvSpPr txBox="1"/>
          <p:nvPr/>
        </p:nvSpPr>
        <p:spPr>
          <a:xfrm>
            <a:off x="1771144" y="518059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21" name="Text 219"/>
          <p:cNvSpPr txBox="1"/>
          <p:nvPr/>
        </p:nvSpPr>
        <p:spPr>
          <a:xfrm>
            <a:off x="2437496" y="5179888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1000 · 172.31.10.0/24</a:t>
            </a:r>
            <a:endParaRPr lang="en-US" sz="600" dirty="0"/>
          </a:p>
        </p:txBody>
      </p:sp>
      <p:sp>
        <p:nvSpPr>
          <p:cNvPr id="222" name="Text 220"/>
          <p:cNvSpPr txBox="1"/>
          <p:nvPr/>
        </p:nvSpPr>
        <p:spPr>
          <a:xfrm>
            <a:off x="1786199" y="5479720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MacVLAN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(SBI/N2,N4)</a:t>
            </a:r>
            <a:endParaRPr lang="en-US" sz="600" dirty="0"/>
          </a:p>
        </p:txBody>
      </p:sp>
      <p:sp>
        <p:nvSpPr>
          <p:cNvPr id="223" name="Text 221"/>
          <p:cNvSpPr txBox="1"/>
          <p:nvPr/>
        </p:nvSpPr>
        <p:spPr>
          <a:xfrm>
            <a:off x="2437496" y="5479720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1100/2000 · 10.31.0.0/27,/28</a:t>
            </a:r>
            <a:endParaRPr lang="en-US" sz="600" dirty="0"/>
          </a:p>
        </p:txBody>
      </p:sp>
      <p:sp>
        <p:nvSpPr>
          <p:cNvPr id="224" name="Text 222"/>
          <p:cNvSpPr txBox="1"/>
          <p:nvPr/>
        </p:nvSpPr>
        <p:spPr>
          <a:xfrm>
            <a:off x="1798857" y="576916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SR-IOV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(N3/N6,UPF)</a:t>
            </a:r>
            <a:endParaRPr lang="en-US" sz="600" dirty="0"/>
          </a:p>
        </p:txBody>
      </p:sp>
      <p:sp>
        <p:nvSpPr>
          <p:cNvPr id="225" name="Text 223"/>
          <p:cNvSpPr txBox="1"/>
          <p:nvPr/>
        </p:nvSpPr>
        <p:spPr>
          <a:xfrm>
            <a:off x="2437496" y="5761251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3000/3100 · vfio-pci(DPDK)</a:t>
            </a:r>
            <a:endParaRPr lang="en-US" sz="600" dirty="0"/>
          </a:p>
        </p:txBody>
      </p:sp>
      <p:sp>
        <p:nvSpPr>
          <p:cNvPr id="228" name="Text 226"/>
          <p:cNvSpPr txBox="1"/>
          <p:nvPr/>
        </p:nvSpPr>
        <p:spPr>
          <a:xfrm>
            <a:off x="1789734" y="605974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29" name="Text 227"/>
          <p:cNvSpPr txBox="1"/>
          <p:nvPr/>
        </p:nvSpPr>
        <p:spPr>
          <a:xfrm>
            <a:off x="2437496" y="6067274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1200 · 172.31.20.0/24</a:t>
            </a:r>
            <a:endParaRPr lang="en-US" sz="600" dirty="0"/>
          </a:p>
        </p:txBody>
      </p:sp>
      <p:sp>
        <p:nvSpPr>
          <p:cNvPr id="230" name="Text 228"/>
          <p:cNvSpPr txBox="1"/>
          <p:nvPr/>
        </p:nvSpPr>
        <p:spPr>
          <a:xfrm>
            <a:off x="2317846" y="6411587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/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MGMT network: Server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/iDRAC +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 cluster B</a:t>
            </a:r>
            <a:endParaRPr lang="en-US" sz="600" dirty="0"/>
          </a:p>
        </p:txBody>
      </p:sp>
      <p:sp>
        <p:nvSpPr>
          <p:cNvPr id="231" name="Text 229"/>
          <p:cNvSpPr txBox="1"/>
          <p:nvPr/>
        </p:nvSpPr>
        <p:spPr>
          <a:xfrm>
            <a:off x="2317846" y="6479155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172.31.99.1</a:t>
            </a:r>
            <a:endParaRPr lang="en-US" sz="600" dirty="0"/>
          </a:p>
        </p:txBody>
      </p:sp>
      <p:sp>
        <p:nvSpPr>
          <p:cNvPr id="255" name="Text 171">
            <a:extLst>
              <a:ext uri="{FF2B5EF4-FFF2-40B4-BE49-F238E27FC236}">
                <a16:creationId xmlns:a16="http://schemas.microsoft.com/office/drawing/2014/main" id="{97660401-3718-4FD5-8A71-DFF51EFFA65D}"/>
              </a:ext>
            </a:extLst>
          </p:cNvPr>
          <p:cNvSpPr txBox="1"/>
          <p:nvPr/>
        </p:nvSpPr>
        <p:spPr>
          <a:xfrm>
            <a:off x="227099" y="2044544"/>
            <a:ext cx="770271" cy="173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Bastion </a:t>
            </a:r>
          </a:p>
          <a:p>
            <a:pPr marL="0" indent="0" algn="ctr">
              <a:buNone/>
            </a:pP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관리 경로</a:t>
            </a:r>
            <a:endParaRPr lang="en-US" sz="800" dirty="0"/>
          </a:p>
        </p:txBody>
      </p:sp>
      <p:sp>
        <p:nvSpPr>
          <p:cNvPr id="256" name="Shape 32">
            <a:extLst>
              <a:ext uri="{FF2B5EF4-FFF2-40B4-BE49-F238E27FC236}">
                <a16:creationId xmlns:a16="http://schemas.microsoft.com/office/drawing/2014/main" id="{74C0E114-6A93-4619-9BC6-691142F8E9E4}"/>
              </a:ext>
            </a:extLst>
          </p:cNvPr>
          <p:cNvSpPr/>
          <p:nvPr/>
        </p:nvSpPr>
        <p:spPr>
          <a:xfrm>
            <a:off x="4395167" y="6121915"/>
            <a:ext cx="35191" cy="35191"/>
          </a:xfrm>
          <a:prstGeom prst="ellipse">
            <a:avLst/>
          </a:prstGeom>
          <a:solidFill>
            <a:srgbClr val="00B050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259" name="Shape 98">
            <a:extLst>
              <a:ext uri="{FF2B5EF4-FFF2-40B4-BE49-F238E27FC236}">
                <a16:creationId xmlns:a16="http://schemas.microsoft.com/office/drawing/2014/main" id="{F10F9FA5-A44F-4955-8EDD-261AF17C7D79}"/>
              </a:ext>
            </a:extLst>
          </p:cNvPr>
          <p:cNvSpPr/>
          <p:nvPr/>
        </p:nvSpPr>
        <p:spPr>
          <a:xfrm flipH="1">
            <a:off x="3617177" y="4770196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Shape 30"/>
          <p:cNvSpPr/>
          <p:nvPr/>
        </p:nvSpPr>
        <p:spPr>
          <a:xfrm>
            <a:off x="4395167" y="526108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258" name="Shape 30">
            <a:extLst>
              <a:ext uri="{FF2B5EF4-FFF2-40B4-BE49-F238E27FC236}">
                <a16:creationId xmlns:a16="http://schemas.microsoft.com/office/drawing/2014/main" id="{77FC20C8-589B-43BD-AFA9-4D6C99080C3B}"/>
              </a:ext>
            </a:extLst>
          </p:cNvPr>
          <p:cNvSpPr/>
          <p:nvPr/>
        </p:nvSpPr>
        <p:spPr>
          <a:xfrm>
            <a:off x="3599543" y="526108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260" name="Shape 98">
            <a:extLst>
              <a:ext uri="{FF2B5EF4-FFF2-40B4-BE49-F238E27FC236}">
                <a16:creationId xmlns:a16="http://schemas.microsoft.com/office/drawing/2014/main" id="{073537D6-7EF4-4D79-AC51-BF881FB01B22}"/>
              </a:ext>
            </a:extLst>
          </p:cNvPr>
          <p:cNvSpPr/>
          <p:nvPr/>
        </p:nvSpPr>
        <p:spPr>
          <a:xfrm flipH="1">
            <a:off x="2807470" y="4772372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1" name="Shape 30">
            <a:extLst>
              <a:ext uri="{FF2B5EF4-FFF2-40B4-BE49-F238E27FC236}">
                <a16:creationId xmlns:a16="http://schemas.microsoft.com/office/drawing/2014/main" id="{D9D3C2C2-FF2D-41A4-A45D-C110A02ABC78}"/>
              </a:ext>
            </a:extLst>
          </p:cNvPr>
          <p:cNvSpPr/>
          <p:nvPr/>
        </p:nvSpPr>
        <p:spPr>
          <a:xfrm>
            <a:off x="2789836" y="526108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262" name="Shape 25">
            <a:extLst>
              <a:ext uri="{FF2B5EF4-FFF2-40B4-BE49-F238E27FC236}">
                <a16:creationId xmlns:a16="http://schemas.microsoft.com/office/drawing/2014/main" id="{73D81B14-9C05-45D5-B571-40A117DC25BB}"/>
              </a:ext>
            </a:extLst>
          </p:cNvPr>
          <p:cNvSpPr/>
          <p:nvPr/>
        </p:nvSpPr>
        <p:spPr>
          <a:xfrm>
            <a:off x="7286550" y="4354859"/>
            <a:ext cx="3640178" cy="2357825"/>
          </a:xfrm>
          <a:prstGeom prst="roundRect">
            <a:avLst>
              <a:gd name="adj" fmla="val 1250"/>
            </a:avLst>
          </a:prstGeom>
          <a:solidFill>
            <a:srgbClr val="EAF6F2"/>
          </a:solidFill>
          <a:ln w="10753">
            <a:solidFill>
              <a:srgbClr val="0F6E56"/>
            </a:solidFill>
            <a:prstDash val="solid"/>
          </a:ln>
        </p:spPr>
      </p:sp>
      <p:sp>
        <p:nvSpPr>
          <p:cNvPr id="263" name="Shape 26">
            <a:extLst>
              <a:ext uri="{FF2B5EF4-FFF2-40B4-BE49-F238E27FC236}">
                <a16:creationId xmlns:a16="http://schemas.microsoft.com/office/drawing/2014/main" id="{73896CB2-8849-4275-A5B9-C4F5D1A6EB65}"/>
              </a:ext>
            </a:extLst>
          </p:cNvPr>
          <p:cNvSpPr/>
          <p:nvPr/>
        </p:nvSpPr>
        <p:spPr>
          <a:xfrm>
            <a:off x="8236259" y="4513220"/>
            <a:ext cx="703828" cy="287289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64" name="Shape 27">
            <a:extLst>
              <a:ext uri="{FF2B5EF4-FFF2-40B4-BE49-F238E27FC236}">
                <a16:creationId xmlns:a16="http://schemas.microsoft.com/office/drawing/2014/main" id="{1192560E-B3DC-41E1-BB90-7417B83D49A1}"/>
              </a:ext>
            </a:extLst>
          </p:cNvPr>
          <p:cNvSpPr/>
          <p:nvPr/>
        </p:nvSpPr>
        <p:spPr>
          <a:xfrm>
            <a:off x="9080853" y="4516372"/>
            <a:ext cx="774211" cy="284137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65" name="Shape 28">
            <a:extLst>
              <a:ext uri="{FF2B5EF4-FFF2-40B4-BE49-F238E27FC236}">
                <a16:creationId xmlns:a16="http://schemas.microsoft.com/office/drawing/2014/main" id="{76B69E4F-0EB0-4C4D-A93B-3AF1E31F0DF1}"/>
              </a:ext>
            </a:extLst>
          </p:cNvPr>
          <p:cNvSpPr/>
          <p:nvPr/>
        </p:nvSpPr>
        <p:spPr>
          <a:xfrm>
            <a:off x="9995830" y="4516372"/>
            <a:ext cx="774211" cy="2783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66" name="Shape 31">
            <a:extLst>
              <a:ext uri="{FF2B5EF4-FFF2-40B4-BE49-F238E27FC236}">
                <a16:creationId xmlns:a16="http://schemas.microsoft.com/office/drawing/2014/main" id="{5E662153-48B6-4695-99DC-C769DDF36FC8}"/>
              </a:ext>
            </a:extLst>
          </p:cNvPr>
          <p:cNvSpPr/>
          <p:nvPr/>
        </p:nvSpPr>
        <p:spPr>
          <a:xfrm>
            <a:off x="10313580" y="5568963"/>
            <a:ext cx="35191" cy="35191"/>
          </a:xfrm>
          <a:prstGeom prst="ellipse">
            <a:avLst/>
          </a:prstGeom>
          <a:solidFill>
            <a:srgbClr val="E24B4A"/>
          </a:solidFill>
          <a:ln w="3175">
            <a:solidFill>
              <a:srgbClr val="E24B4A"/>
            </a:solidFill>
            <a:prstDash val="solid"/>
          </a:ln>
        </p:spPr>
      </p:sp>
      <p:sp>
        <p:nvSpPr>
          <p:cNvPr id="267" name="Shape 32">
            <a:extLst>
              <a:ext uri="{FF2B5EF4-FFF2-40B4-BE49-F238E27FC236}">
                <a16:creationId xmlns:a16="http://schemas.microsoft.com/office/drawing/2014/main" id="{48962F3C-7AF9-4FB5-A17E-53EFE6DA0970}"/>
              </a:ext>
            </a:extLst>
          </p:cNvPr>
          <p:cNvSpPr/>
          <p:nvPr/>
        </p:nvSpPr>
        <p:spPr>
          <a:xfrm>
            <a:off x="10313580" y="5850495"/>
            <a:ext cx="35191" cy="35191"/>
          </a:xfrm>
          <a:prstGeom prst="ellipse">
            <a:avLst/>
          </a:prstGeom>
          <a:solidFill>
            <a:srgbClr val="7F77DD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268" name="Shape 34">
            <a:extLst>
              <a:ext uri="{FF2B5EF4-FFF2-40B4-BE49-F238E27FC236}">
                <a16:creationId xmlns:a16="http://schemas.microsoft.com/office/drawing/2014/main" id="{8273F291-5E20-43DD-AB79-6479F1F8B6AB}"/>
              </a:ext>
            </a:extLst>
          </p:cNvPr>
          <p:cNvSpPr/>
          <p:nvPr/>
        </p:nvSpPr>
        <p:spPr>
          <a:xfrm>
            <a:off x="8236259" y="6420454"/>
            <a:ext cx="2533782" cy="168919"/>
          </a:xfrm>
          <a:prstGeom prst="roundRect">
            <a:avLst>
              <a:gd name="adj" fmla="val 12500"/>
            </a:avLst>
          </a:prstGeom>
          <a:solidFill>
            <a:srgbClr val="FFF4E8"/>
          </a:solidFill>
          <a:ln w="7332">
            <a:solidFill>
              <a:srgbClr val="BA7517"/>
            </a:solidFill>
            <a:prstDash val="dash"/>
          </a:ln>
        </p:spPr>
      </p:sp>
      <p:sp>
        <p:nvSpPr>
          <p:cNvPr id="269" name="Shape 95">
            <a:extLst>
              <a:ext uri="{FF2B5EF4-FFF2-40B4-BE49-F238E27FC236}">
                <a16:creationId xmlns:a16="http://schemas.microsoft.com/office/drawing/2014/main" id="{39E11845-C635-4EC0-9F7F-EEC4F0DC5595}"/>
              </a:ext>
            </a:extLst>
          </p:cNvPr>
          <p:cNvSpPr/>
          <p:nvPr/>
        </p:nvSpPr>
        <p:spPr>
          <a:xfrm>
            <a:off x="7477968" y="5301060"/>
            <a:ext cx="3186498" cy="0"/>
          </a:xfrm>
          <a:prstGeom prst="line">
            <a:avLst/>
          </a:prstGeom>
          <a:noFill/>
          <a:ln w="11242">
            <a:solidFill>
              <a:srgbClr val="0E8FA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0" name="Shape 96">
            <a:extLst>
              <a:ext uri="{FF2B5EF4-FFF2-40B4-BE49-F238E27FC236}">
                <a16:creationId xmlns:a16="http://schemas.microsoft.com/office/drawing/2014/main" id="{FF270B66-F309-47E9-AE38-29503711FFC1}"/>
              </a:ext>
            </a:extLst>
          </p:cNvPr>
          <p:cNvSpPr/>
          <p:nvPr/>
        </p:nvSpPr>
        <p:spPr>
          <a:xfrm>
            <a:off x="8306641" y="5586558"/>
            <a:ext cx="2160000" cy="0"/>
          </a:xfrm>
          <a:prstGeom prst="line">
            <a:avLst/>
          </a:prstGeom>
          <a:noFill/>
          <a:ln w="11242">
            <a:solidFill>
              <a:srgbClr val="E24B4A"/>
            </a:solidFill>
            <a:prstDash val="solid"/>
          </a:ln>
        </p:spPr>
      </p:sp>
      <p:sp>
        <p:nvSpPr>
          <p:cNvPr id="271" name="Shape 97">
            <a:extLst>
              <a:ext uri="{FF2B5EF4-FFF2-40B4-BE49-F238E27FC236}">
                <a16:creationId xmlns:a16="http://schemas.microsoft.com/office/drawing/2014/main" id="{A3D73C4A-BD4B-422F-9A48-26375E0A87DB}"/>
              </a:ext>
            </a:extLst>
          </p:cNvPr>
          <p:cNvSpPr/>
          <p:nvPr/>
        </p:nvSpPr>
        <p:spPr>
          <a:xfrm>
            <a:off x="8306641" y="5868090"/>
            <a:ext cx="2160000" cy="0"/>
          </a:xfrm>
          <a:prstGeom prst="line">
            <a:avLst/>
          </a:prstGeom>
          <a:noFill/>
          <a:ln w="11242">
            <a:solidFill>
              <a:srgbClr val="7F77DD"/>
            </a:solidFill>
            <a:prstDash val="solid"/>
          </a:ln>
        </p:spPr>
      </p:sp>
      <p:sp>
        <p:nvSpPr>
          <p:cNvPr id="272" name="Shape 98">
            <a:extLst>
              <a:ext uri="{FF2B5EF4-FFF2-40B4-BE49-F238E27FC236}">
                <a16:creationId xmlns:a16="http://schemas.microsoft.com/office/drawing/2014/main" id="{60D8C2FC-40C3-4929-B2C4-F73C84B7D1BC}"/>
              </a:ext>
            </a:extLst>
          </p:cNvPr>
          <p:cNvSpPr/>
          <p:nvPr/>
        </p:nvSpPr>
        <p:spPr>
          <a:xfrm flipH="1">
            <a:off x="10331175" y="4800509"/>
            <a:ext cx="0" cy="1606749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3" name="Shape 100">
            <a:extLst>
              <a:ext uri="{FF2B5EF4-FFF2-40B4-BE49-F238E27FC236}">
                <a16:creationId xmlns:a16="http://schemas.microsoft.com/office/drawing/2014/main" id="{45F1312C-B2F8-4094-A47C-9CC9FE99F86D}"/>
              </a:ext>
            </a:extLst>
          </p:cNvPr>
          <p:cNvSpPr/>
          <p:nvPr/>
        </p:nvSpPr>
        <p:spPr>
          <a:xfrm>
            <a:off x="8306641" y="6161890"/>
            <a:ext cx="2357825" cy="0"/>
          </a:xfrm>
          <a:prstGeom prst="line">
            <a:avLst/>
          </a:prstGeom>
          <a:noFill/>
          <a:ln w="11242">
            <a:solidFill>
              <a:srgbClr val="0F6E56"/>
            </a:solidFill>
            <a:prstDash val="solid"/>
          </a:ln>
        </p:spPr>
      </p:sp>
      <p:sp>
        <p:nvSpPr>
          <p:cNvPr id="274" name="Shape 102">
            <a:extLst>
              <a:ext uri="{FF2B5EF4-FFF2-40B4-BE49-F238E27FC236}">
                <a16:creationId xmlns:a16="http://schemas.microsoft.com/office/drawing/2014/main" id="{B827AC71-C526-4B61-ADE4-8693FAD82842}"/>
              </a:ext>
            </a:extLst>
          </p:cNvPr>
          <p:cNvSpPr/>
          <p:nvPr/>
        </p:nvSpPr>
        <p:spPr>
          <a:xfrm flipH="1">
            <a:off x="8588171" y="4808475"/>
            <a:ext cx="0" cy="1589489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275" name="Shape 103">
            <a:extLst>
              <a:ext uri="{FF2B5EF4-FFF2-40B4-BE49-F238E27FC236}">
                <a16:creationId xmlns:a16="http://schemas.microsoft.com/office/drawing/2014/main" id="{15D9D0DC-E15B-412D-9927-A1ECC85D668D}"/>
              </a:ext>
            </a:extLst>
          </p:cNvPr>
          <p:cNvSpPr/>
          <p:nvPr/>
        </p:nvSpPr>
        <p:spPr>
          <a:xfrm>
            <a:off x="9356732" y="4823258"/>
            <a:ext cx="0" cy="1595613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276" name="Shape 104">
            <a:extLst>
              <a:ext uri="{FF2B5EF4-FFF2-40B4-BE49-F238E27FC236}">
                <a16:creationId xmlns:a16="http://schemas.microsoft.com/office/drawing/2014/main" id="{4E964B1D-88FD-41B0-A809-E6EB1B61F2C0}"/>
              </a:ext>
            </a:extLst>
          </p:cNvPr>
          <p:cNvSpPr/>
          <p:nvPr/>
        </p:nvSpPr>
        <p:spPr>
          <a:xfrm flipH="1">
            <a:off x="10100641" y="4823258"/>
            <a:ext cx="0" cy="1584000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1" name="Text 209">
            <a:extLst>
              <a:ext uri="{FF2B5EF4-FFF2-40B4-BE49-F238E27FC236}">
                <a16:creationId xmlns:a16="http://schemas.microsoft.com/office/drawing/2014/main" id="{4BEA6FD3-0276-48A1-99C6-F5227FA95E99}"/>
              </a:ext>
            </a:extLst>
          </p:cNvPr>
          <p:cNvSpPr txBox="1"/>
          <p:nvPr/>
        </p:nvSpPr>
        <p:spPr>
          <a:xfrm>
            <a:off x="9356731" y="4390050"/>
            <a:ext cx="969897" cy="1139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C — 5G CNF </a:t>
            </a:r>
            <a:endParaRPr lang="en-US" sz="900" dirty="0"/>
          </a:p>
        </p:txBody>
      </p:sp>
      <p:sp>
        <p:nvSpPr>
          <p:cNvPr id="282" name="Text 210">
            <a:extLst>
              <a:ext uri="{FF2B5EF4-FFF2-40B4-BE49-F238E27FC236}">
                <a16:creationId xmlns:a16="http://schemas.microsoft.com/office/drawing/2014/main" id="{999FE4A4-F87D-47DA-9219-B3076A61F62C}"/>
              </a:ext>
            </a:extLst>
          </p:cNvPr>
          <p:cNvSpPr txBox="1"/>
          <p:nvPr/>
        </p:nvSpPr>
        <p:spPr>
          <a:xfrm>
            <a:off x="8236259" y="4565824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Bastion-C</a:t>
            </a:r>
            <a:endParaRPr lang="en-US" sz="800" dirty="0"/>
          </a:p>
        </p:txBody>
      </p:sp>
      <p:sp>
        <p:nvSpPr>
          <p:cNvPr id="283" name="Text 211">
            <a:extLst>
              <a:ext uri="{FF2B5EF4-FFF2-40B4-BE49-F238E27FC236}">
                <a16:creationId xmlns:a16="http://schemas.microsoft.com/office/drawing/2014/main" id="{151C42BD-9BDC-43B4-B9FF-AC2EB2CBCFB7}"/>
              </a:ext>
            </a:extLst>
          </p:cNvPr>
          <p:cNvSpPr txBox="1"/>
          <p:nvPr/>
        </p:nvSpPr>
        <p:spPr>
          <a:xfrm>
            <a:off x="8236259" y="4641318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 / 설치 CLI</a:t>
            </a:r>
            <a:endParaRPr lang="en-US" sz="800" dirty="0"/>
          </a:p>
        </p:txBody>
      </p:sp>
      <p:sp>
        <p:nvSpPr>
          <p:cNvPr id="284" name="Text 212">
            <a:extLst>
              <a:ext uri="{FF2B5EF4-FFF2-40B4-BE49-F238E27FC236}">
                <a16:creationId xmlns:a16="http://schemas.microsoft.com/office/drawing/2014/main" id="{E3996E02-4416-49C6-9B13-8305F554AF86}"/>
              </a:ext>
            </a:extLst>
          </p:cNvPr>
          <p:cNvSpPr txBox="1"/>
          <p:nvPr/>
        </p:nvSpPr>
        <p:spPr>
          <a:xfrm>
            <a:off x="9080853" y="4565824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Master-C ×3</a:t>
            </a:r>
            <a:endParaRPr lang="en-US" sz="800" dirty="0"/>
          </a:p>
        </p:txBody>
      </p:sp>
      <p:sp>
        <p:nvSpPr>
          <p:cNvPr id="285" name="Text 213">
            <a:extLst>
              <a:ext uri="{FF2B5EF4-FFF2-40B4-BE49-F238E27FC236}">
                <a16:creationId xmlns:a16="http://schemas.microsoft.com/office/drawing/2014/main" id="{D8452CBE-A5B1-493B-B56C-13FEED72E10B}"/>
              </a:ext>
            </a:extLst>
          </p:cNvPr>
          <p:cNvSpPr txBox="1"/>
          <p:nvPr/>
        </p:nvSpPr>
        <p:spPr>
          <a:xfrm>
            <a:off x="9080853" y="4641318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286" name="Text 214">
            <a:extLst>
              <a:ext uri="{FF2B5EF4-FFF2-40B4-BE49-F238E27FC236}">
                <a16:creationId xmlns:a16="http://schemas.microsoft.com/office/drawing/2014/main" id="{F7F973F9-7559-4B14-B00D-DBA32B7A1C99}"/>
              </a:ext>
            </a:extLst>
          </p:cNvPr>
          <p:cNvSpPr txBox="1"/>
          <p:nvPr/>
        </p:nvSpPr>
        <p:spPr>
          <a:xfrm>
            <a:off x="9995830" y="4565824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Worker-C</a:t>
            </a:r>
            <a:endParaRPr lang="en-US" sz="800" dirty="0"/>
          </a:p>
        </p:txBody>
      </p:sp>
      <p:sp>
        <p:nvSpPr>
          <p:cNvPr id="287" name="Text 215">
            <a:extLst>
              <a:ext uri="{FF2B5EF4-FFF2-40B4-BE49-F238E27FC236}">
                <a16:creationId xmlns:a16="http://schemas.microsoft.com/office/drawing/2014/main" id="{AFB55AE4-0EAD-4D93-BCEE-BF874114CA8E}"/>
              </a:ext>
            </a:extLst>
          </p:cNvPr>
          <p:cNvSpPr txBox="1"/>
          <p:nvPr/>
        </p:nvSpPr>
        <p:spPr>
          <a:xfrm>
            <a:off x="9995830" y="4666655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AMF/SMF/UPF</a:t>
            </a:r>
            <a:endParaRPr lang="en-US" sz="800" dirty="0"/>
          </a:p>
        </p:txBody>
      </p:sp>
      <p:sp>
        <p:nvSpPr>
          <p:cNvPr id="288" name="Text 216">
            <a:extLst>
              <a:ext uri="{FF2B5EF4-FFF2-40B4-BE49-F238E27FC236}">
                <a16:creationId xmlns:a16="http://schemas.microsoft.com/office/drawing/2014/main" id="{70233423-55B9-4FC9-8821-BCD49A5BAEA4}"/>
              </a:ext>
            </a:extLst>
          </p:cNvPr>
          <p:cNvSpPr txBox="1"/>
          <p:nvPr/>
        </p:nvSpPr>
        <p:spPr>
          <a:xfrm>
            <a:off x="10418198" y="5090610"/>
            <a:ext cx="497396" cy="1461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 Switch </a:t>
            </a:r>
            <a:endParaRPr lang="en-US" sz="600" dirty="0"/>
          </a:p>
        </p:txBody>
      </p:sp>
      <p:sp>
        <p:nvSpPr>
          <p:cNvPr id="289" name="Text 217">
            <a:extLst>
              <a:ext uri="{FF2B5EF4-FFF2-40B4-BE49-F238E27FC236}">
                <a16:creationId xmlns:a16="http://schemas.microsoft.com/office/drawing/2014/main" id="{D6C1D411-1C9A-4B0F-9189-215B48933FCE}"/>
              </a:ext>
            </a:extLst>
          </p:cNvPr>
          <p:cNvSpPr txBox="1"/>
          <p:nvPr/>
        </p:nvSpPr>
        <p:spPr>
          <a:xfrm>
            <a:off x="10419995" y="5041376"/>
            <a:ext cx="711837" cy="9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172.32.99.2</a:t>
            </a:r>
            <a:endParaRPr lang="en-US" sz="600" dirty="0"/>
          </a:p>
        </p:txBody>
      </p:sp>
      <p:sp>
        <p:nvSpPr>
          <p:cNvPr id="290" name="Text 218">
            <a:extLst>
              <a:ext uri="{FF2B5EF4-FFF2-40B4-BE49-F238E27FC236}">
                <a16:creationId xmlns:a16="http://schemas.microsoft.com/office/drawing/2014/main" id="{A369E30D-5AD2-45C5-9A40-CB35FDE022CD}"/>
              </a:ext>
            </a:extLst>
          </p:cNvPr>
          <p:cNvSpPr txBox="1"/>
          <p:nvPr/>
        </p:nvSpPr>
        <p:spPr>
          <a:xfrm>
            <a:off x="7689557" y="520297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91" name="Text 219">
            <a:extLst>
              <a:ext uri="{FF2B5EF4-FFF2-40B4-BE49-F238E27FC236}">
                <a16:creationId xmlns:a16="http://schemas.microsoft.com/office/drawing/2014/main" id="{C1BE6F36-EC22-47CF-98BE-BAA6DBFB9AE1}"/>
              </a:ext>
            </a:extLst>
          </p:cNvPr>
          <p:cNvSpPr txBox="1"/>
          <p:nvPr/>
        </p:nvSpPr>
        <p:spPr>
          <a:xfrm>
            <a:off x="8355909" y="5202268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1000 · 172.32.10.0/24</a:t>
            </a:r>
            <a:endParaRPr lang="en-US" sz="600" dirty="0"/>
          </a:p>
        </p:txBody>
      </p:sp>
      <p:sp>
        <p:nvSpPr>
          <p:cNvPr id="292" name="Text 220">
            <a:extLst>
              <a:ext uri="{FF2B5EF4-FFF2-40B4-BE49-F238E27FC236}">
                <a16:creationId xmlns:a16="http://schemas.microsoft.com/office/drawing/2014/main" id="{C5EF1C57-5EEA-4DAA-B4AF-859A52A55A84}"/>
              </a:ext>
            </a:extLst>
          </p:cNvPr>
          <p:cNvSpPr txBox="1"/>
          <p:nvPr/>
        </p:nvSpPr>
        <p:spPr>
          <a:xfrm>
            <a:off x="7704612" y="5502100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MacVLAN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(SBI/N2,N4)</a:t>
            </a:r>
            <a:endParaRPr lang="en-US" sz="600" dirty="0"/>
          </a:p>
        </p:txBody>
      </p:sp>
      <p:sp>
        <p:nvSpPr>
          <p:cNvPr id="293" name="Text 221">
            <a:extLst>
              <a:ext uri="{FF2B5EF4-FFF2-40B4-BE49-F238E27FC236}">
                <a16:creationId xmlns:a16="http://schemas.microsoft.com/office/drawing/2014/main" id="{B5BF523A-4D18-41EC-9316-62899D5A453D}"/>
              </a:ext>
            </a:extLst>
          </p:cNvPr>
          <p:cNvSpPr txBox="1"/>
          <p:nvPr/>
        </p:nvSpPr>
        <p:spPr>
          <a:xfrm>
            <a:off x="8355909" y="5502100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1100/2000 · 10.32.0.0/27,/28</a:t>
            </a:r>
            <a:endParaRPr lang="en-US" sz="600" dirty="0"/>
          </a:p>
        </p:txBody>
      </p:sp>
      <p:sp>
        <p:nvSpPr>
          <p:cNvPr id="294" name="Text 222">
            <a:extLst>
              <a:ext uri="{FF2B5EF4-FFF2-40B4-BE49-F238E27FC236}">
                <a16:creationId xmlns:a16="http://schemas.microsoft.com/office/drawing/2014/main" id="{97E620AC-5936-4B18-B2AB-23CD7A489F5D}"/>
              </a:ext>
            </a:extLst>
          </p:cNvPr>
          <p:cNvSpPr txBox="1"/>
          <p:nvPr/>
        </p:nvSpPr>
        <p:spPr>
          <a:xfrm>
            <a:off x="7717270" y="579154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SR-IOV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(N3/N6,UPF)</a:t>
            </a:r>
            <a:endParaRPr lang="en-US" sz="600" dirty="0"/>
          </a:p>
        </p:txBody>
      </p:sp>
      <p:sp>
        <p:nvSpPr>
          <p:cNvPr id="295" name="Text 223">
            <a:extLst>
              <a:ext uri="{FF2B5EF4-FFF2-40B4-BE49-F238E27FC236}">
                <a16:creationId xmlns:a16="http://schemas.microsoft.com/office/drawing/2014/main" id="{43FB19A4-DD35-49A5-AF92-7114BCA223B7}"/>
              </a:ext>
            </a:extLst>
          </p:cNvPr>
          <p:cNvSpPr txBox="1"/>
          <p:nvPr/>
        </p:nvSpPr>
        <p:spPr>
          <a:xfrm>
            <a:off x="8355909" y="5783631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3000/3100 · vfio-pci(DPDK)</a:t>
            </a:r>
            <a:endParaRPr lang="en-US" sz="600" dirty="0"/>
          </a:p>
        </p:txBody>
      </p:sp>
      <p:sp>
        <p:nvSpPr>
          <p:cNvPr id="296" name="Text 226">
            <a:extLst>
              <a:ext uri="{FF2B5EF4-FFF2-40B4-BE49-F238E27FC236}">
                <a16:creationId xmlns:a16="http://schemas.microsoft.com/office/drawing/2014/main" id="{4B24C1F5-0EB4-4485-8DE3-30414B1B7A3C}"/>
              </a:ext>
            </a:extLst>
          </p:cNvPr>
          <p:cNvSpPr txBox="1"/>
          <p:nvPr/>
        </p:nvSpPr>
        <p:spPr>
          <a:xfrm>
            <a:off x="7708147" y="608212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97" name="Text 227">
            <a:extLst>
              <a:ext uri="{FF2B5EF4-FFF2-40B4-BE49-F238E27FC236}">
                <a16:creationId xmlns:a16="http://schemas.microsoft.com/office/drawing/2014/main" id="{186A65AB-0998-4620-871E-B2D279F731E6}"/>
              </a:ext>
            </a:extLst>
          </p:cNvPr>
          <p:cNvSpPr txBox="1"/>
          <p:nvPr/>
        </p:nvSpPr>
        <p:spPr>
          <a:xfrm>
            <a:off x="8355909" y="6089654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1200 · 172.32.20.0/24</a:t>
            </a:r>
            <a:endParaRPr lang="en-US" sz="600" dirty="0"/>
          </a:p>
        </p:txBody>
      </p:sp>
      <p:sp>
        <p:nvSpPr>
          <p:cNvPr id="298" name="Text 228">
            <a:extLst>
              <a:ext uri="{FF2B5EF4-FFF2-40B4-BE49-F238E27FC236}">
                <a16:creationId xmlns:a16="http://schemas.microsoft.com/office/drawing/2014/main" id="{12B87896-9598-4AAC-ADC0-A22BEB31D22D}"/>
              </a:ext>
            </a:extLst>
          </p:cNvPr>
          <p:cNvSpPr txBox="1"/>
          <p:nvPr/>
        </p:nvSpPr>
        <p:spPr>
          <a:xfrm>
            <a:off x="8236259" y="6433967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/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MGMT network: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/iDRAC +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 cluster C</a:t>
            </a:r>
            <a:endParaRPr lang="en-US" sz="600" dirty="0"/>
          </a:p>
        </p:txBody>
      </p:sp>
      <p:sp>
        <p:nvSpPr>
          <p:cNvPr id="299" name="Text 229">
            <a:extLst>
              <a:ext uri="{FF2B5EF4-FFF2-40B4-BE49-F238E27FC236}">
                <a16:creationId xmlns:a16="http://schemas.microsoft.com/office/drawing/2014/main" id="{834F22FA-D279-4547-A599-5BF3FCBB3568}"/>
              </a:ext>
            </a:extLst>
          </p:cNvPr>
          <p:cNvSpPr txBox="1"/>
          <p:nvPr/>
        </p:nvSpPr>
        <p:spPr>
          <a:xfrm>
            <a:off x="8236259" y="6501535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172.32.99.1</a:t>
            </a:r>
            <a:endParaRPr lang="en-US" sz="600" dirty="0"/>
          </a:p>
        </p:txBody>
      </p:sp>
      <p:sp>
        <p:nvSpPr>
          <p:cNvPr id="300" name="Text 230">
            <a:extLst>
              <a:ext uri="{FF2B5EF4-FFF2-40B4-BE49-F238E27FC236}">
                <a16:creationId xmlns:a16="http://schemas.microsoft.com/office/drawing/2014/main" id="{24A883C6-C79D-4B80-B47E-D9567B4D54B6}"/>
              </a:ext>
            </a:extLst>
          </p:cNvPr>
          <p:cNvSpPr txBox="1"/>
          <p:nvPr/>
        </p:nvSpPr>
        <p:spPr>
          <a:xfrm>
            <a:off x="9356732" y="6317140"/>
            <a:ext cx="387106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854F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Port</a:t>
            </a:r>
            <a:endParaRPr lang="en-US" sz="600" dirty="0"/>
          </a:p>
        </p:txBody>
      </p:sp>
      <p:sp>
        <p:nvSpPr>
          <p:cNvPr id="301" name="Shape 32">
            <a:extLst>
              <a:ext uri="{FF2B5EF4-FFF2-40B4-BE49-F238E27FC236}">
                <a16:creationId xmlns:a16="http://schemas.microsoft.com/office/drawing/2014/main" id="{A5B1FD3E-CA59-472E-8C59-17EC956D1FEE}"/>
              </a:ext>
            </a:extLst>
          </p:cNvPr>
          <p:cNvSpPr/>
          <p:nvPr/>
        </p:nvSpPr>
        <p:spPr>
          <a:xfrm>
            <a:off x="10313580" y="6144295"/>
            <a:ext cx="35191" cy="35191"/>
          </a:xfrm>
          <a:prstGeom prst="ellipse">
            <a:avLst/>
          </a:prstGeom>
          <a:solidFill>
            <a:srgbClr val="00B050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302" name="Shape 98">
            <a:extLst>
              <a:ext uri="{FF2B5EF4-FFF2-40B4-BE49-F238E27FC236}">
                <a16:creationId xmlns:a16="http://schemas.microsoft.com/office/drawing/2014/main" id="{E8791106-B937-4A75-A037-3DDEA8E41591}"/>
              </a:ext>
            </a:extLst>
          </p:cNvPr>
          <p:cNvSpPr/>
          <p:nvPr/>
        </p:nvSpPr>
        <p:spPr>
          <a:xfrm flipH="1">
            <a:off x="9535590" y="4792576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3" name="Shape 30">
            <a:extLst>
              <a:ext uri="{FF2B5EF4-FFF2-40B4-BE49-F238E27FC236}">
                <a16:creationId xmlns:a16="http://schemas.microsoft.com/office/drawing/2014/main" id="{85255EE7-FD17-4FEE-87BB-F21F51CD5D31}"/>
              </a:ext>
            </a:extLst>
          </p:cNvPr>
          <p:cNvSpPr/>
          <p:nvPr/>
        </p:nvSpPr>
        <p:spPr>
          <a:xfrm>
            <a:off x="10313580" y="528346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304" name="Shape 30">
            <a:extLst>
              <a:ext uri="{FF2B5EF4-FFF2-40B4-BE49-F238E27FC236}">
                <a16:creationId xmlns:a16="http://schemas.microsoft.com/office/drawing/2014/main" id="{C7128658-EFF7-4E0F-8D98-3300BED28BDD}"/>
              </a:ext>
            </a:extLst>
          </p:cNvPr>
          <p:cNvSpPr/>
          <p:nvPr/>
        </p:nvSpPr>
        <p:spPr>
          <a:xfrm>
            <a:off x="9517956" y="528346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305" name="Shape 98">
            <a:extLst>
              <a:ext uri="{FF2B5EF4-FFF2-40B4-BE49-F238E27FC236}">
                <a16:creationId xmlns:a16="http://schemas.microsoft.com/office/drawing/2014/main" id="{0D41DA53-C6D9-471D-AFFB-C6681561145A}"/>
              </a:ext>
            </a:extLst>
          </p:cNvPr>
          <p:cNvSpPr/>
          <p:nvPr/>
        </p:nvSpPr>
        <p:spPr>
          <a:xfrm flipH="1">
            <a:off x="8725883" y="4794752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6" name="Shape 30">
            <a:extLst>
              <a:ext uri="{FF2B5EF4-FFF2-40B4-BE49-F238E27FC236}">
                <a16:creationId xmlns:a16="http://schemas.microsoft.com/office/drawing/2014/main" id="{BA736F86-B1D8-44DD-B750-427D13468F6F}"/>
              </a:ext>
            </a:extLst>
          </p:cNvPr>
          <p:cNvSpPr/>
          <p:nvPr/>
        </p:nvSpPr>
        <p:spPr>
          <a:xfrm>
            <a:off x="8708249" y="528346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307" name="Shape 23">
            <a:extLst>
              <a:ext uri="{FF2B5EF4-FFF2-40B4-BE49-F238E27FC236}">
                <a16:creationId xmlns:a16="http://schemas.microsoft.com/office/drawing/2014/main" id="{C87A7C77-0287-47C7-B780-F10CEBFCAD2C}"/>
              </a:ext>
            </a:extLst>
          </p:cNvPr>
          <p:cNvSpPr/>
          <p:nvPr/>
        </p:nvSpPr>
        <p:spPr>
          <a:xfrm>
            <a:off x="3936651" y="3781393"/>
            <a:ext cx="4100107" cy="354366"/>
          </a:xfrm>
          <a:prstGeom prst="roundRect">
            <a:avLst>
              <a:gd name="adj" fmla="val 0"/>
            </a:avLst>
          </a:prstGeom>
          <a:solidFill>
            <a:srgbClr val="F3ECFB"/>
          </a:solidFill>
          <a:ln w="7332">
            <a:solidFill>
              <a:srgbClr val="534AB7"/>
            </a:solidFill>
            <a:prstDash val="solid"/>
          </a:ln>
        </p:spPr>
      </p:sp>
      <p:sp>
        <p:nvSpPr>
          <p:cNvPr id="318" name="Text 203">
            <a:extLst>
              <a:ext uri="{FF2B5EF4-FFF2-40B4-BE49-F238E27FC236}">
                <a16:creationId xmlns:a16="http://schemas.microsoft.com/office/drawing/2014/main" id="{55E4B43D-0261-49A0-A4C6-EEE6FD48ACDF}"/>
              </a:ext>
            </a:extLst>
          </p:cNvPr>
          <p:cNvSpPr txBox="1"/>
          <p:nvPr/>
        </p:nvSpPr>
        <p:spPr>
          <a:xfrm>
            <a:off x="4470957" y="3800602"/>
            <a:ext cx="3031495" cy="17952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Inter-Cluster Aggregation Switch</a:t>
            </a:r>
            <a:endParaRPr lang="en-US" sz="900" dirty="0"/>
          </a:p>
        </p:txBody>
      </p:sp>
      <p:sp>
        <p:nvSpPr>
          <p:cNvPr id="319" name="Text 204">
            <a:extLst>
              <a:ext uri="{FF2B5EF4-FFF2-40B4-BE49-F238E27FC236}">
                <a16:creationId xmlns:a16="http://schemas.microsoft.com/office/drawing/2014/main" id="{D0EFE8F2-588D-4BEC-934A-D5A02F5C53CE}"/>
              </a:ext>
            </a:extLst>
          </p:cNvPr>
          <p:cNvSpPr txBox="1"/>
          <p:nvPr/>
        </p:nvSpPr>
        <p:spPr>
          <a:xfrm>
            <a:off x="4109352" y="3989986"/>
            <a:ext cx="3790913" cy="140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A ↔ B/C L3 라우팅 (동일 서브넷 불필요, 단일 스위치) · Mgmt IP 172.30.1.1</a:t>
            </a:r>
            <a:endParaRPr lang="en-US" sz="800" dirty="0"/>
          </a:p>
        </p:txBody>
      </p:sp>
      <p:sp>
        <p:nvSpPr>
          <p:cNvPr id="320" name="Shape 20">
            <a:extLst>
              <a:ext uri="{FF2B5EF4-FFF2-40B4-BE49-F238E27FC236}">
                <a16:creationId xmlns:a16="http://schemas.microsoft.com/office/drawing/2014/main" id="{34231D2D-301A-45EC-A7D2-8DC210EB73C1}"/>
              </a:ext>
            </a:extLst>
          </p:cNvPr>
          <p:cNvSpPr/>
          <p:nvPr/>
        </p:nvSpPr>
        <p:spPr>
          <a:xfrm>
            <a:off x="8314387" y="2716906"/>
            <a:ext cx="1755033" cy="31672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332">
            <a:solidFill>
              <a:srgbClr val="5F5E5A"/>
            </a:solidFill>
            <a:prstDash val="solid"/>
          </a:ln>
        </p:spPr>
      </p:sp>
      <p:sp>
        <p:nvSpPr>
          <p:cNvPr id="321" name="Shape 21">
            <a:extLst>
              <a:ext uri="{FF2B5EF4-FFF2-40B4-BE49-F238E27FC236}">
                <a16:creationId xmlns:a16="http://schemas.microsoft.com/office/drawing/2014/main" id="{D524D73F-0F0F-454E-BE0A-C569319DF660}"/>
              </a:ext>
            </a:extLst>
          </p:cNvPr>
          <p:cNvSpPr/>
          <p:nvPr/>
        </p:nvSpPr>
        <p:spPr>
          <a:xfrm>
            <a:off x="9680310" y="3441598"/>
            <a:ext cx="1682296" cy="31672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332">
            <a:solidFill>
              <a:srgbClr val="5F5E5A"/>
            </a:solidFill>
            <a:prstDash val="solid"/>
          </a:ln>
        </p:spPr>
      </p:sp>
      <p:sp>
        <p:nvSpPr>
          <p:cNvPr id="324" name="Text 196">
            <a:extLst>
              <a:ext uri="{FF2B5EF4-FFF2-40B4-BE49-F238E27FC236}">
                <a16:creationId xmlns:a16="http://schemas.microsoft.com/office/drawing/2014/main" id="{C3EAB912-E371-4E1E-8BAB-BAFFAABF6CAF}"/>
              </a:ext>
            </a:extLst>
          </p:cNvPr>
          <p:cNvSpPr txBox="1"/>
          <p:nvPr/>
        </p:nvSpPr>
        <p:spPr>
          <a:xfrm>
            <a:off x="8664032" y="2730032"/>
            <a:ext cx="1055743" cy="158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Harbor Registry</a:t>
            </a:r>
            <a:endParaRPr lang="en-US" sz="800" dirty="0"/>
          </a:p>
        </p:txBody>
      </p:sp>
      <p:sp>
        <p:nvSpPr>
          <p:cNvPr id="325" name="Text 197">
            <a:extLst>
              <a:ext uri="{FF2B5EF4-FFF2-40B4-BE49-F238E27FC236}">
                <a16:creationId xmlns:a16="http://schemas.microsoft.com/office/drawing/2014/main" id="{25B3D30E-1A22-4327-9B1F-E77F3883C794}"/>
              </a:ext>
            </a:extLst>
          </p:cNvPr>
          <p:cNvSpPr txBox="1"/>
          <p:nvPr/>
        </p:nvSpPr>
        <p:spPr>
          <a:xfrm>
            <a:off x="8360480" y="2888594"/>
            <a:ext cx="1662846" cy="140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RHOCP/Operator/CNF Image 공용</a:t>
            </a:r>
            <a:endParaRPr lang="en-US" sz="800" dirty="0"/>
          </a:p>
        </p:txBody>
      </p:sp>
      <p:sp>
        <p:nvSpPr>
          <p:cNvPr id="326" name="Text 198">
            <a:extLst>
              <a:ext uri="{FF2B5EF4-FFF2-40B4-BE49-F238E27FC236}">
                <a16:creationId xmlns:a16="http://schemas.microsoft.com/office/drawing/2014/main" id="{37F81400-4E25-438E-8289-CC17CBD7008D}"/>
              </a:ext>
            </a:extLst>
          </p:cNvPr>
          <p:cNvSpPr txBox="1"/>
          <p:nvPr/>
        </p:nvSpPr>
        <p:spPr>
          <a:xfrm>
            <a:off x="9923204" y="3467603"/>
            <a:ext cx="1196508" cy="158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Storage Cluster</a:t>
            </a:r>
            <a:endParaRPr lang="en-US" sz="800" dirty="0"/>
          </a:p>
        </p:txBody>
      </p:sp>
      <p:sp>
        <p:nvSpPr>
          <p:cNvPr id="327" name="Text 199">
            <a:extLst>
              <a:ext uri="{FF2B5EF4-FFF2-40B4-BE49-F238E27FC236}">
                <a16:creationId xmlns:a16="http://schemas.microsoft.com/office/drawing/2014/main" id="{1608CFBD-2275-46A7-B35F-C0FF9C4525C4}"/>
              </a:ext>
            </a:extLst>
          </p:cNvPr>
          <p:cNvSpPr txBox="1"/>
          <p:nvPr/>
        </p:nvSpPr>
        <p:spPr>
          <a:xfrm>
            <a:off x="9923204" y="3630141"/>
            <a:ext cx="1196508" cy="158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Harbor 백엔드 (Ceph, 공용)</a:t>
            </a:r>
            <a:endParaRPr lang="en-US" sz="800" dirty="0"/>
          </a:p>
        </p:txBody>
      </p:sp>
      <p:sp>
        <p:nvSpPr>
          <p:cNvPr id="328" name="Shape 11">
            <a:extLst>
              <a:ext uri="{FF2B5EF4-FFF2-40B4-BE49-F238E27FC236}">
                <a16:creationId xmlns:a16="http://schemas.microsoft.com/office/drawing/2014/main" id="{9207FCE9-AE8F-4797-A0E3-9817FCFBC54B}"/>
              </a:ext>
            </a:extLst>
          </p:cNvPr>
          <p:cNvSpPr/>
          <p:nvPr/>
        </p:nvSpPr>
        <p:spPr>
          <a:xfrm>
            <a:off x="4633730" y="5985168"/>
            <a:ext cx="860323" cy="27474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29" name="Text 183">
            <a:extLst>
              <a:ext uri="{FF2B5EF4-FFF2-40B4-BE49-F238E27FC236}">
                <a16:creationId xmlns:a16="http://schemas.microsoft.com/office/drawing/2014/main" id="{72537836-37B1-4AA6-BAF0-BA705DC8F115}"/>
              </a:ext>
            </a:extLst>
          </p:cNvPr>
          <p:cNvSpPr txBox="1"/>
          <p:nvPr/>
        </p:nvSpPr>
        <p:spPr>
          <a:xfrm>
            <a:off x="4656183" y="6029901"/>
            <a:ext cx="815417" cy="9008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Storage-B (CSI)</a:t>
            </a:r>
            <a:endParaRPr lang="en-US" sz="800" dirty="0"/>
          </a:p>
        </p:txBody>
      </p:sp>
      <p:sp>
        <p:nvSpPr>
          <p:cNvPr id="330" name="Text 184">
            <a:extLst>
              <a:ext uri="{FF2B5EF4-FFF2-40B4-BE49-F238E27FC236}">
                <a16:creationId xmlns:a16="http://schemas.microsoft.com/office/drawing/2014/main" id="{F05D8734-60B0-4D40-911F-E0D293233D24}"/>
              </a:ext>
            </a:extLst>
          </p:cNvPr>
          <p:cNvSpPr txBox="1"/>
          <p:nvPr/>
        </p:nvSpPr>
        <p:spPr>
          <a:xfrm>
            <a:off x="4610532" y="6107322"/>
            <a:ext cx="906718" cy="10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B 전용</a:t>
            </a:r>
            <a:endParaRPr lang="en-US" sz="800" dirty="0"/>
          </a:p>
        </p:txBody>
      </p:sp>
      <p:sp>
        <p:nvSpPr>
          <p:cNvPr id="331" name="Shape 11">
            <a:extLst>
              <a:ext uri="{FF2B5EF4-FFF2-40B4-BE49-F238E27FC236}">
                <a16:creationId xmlns:a16="http://schemas.microsoft.com/office/drawing/2014/main" id="{755D933C-45CE-4ACE-BAC3-B45B8F542E6B}"/>
              </a:ext>
            </a:extLst>
          </p:cNvPr>
          <p:cNvSpPr/>
          <p:nvPr/>
        </p:nvSpPr>
        <p:spPr>
          <a:xfrm>
            <a:off x="10488658" y="6018745"/>
            <a:ext cx="860323" cy="27474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32" name="Text 183">
            <a:extLst>
              <a:ext uri="{FF2B5EF4-FFF2-40B4-BE49-F238E27FC236}">
                <a16:creationId xmlns:a16="http://schemas.microsoft.com/office/drawing/2014/main" id="{3719B5B1-8060-4308-A3B4-0060E18913A5}"/>
              </a:ext>
            </a:extLst>
          </p:cNvPr>
          <p:cNvSpPr txBox="1"/>
          <p:nvPr/>
        </p:nvSpPr>
        <p:spPr>
          <a:xfrm>
            <a:off x="10511111" y="6063478"/>
            <a:ext cx="815417" cy="9008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Storage-C (CSI)</a:t>
            </a:r>
            <a:endParaRPr lang="en-US" sz="800" dirty="0"/>
          </a:p>
        </p:txBody>
      </p:sp>
      <p:sp>
        <p:nvSpPr>
          <p:cNvPr id="333" name="Text 184">
            <a:extLst>
              <a:ext uri="{FF2B5EF4-FFF2-40B4-BE49-F238E27FC236}">
                <a16:creationId xmlns:a16="http://schemas.microsoft.com/office/drawing/2014/main" id="{CDCE8425-B16B-4F78-96B7-9664022A741E}"/>
              </a:ext>
            </a:extLst>
          </p:cNvPr>
          <p:cNvSpPr txBox="1"/>
          <p:nvPr/>
        </p:nvSpPr>
        <p:spPr>
          <a:xfrm>
            <a:off x="10455199" y="6173608"/>
            <a:ext cx="906718" cy="10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C 전용</a:t>
            </a:r>
            <a:endParaRPr lang="en-US" sz="800" dirty="0"/>
          </a:p>
        </p:txBody>
      </p:sp>
      <p:sp>
        <p:nvSpPr>
          <p:cNvPr id="334" name="Shape 70">
            <a:extLst>
              <a:ext uri="{FF2B5EF4-FFF2-40B4-BE49-F238E27FC236}">
                <a16:creationId xmlns:a16="http://schemas.microsoft.com/office/drawing/2014/main" id="{9871E599-B878-479D-BB99-C4626093E590}"/>
              </a:ext>
            </a:extLst>
          </p:cNvPr>
          <p:cNvSpPr/>
          <p:nvPr/>
        </p:nvSpPr>
        <p:spPr>
          <a:xfrm>
            <a:off x="6789824" y="2225480"/>
            <a:ext cx="0" cy="924736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5" name="Shape 70">
            <a:extLst>
              <a:ext uri="{FF2B5EF4-FFF2-40B4-BE49-F238E27FC236}">
                <a16:creationId xmlns:a16="http://schemas.microsoft.com/office/drawing/2014/main" id="{1D91C928-8C26-4357-8DCD-B5C61A088968}"/>
              </a:ext>
            </a:extLst>
          </p:cNvPr>
          <p:cNvSpPr/>
          <p:nvPr/>
        </p:nvSpPr>
        <p:spPr>
          <a:xfrm>
            <a:off x="4359435" y="2253759"/>
            <a:ext cx="0" cy="892492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6" name="Shape 70">
            <a:extLst>
              <a:ext uri="{FF2B5EF4-FFF2-40B4-BE49-F238E27FC236}">
                <a16:creationId xmlns:a16="http://schemas.microsoft.com/office/drawing/2014/main" id="{D76A3C27-0B3A-4E11-9B05-350ED340E398}"/>
              </a:ext>
            </a:extLst>
          </p:cNvPr>
          <p:cNvSpPr/>
          <p:nvPr/>
        </p:nvSpPr>
        <p:spPr>
          <a:xfrm>
            <a:off x="3477038" y="2247067"/>
            <a:ext cx="0" cy="892492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7" name="Shape 70">
            <a:extLst>
              <a:ext uri="{FF2B5EF4-FFF2-40B4-BE49-F238E27FC236}">
                <a16:creationId xmlns:a16="http://schemas.microsoft.com/office/drawing/2014/main" id="{EF63FB8A-9B85-4434-AAE9-A58988A27893}"/>
              </a:ext>
            </a:extLst>
          </p:cNvPr>
          <p:cNvSpPr/>
          <p:nvPr/>
        </p:nvSpPr>
        <p:spPr>
          <a:xfrm>
            <a:off x="2629374" y="2247067"/>
            <a:ext cx="0" cy="892492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9" name="Shape 58">
            <a:extLst>
              <a:ext uri="{FF2B5EF4-FFF2-40B4-BE49-F238E27FC236}">
                <a16:creationId xmlns:a16="http://schemas.microsoft.com/office/drawing/2014/main" id="{5D940BBF-C574-4A1B-BCA2-4F843BFCB04D}"/>
              </a:ext>
            </a:extLst>
          </p:cNvPr>
          <p:cNvSpPr/>
          <p:nvPr/>
        </p:nvSpPr>
        <p:spPr>
          <a:xfrm>
            <a:off x="3692256" y="2235508"/>
            <a:ext cx="0" cy="63284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1" name="Shape 58">
            <a:extLst>
              <a:ext uri="{FF2B5EF4-FFF2-40B4-BE49-F238E27FC236}">
                <a16:creationId xmlns:a16="http://schemas.microsoft.com/office/drawing/2014/main" id="{CCBCC845-3D49-4EA0-8AC4-E849E3813D34}"/>
              </a:ext>
            </a:extLst>
          </p:cNvPr>
          <p:cNvSpPr/>
          <p:nvPr/>
        </p:nvSpPr>
        <p:spPr>
          <a:xfrm flipH="1">
            <a:off x="5060275" y="2684858"/>
            <a:ext cx="0" cy="18349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3" name="Shape 58">
            <a:extLst>
              <a:ext uri="{FF2B5EF4-FFF2-40B4-BE49-F238E27FC236}">
                <a16:creationId xmlns:a16="http://schemas.microsoft.com/office/drawing/2014/main" id="{0CF46F8F-BA06-4626-A038-F336E3080ABA}"/>
              </a:ext>
            </a:extLst>
          </p:cNvPr>
          <p:cNvSpPr/>
          <p:nvPr/>
        </p:nvSpPr>
        <p:spPr>
          <a:xfrm>
            <a:off x="6047462" y="2243588"/>
            <a:ext cx="0" cy="62476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0" name="Shape 58">
            <a:extLst>
              <a:ext uri="{FF2B5EF4-FFF2-40B4-BE49-F238E27FC236}">
                <a16:creationId xmlns:a16="http://schemas.microsoft.com/office/drawing/2014/main" id="{BC0D0142-36BA-4A69-9EB1-CEFF3150900F}"/>
              </a:ext>
            </a:extLst>
          </p:cNvPr>
          <p:cNvSpPr/>
          <p:nvPr/>
        </p:nvSpPr>
        <p:spPr>
          <a:xfrm>
            <a:off x="6931393" y="2221966"/>
            <a:ext cx="0" cy="646390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1" name="Shape 65">
            <a:extLst>
              <a:ext uri="{FF2B5EF4-FFF2-40B4-BE49-F238E27FC236}">
                <a16:creationId xmlns:a16="http://schemas.microsoft.com/office/drawing/2014/main" id="{73DF3202-B8A3-44C6-A318-96217D218808}"/>
              </a:ext>
            </a:extLst>
          </p:cNvPr>
          <p:cNvSpPr/>
          <p:nvPr/>
        </p:nvSpPr>
        <p:spPr>
          <a:xfrm>
            <a:off x="7080648" y="2214995"/>
            <a:ext cx="0" cy="796424"/>
          </a:xfrm>
          <a:prstGeom prst="line">
            <a:avLst/>
          </a:prstGeom>
          <a:noFill/>
          <a:ln w="8798">
            <a:solidFill>
              <a:srgbClr val="0F6E56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2" name="Text 190">
            <a:extLst>
              <a:ext uri="{FF2B5EF4-FFF2-40B4-BE49-F238E27FC236}">
                <a16:creationId xmlns:a16="http://schemas.microsoft.com/office/drawing/2014/main" id="{D9DE9E08-6E35-46D6-A408-FCA4F4E0EFC2}"/>
              </a:ext>
            </a:extLst>
          </p:cNvPr>
          <p:cNvSpPr txBox="1"/>
          <p:nvPr/>
        </p:nvSpPr>
        <p:spPr>
          <a:xfrm>
            <a:off x="2639952" y="2921775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1200 · 172.30.20.0/24</a:t>
            </a:r>
            <a:endParaRPr lang="en-US" sz="800" dirty="0"/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D1F6E120-B8F4-4BD6-8721-E5E31ADD94CE}"/>
              </a:ext>
            </a:extLst>
          </p:cNvPr>
          <p:cNvCxnSpPr>
            <a:cxnSpLocks/>
            <a:stCxn id="66" idx="1"/>
          </p:cNvCxnSpPr>
          <p:nvPr/>
        </p:nvCxnSpPr>
        <p:spPr>
          <a:xfrm>
            <a:off x="7367739" y="2864924"/>
            <a:ext cx="0" cy="916469"/>
          </a:xfrm>
          <a:prstGeom prst="line">
            <a:avLst/>
          </a:prstGeom>
          <a:ln w="19050">
            <a:solidFill>
              <a:srgbClr val="7030A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 216">
            <a:extLst>
              <a:ext uri="{FF2B5EF4-FFF2-40B4-BE49-F238E27FC236}">
                <a16:creationId xmlns:a16="http://schemas.microsoft.com/office/drawing/2014/main" id="{7D291AC3-D3DD-41D7-A808-6C80ABDA77DE}"/>
              </a:ext>
            </a:extLst>
          </p:cNvPr>
          <p:cNvSpPr txBox="1"/>
          <p:nvPr/>
        </p:nvSpPr>
        <p:spPr>
          <a:xfrm>
            <a:off x="7081288" y="2630406"/>
            <a:ext cx="497396" cy="1461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 Switch </a:t>
            </a:r>
            <a:endParaRPr lang="en-US" sz="600" dirty="0"/>
          </a:p>
        </p:txBody>
      </p:sp>
      <p:cxnSp>
        <p:nvCxnSpPr>
          <p:cNvPr id="354" name="직선 연결선 353">
            <a:extLst>
              <a:ext uri="{FF2B5EF4-FFF2-40B4-BE49-F238E27FC236}">
                <a16:creationId xmlns:a16="http://schemas.microsoft.com/office/drawing/2014/main" id="{795BC0B0-A7BA-4668-8957-BA39AAF0E765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4921315" y="4139340"/>
            <a:ext cx="0" cy="1139341"/>
          </a:xfrm>
          <a:prstGeom prst="line">
            <a:avLst/>
          </a:prstGeom>
          <a:ln w="19050">
            <a:solidFill>
              <a:srgbClr val="7030A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직선 연결선 354">
            <a:extLst>
              <a:ext uri="{FF2B5EF4-FFF2-40B4-BE49-F238E27FC236}">
                <a16:creationId xmlns:a16="http://schemas.microsoft.com/office/drawing/2014/main" id="{C69D926D-A992-494A-B718-3B158D74361E}"/>
              </a:ext>
            </a:extLst>
          </p:cNvPr>
          <p:cNvCxnSpPr>
            <a:cxnSpLocks/>
          </p:cNvCxnSpPr>
          <p:nvPr/>
        </p:nvCxnSpPr>
        <p:spPr>
          <a:xfrm>
            <a:off x="7652960" y="4137156"/>
            <a:ext cx="9729" cy="1181500"/>
          </a:xfrm>
          <a:prstGeom prst="line">
            <a:avLst/>
          </a:prstGeom>
          <a:ln w="19050">
            <a:solidFill>
              <a:srgbClr val="7030A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7C952218-19D6-4A3D-A3F2-10E69CCE81E5}"/>
              </a:ext>
            </a:extLst>
          </p:cNvPr>
          <p:cNvCxnSpPr>
            <a:stCxn id="307" idx="3"/>
            <a:endCxn id="325" idx="2"/>
          </p:cNvCxnSpPr>
          <p:nvPr/>
        </p:nvCxnSpPr>
        <p:spPr>
          <a:xfrm flipV="1">
            <a:off x="8036758" y="3029149"/>
            <a:ext cx="1155145" cy="929427"/>
          </a:xfrm>
          <a:prstGeom prst="bentConnector2">
            <a:avLst/>
          </a:prstGeom>
          <a:ln w="19050">
            <a:solidFill>
              <a:srgbClr val="7030A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연결선: 꺾임 225">
            <a:extLst>
              <a:ext uri="{FF2B5EF4-FFF2-40B4-BE49-F238E27FC236}">
                <a16:creationId xmlns:a16="http://schemas.microsoft.com/office/drawing/2014/main" id="{707F9171-2530-45A5-9BD2-CC9D1DDA1511}"/>
              </a:ext>
            </a:extLst>
          </p:cNvPr>
          <p:cNvCxnSpPr>
            <a:stCxn id="320" idx="3"/>
            <a:endCxn id="321" idx="0"/>
          </p:cNvCxnSpPr>
          <p:nvPr/>
        </p:nvCxnSpPr>
        <p:spPr>
          <a:xfrm>
            <a:off x="10069420" y="2875268"/>
            <a:ext cx="452038" cy="566330"/>
          </a:xfrm>
          <a:prstGeom prst="bentConnector2">
            <a:avLst/>
          </a:prstGeom>
          <a:ln>
            <a:solidFill>
              <a:srgbClr val="FF0066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Text 202">
            <a:extLst>
              <a:ext uri="{FF2B5EF4-FFF2-40B4-BE49-F238E27FC236}">
                <a16:creationId xmlns:a16="http://schemas.microsoft.com/office/drawing/2014/main" id="{86E3682F-4D5A-49DE-9890-3486AC9808B0}"/>
              </a:ext>
            </a:extLst>
          </p:cNvPr>
          <p:cNvSpPr txBox="1"/>
          <p:nvPr/>
        </p:nvSpPr>
        <p:spPr>
          <a:xfrm>
            <a:off x="9655615" y="3195012"/>
            <a:ext cx="1682295" cy="210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Storage Dedicated Network</a:t>
            </a:r>
            <a:endParaRPr lang="en-US" sz="900" dirty="0"/>
          </a:p>
        </p:txBody>
      </p:sp>
      <p:sp>
        <p:nvSpPr>
          <p:cNvPr id="357" name="Text 217">
            <a:extLst>
              <a:ext uri="{FF2B5EF4-FFF2-40B4-BE49-F238E27FC236}">
                <a16:creationId xmlns:a16="http://schemas.microsoft.com/office/drawing/2014/main" id="{1A35B66D-A94C-4EA4-AC89-1E258B7FCF1D}"/>
              </a:ext>
            </a:extLst>
          </p:cNvPr>
          <p:cNvSpPr txBox="1"/>
          <p:nvPr/>
        </p:nvSpPr>
        <p:spPr>
          <a:xfrm>
            <a:off x="8527968" y="2569380"/>
            <a:ext cx="1327096" cy="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</a:rPr>
              <a:t>VIP: 172.30.0.10:8443</a:t>
            </a:r>
            <a:endParaRPr lang="en-US" sz="800" dirty="0"/>
          </a:p>
        </p:txBody>
      </p:sp>
      <p:sp>
        <p:nvSpPr>
          <p:cNvPr id="358" name="Text 26">
            <a:extLst>
              <a:ext uri="{FF2B5EF4-FFF2-40B4-BE49-F238E27FC236}">
                <a16:creationId xmlns:a16="http://schemas.microsoft.com/office/drawing/2014/main" id="{56E8AA6B-BF8F-47B7-A69F-0ADCAB396894}"/>
              </a:ext>
            </a:extLst>
          </p:cNvPr>
          <p:cNvSpPr txBox="1"/>
          <p:nvPr/>
        </p:nvSpPr>
        <p:spPr>
          <a:xfrm>
            <a:off x="7814838" y="3069191"/>
            <a:ext cx="1755033" cy="7911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 </a:t>
            </a:r>
            <a:r>
              <a:rPr lang="en-US" sz="800" b="1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(Static Route/BGP)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172.30.0.0/24 via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Inter-Cluster Switch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각 ToR/Leaf Switch에 등록</a:t>
            </a:r>
            <a:endParaRPr lang="en-US" sz="800" dirty="0"/>
          </a:p>
        </p:txBody>
      </p:sp>
      <p:sp>
        <p:nvSpPr>
          <p:cNvPr id="359" name="Shape 24">
            <a:extLst>
              <a:ext uri="{FF2B5EF4-FFF2-40B4-BE49-F238E27FC236}">
                <a16:creationId xmlns:a16="http://schemas.microsoft.com/office/drawing/2014/main" id="{10F6D5B9-9BF0-4806-A457-0BCD42D41BDE}"/>
              </a:ext>
            </a:extLst>
          </p:cNvPr>
          <p:cNvSpPr/>
          <p:nvPr/>
        </p:nvSpPr>
        <p:spPr>
          <a:xfrm>
            <a:off x="5900290" y="2450951"/>
            <a:ext cx="642284" cy="333558"/>
          </a:xfrm>
          <a:prstGeom prst="roundRect">
            <a:avLst>
              <a:gd name="adj" fmla="val 15000"/>
            </a:avLst>
          </a:prstGeom>
          <a:solidFill>
            <a:srgbClr val="F0EEFB"/>
          </a:solidFill>
          <a:ln w="7332">
            <a:solidFill>
              <a:srgbClr val="534AB7"/>
            </a:solidFill>
            <a:prstDash val="solid"/>
          </a:ln>
        </p:spPr>
      </p:sp>
      <p:sp>
        <p:nvSpPr>
          <p:cNvPr id="360" name="Text 206">
            <a:extLst>
              <a:ext uri="{FF2B5EF4-FFF2-40B4-BE49-F238E27FC236}">
                <a16:creationId xmlns:a16="http://schemas.microsoft.com/office/drawing/2014/main" id="{92720864-9C17-4D60-9F26-3817364675B9}"/>
              </a:ext>
            </a:extLst>
          </p:cNvPr>
          <p:cNvSpPr txBox="1"/>
          <p:nvPr/>
        </p:nvSpPr>
        <p:spPr>
          <a:xfrm>
            <a:off x="6006885" y="2487592"/>
            <a:ext cx="466797" cy="269014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Ingress LB</a:t>
            </a:r>
            <a:endParaRPr lang="en-US" sz="800" dirty="0"/>
          </a:p>
        </p:txBody>
      </p:sp>
      <p:cxnSp>
        <p:nvCxnSpPr>
          <p:cNvPr id="361" name="연결선: 꺾임 360">
            <a:extLst>
              <a:ext uri="{FF2B5EF4-FFF2-40B4-BE49-F238E27FC236}">
                <a16:creationId xmlns:a16="http://schemas.microsoft.com/office/drawing/2014/main" id="{57EBA7C6-17F4-434D-A909-D02E856A39EC}"/>
              </a:ext>
            </a:extLst>
          </p:cNvPr>
          <p:cNvCxnSpPr>
            <a:cxnSpLocks/>
            <a:endCxn id="202" idx="2"/>
          </p:cNvCxnSpPr>
          <p:nvPr/>
        </p:nvCxnSpPr>
        <p:spPr>
          <a:xfrm rot="16200000" flipV="1">
            <a:off x="5342098" y="1890280"/>
            <a:ext cx="555054" cy="171906"/>
          </a:xfrm>
          <a:prstGeom prst="bentConnector3">
            <a:avLst>
              <a:gd name="adj1" fmla="val -19266"/>
            </a:avLst>
          </a:prstGeom>
          <a:noFill/>
          <a:ln w="11730">
            <a:solidFill>
              <a:srgbClr val="C0272D"/>
            </a:solidFill>
            <a:prstDash val="solid"/>
            <a:headEnd type="oval"/>
            <a:tailEnd type="triangle"/>
          </a:ln>
        </p:spPr>
      </p:cxnSp>
      <p:cxnSp>
        <p:nvCxnSpPr>
          <p:cNvPr id="364" name="직선 화살표 연결선 363">
            <a:extLst>
              <a:ext uri="{FF2B5EF4-FFF2-40B4-BE49-F238E27FC236}">
                <a16:creationId xmlns:a16="http://schemas.microsoft.com/office/drawing/2014/main" id="{29053FDB-7BAD-42CA-883B-05E164FB204A}"/>
              </a:ext>
            </a:extLst>
          </p:cNvPr>
          <p:cNvCxnSpPr>
            <a:cxnSpLocks/>
            <a:stCxn id="202" idx="0"/>
            <a:endCxn id="7" idx="2"/>
          </p:cNvCxnSpPr>
          <p:nvPr/>
        </p:nvCxnSpPr>
        <p:spPr>
          <a:xfrm flipH="1" flipV="1">
            <a:off x="5533671" y="1343949"/>
            <a:ext cx="1" cy="151100"/>
          </a:xfrm>
          <a:prstGeom prst="straightConnector1">
            <a:avLst/>
          </a:prstGeom>
          <a:noFill/>
          <a:ln w="11730">
            <a:solidFill>
              <a:srgbClr val="C0272D"/>
            </a:solidFill>
            <a:prstDash val="solid"/>
            <a:headEnd type="none"/>
            <a:tailEnd type="triangle"/>
          </a:ln>
        </p:spPr>
      </p:cxnSp>
      <p:cxnSp>
        <p:nvCxnSpPr>
          <p:cNvPr id="370" name="연결선: 꺾임 369">
            <a:extLst>
              <a:ext uri="{FF2B5EF4-FFF2-40B4-BE49-F238E27FC236}">
                <a16:creationId xmlns:a16="http://schemas.microsoft.com/office/drawing/2014/main" id="{6A33DFE1-5A06-4D1C-B670-B50DBE0ED85B}"/>
              </a:ext>
            </a:extLst>
          </p:cNvPr>
          <p:cNvCxnSpPr>
            <a:cxnSpLocks/>
            <a:stCxn id="6" idx="2"/>
            <a:endCxn id="212" idx="1"/>
          </p:cNvCxnSpPr>
          <p:nvPr/>
        </p:nvCxnSpPr>
        <p:spPr>
          <a:xfrm rot="16200000" flipH="1">
            <a:off x="376318" y="2629522"/>
            <a:ext cx="2144680" cy="1738375"/>
          </a:xfrm>
          <a:prstGeom prst="bentConnector2">
            <a:avLst/>
          </a:prstGeom>
          <a:noFill/>
          <a:ln w="9287">
            <a:solidFill>
              <a:srgbClr val="C0272D"/>
            </a:solidFill>
            <a:prstDash val="dash"/>
            <a:tailEnd type="triangle"/>
          </a:ln>
        </p:spPr>
      </p:cxnSp>
      <p:cxnSp>
        <p:nvCxnSpPr>
          <p:cNvPr id="371" name="연결선: 꺾임 370">
            <a:extLst>
              <a:ext uri="{FF2B5EF4-FFF2-40B4-BE49-F238E27FC236}">
                <a16:creationId xmlns:a16="http://schemas.microsoft.com/office/drawing/2014/main" id="{D0C5F798-7EEC-45F7-BEF6-75AD054B9436}"/>
              </a:ext>
            </a:extLst>
          </p:cNvPr>
          <p:cNvCxnSpPr>
            <a:cxnSpLocks/>
            <a:stCxn id="6" idx="2"/>
            <a:endCxn id="9" idx="1"/>
          </p:cNvCxnSpPr>
          <p:nvPr/>
        </p:nvCxnSpPr>
        <p:spPr>
          <a:xfrm rot="5400000" flipH="1" flipV="1">
            <a:off x="1329077" y="1332289"/>
            <a:ext cx="344475" cy="1843688"/>
          </a:xfrm>
          <a:prstGeom prst="bentConnector4">
            <a:avLst>
              <a:gd name="adj1" fmla="val -66362"/>
              <a:gd name="adj2" fmla="val 42336"/>
            </a:avLst>
          </a:prstGeom>
          <a:noFill/>
          <a:ln w="9287">
            <a:solidFill>
              <a:srgbClr val="C0272D"/>
            </a:solidFill>
            <a:prstDash val="dash"/>
            <a:tailEnd type="triangle"/>
          </a:ln>
        </p:spPr>
      </p:cxnSp>
      <p:sp>
        <p:nvSpPr>
          <p:cNvPr id="379" name="Text 171">
            <a:extLst>
              <a:ext uri="{FF2B5EF4-FFF2-40B4-BE49-F238E27FC236}">
                <a16:creationId xmlns:a16="http://schemas.microsoft.com/office/drawing/2014/main" id="{C738C139-AE96-4A7C-9F5D-EBB2D9432F8D}"/>
              </a:ext>
            </a:extLst>
          </p:cNvPr>
          <p:cNvSpPr txBox="1"/>
          <p:nvPr/>
        </p:nvSpPr>
        <p:spPr>
          <a:xfrm>
            <a:off x="29995" y="2789615"/>
            <a:ext cx="544124" cy="1574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r>
              <a:rPr lang="en-US" altLang="ko-KR" dirty="0"/>
              <a:t>NMS</a:t>
            </a:r>
            <a:r>
              <a:rPr lang="ko-KR" altLang="en-US" dirty="0"/>
              <a:t>운용망</a:t>
            </a:r>
            <a:endParaRPr lang="en-US" dirty="0"/>
          </a:p>
        </p:txBody>
      </p:sp>
      <p:sp>
        <p:nvSpPr>
          <p:cNvPr id="380" name="Text 171">
            <a:extLst>
              <a:ext uri="{FF2B5EF4-FFF2-40B4-BE49-F238E27FC236}">
                <a16:creationId xmlns:a16="http://schemas.microsoft.com/office/drawing/2014/main" id="{15975D00-218B-4BF7-865D-0DA95BE3E8CE}"/>
              </a:ext>
            </a:extLst>
          </p:cNvPr>
          <p:cNvSpPr txBox="1"/>
          <p:nvPr/>
        </p:nvSpPr>
        <p:spPr>
          <a:xfrm>
            <a:off x="6476315" y="1237449"/>
            <a:ext cx="544124" cy="1574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r>
              <a:rPr lang="en-US" altLang="ko-KR" dirty="0"/>
              <a:t>NMS</a:t>
            </a:r>
            <a:r>
              <a:rPr lang="ko-KR" altLang="en-US" dirty="0"/>
              <a:t>운용망</a:t>
            </a:r>
            <a:endParaRPr lang="en-US" dirty="0"/>
          </a:p>
        </p:txBody>
      </p:sp>
      <p:sp>
        <p:nvSpPr>
          <p:cNvPr id="381" name="Shape 142">
            <a:extLst>
              <a:ext uri="{FF2B5EF4-FFF2-40B4-BE49-F238E27FC236}">
                <a16:creationId xmlns:a16="http://schemas.microsoft.com/office/drawing/2014/main" id="{655C7F5F-2C09-4DF4-A92E-27BE87909BDB}"/>
              </a:ext>
            </a:extLst>
          </p:cNvPr>
          <p:cNvSpPr/>
          <p:nvPr/>
        </p:nvSpPr>
        <p:spPr>
          <a:xfrm>
            <a:off x="5248401" y="2679170"/>
            <a:ext cx="0" cy="1091572"/>
          </a:xfrm>
          <a:prstGeom prst="line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sp>
      <p:cxnSp>
        <p:nvCxnSpPr>
          <p:cNvPr id="383" name="연결선: 꺾임 382">
            <a:extLst>
              <a:ext uri="{FF2B5EF4-FFF2-40B4-BE49-F238E27FC236}">
                <a16:creationId xmlns:a16="http://schemas.microsoft.com/office/drawing/2014/main" id="{D94B3F01-C454-4434-8259-4152B38977A5}"/>
              </a:ext>
            </a:extLst>
          </p:cNvPr>
          <p:cNvCxnSpPr>
            <a:cxnSpLocks/>
            <a:stCxn id="307" idx="1"/>
            <a:endCxn id="28" idx="0"/>
          </p:cNvCxnSpPr>
          <p:nvPr/>
        </p:nvCxnSpPr>
        <p:spPr>
          <a:xfrm rot="10800000" flipV="1">
            <a:off x="2669761" y="3958576"/>
            <a:ext cx="1266891" cy="532264"/>
          </a:xfrm>
          <a:prstGeom prst="bentConnector2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cxnSp>
        <p:nvCxnSpPr>
          <p:cNvPr id="386" name="연결선: 꺾임 385">
            <a:extLst>
              <a:ext uri="{FF2B5EF4-FFF2-40B4-BE49-F238E27FC236}">
                <a16:creationId xmlns:a16="http://schemas.microsoft.com/office/drawing/2014/main" id="{5297A876-65A3-4DFD-97E2-A83B7F520D96}"/>
              </a:ext>
            </a:extLst>
          </p:cNvPr>
          <p:cNvCxnSpPr>
            <a:cxnSpLocks/>
            <a:endCxn id="263" idx="0"/>
          </p:cNvCxnSpPr>
          <p:nvPr/>
        </p:nvCxnSpPr>
        <p:spPr>
          <a:xfrm>
            <a:off x="8036758" y="4122898"/>
            <a:ext cx="551415" cy="390322"/>
          </a:xfrm>
          <a:prstGeom prst="bentConnector2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cxnSp>
        <p:nvCxnSpPr>
          <p:cNvPr id="390" name="연결선: 꺾임 389">
            <a:extLst>
              <a:ext uri="{FF2B5EF4-FFF2-40B4-BE49-F238E27FC236}">
                <a16:creationId xmlns:a16="http://schemas.microsoft.com/office/drawing/2014/main" id="{C50E20BF-5E0B-4C3D-9109-3F480A1D0B65}"/>
              </a:ext>
            </a:extLst>
          </p:cNvPr>
          <p:cNvCxnSpPr>
            <a:cxnSpLocks/>
            <a:endCxn id="299" idx="1"/>
          </p:cNvCxnSpPr>
          <p:nvPr/>
        </p:nvCxnSpPr>
        <p:spPr>
          <a:xfrm rot="16200000" flipH="1">
            <a:off x="6371880" y="4679386"/>
            <a:ext cx="2408004" cy="1320753"/>
          </a:xfrm>
          <a:prstGeom prst="bentConnector2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cxnSp>
        <p:nvCxnSpPr>
          <p:cNvPr id="397" name="연결선: 꺾임 396">
            <a:extLst>
              <a:ext uri="{FF2B5EF4-FFF2-40B4-BE49-F238E27FC236}">
                <a16:creationId xmlns:a16="http://schemas.microsoft.com/office/drawing/2014/main" id="{893BEDD3-E5D7-4F7B-9AC5-B245794A849D}"/>
              </a:ext>
            </a:extLst>
          </p:cNvPr>
          <p:cNvCxnSpPr>
            <a:cxnSpLocks/>
            <a:stCxn id="307" idx="1"/>
            <a:endCxn id="231" idx="1"/>
          </p:cNvCxnSpPr>
          <p:nvPr/>
        </p:nvCxnSpPr>
        <p:spPr>
          <a:xfrm rot="10800000" flipV="1">
            <a:off x="2317847" y="3958575"/>
            <a:ext cx="1618805" cy="2562809"/>
          </a:xfrm>
          <a:prstGeom prst="bentConnector3">
            <a:avLst>
              <a:gd name="adj1" fmla="val 170608"/>
            </a:avLst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sp>
        <p:nvSpPr>
          <p:cNvPr id="409" name="Text 171">
            <a:extLst>
              <a:ext uri="{FF2B5EF4-FFF2-40B4-BE49-F238E27FC236}">
                <a16:creationId xmlns:a16="http://schemas.microsoft.com/office/drawing/2014/main" id="{71BC0618-9F6F-4686-8BFC-0F23F8A3E898}"/>
              </a:ext>
            </a:extLst>
          </p:cNvPr>
          <p:cNvSpPr txBox="1"/>
          <p:nvPr/>
        </p:nvSpPr>
        <p:spPr>
          <a:xfrm>
            <a:off x="556358" y="5714599"/>
            <a:ext cx="544124" cy="2234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H/W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제어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0" name="Text 171">
            <a:extLst>
              <a:ext uri="{FF2B5EF4-FFF2-40B4-BE49-F238E27FC236}">
                <a16:creationId xmlns:a16="http://schemas.microsoft.com/office/drawing/2014/main" id="{F73C038F-F0D8-4FF4-B6DC-5AEC9CACA7D9}"/>
              </a:ext>
            </a:extLst>
          </p:cNvPr>
          <p:cNvSpPr txBox="1"/>
          <p:nvPr/>
        </p:nvSpPr>
        <p:spPr>
          <a:xfrm>
            <a:off x="2925431" y="4064723"/>
            <a:ext cx="1237878" cy="23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Cluster API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접속 제어 (Bastion 경유)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1" name="Text 205">
            <a:extLst>
              <a:ext uri="{FF2B5EF4-FFF2-40B4-BE49-F238E27FC236}">
                <a16:creationId xmlns:a16="http://schemas.microsoft.com/office/drawing/2014/main" id="{8F8318CD-26A2-41C9-91FA-7056F8C7BBFA}"/>
              </a:ext>
            </a:extLst>
          </p:cNvPr>
          <p:cNvSpPr txBox="1"/>
          <p:nvPr/>
        </p:nvSpPr>
        <p:spPr>
          <a:xfrm flipH="1">
            <a:off x="4834815" y="3514027"/>
            <a:ext cx="1052417" cy="2220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6D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RHAAP 제어 트래픽</a:t>
            </a:r>
            <a:endParaRPr lang="en-US" sz="800" dirty="0"/>
          </a:p>
        </p:txBody>
      </p:sp>
      <p:sp>
        <p:nvSpPr>
          <p:cNvPr id="412" name="Text 171">
            <a:extLst>
              <a:ext uri="{FF2B5EF4-FFF2-40B4-BE49-F238E27FC236}">
                <a16:creationId xmlns:a16="http://schemas.microsoft.com/office/drawing/2014/main" id="{CE64F810-BC6F-41E0-A5DD-AAB578FFE17F}"/>
              </a:ext>
            </a:extLst>
          </p:cNvPr>
          <p:cNvSpPr txBox="1"/>
          <p:nvPr/>
        </p:nvSpPr>
        <p:spPr>
          <a:xfrm>
            <a:off x="8597122" y="4100770"/>
            <a:ext cx="1817334" cy="23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Cluster API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접속 제어 (Bastion 경유)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3" name="Text 171">
            <a:extLst>
              <a:ext uri="{FF2B5EF4-FFF2-40B4-BE49-F238E27FC236}">
                <a16:creationId xmlns:a16="http://schemas.microsoft.com/office/drawing/2014/main" id="{C1E968BE-A64A-4A50-A4D5-ECB9A74AAE00}"/>
              </a:ext>
            </a:extLst>
          </p:cNvPr>
          <p:cNvSpPr txBox="1"/>
          <p:nvPr/>
        </p:nvSpPr>
        <p:spPr>
          <a:xfrm>
            <a:off x="6340795" y="5751564"/>
            <a:ext cx="544124" cy="2234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H/W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제어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7" name="Text 206">
            <a:extLst>
              <a:ext uri="{FF2B5EF4-FFF2-40B4-BE49-F238E27FC236}">
                <a16:creationId xmlns:a16="http://schemas.microsoft.com/office/drawing/2014/main" id="{EF62B0C2-B4BD-49AC-AEEB-867B9A88EC21}"/>
              </a:ext>
            </a:extLst>
          </p:cNvPr>
          <p:cNvSpPr txBox="1"/>
          <p:nvPr/>
        </p:nvSpPr>
        <p:spPr>
          <a:xfrm rot="5400000">
            <a:off x="4633601" y="4696907"/>
            <a:ext cx="1120489" cy="269014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Container Image Download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Kafka Ingress</a:t>
            </a:r>
            <a:r>
              <a:rPr lang="ko-KR" altLang="en-US" sz="800" dirty="0">
                <a:solidFill>
                  <a:srgbClr val="7030A0"/>
                </a:solidFill>
              </a:rPr>
              <a:t> </a:t>
            </a:r>
            <a:r>
              <a:rPr lang="en-US" altLang="ko-KR" sz="800" dirty="0">
                <a:solidFill>
                  <a:srgbClr val="7030A0"/>
                </a:solidFill>
              </a:rPr>
              <a:t>LB</a:t>
            </a:r>
            <a:r>
              <a:rPr lang="ko-KR" altLang="en-US" sz="800" dirty="0">
                <a:solidFill>
                  <a:srgbClr val="7030A0"/>
                </a:solidFill>
              </a:rPr>
              <a:t> 연동</a:t>
            </a:r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418" name="Text 206">
            <a:extLst>
              <a:ext uri="{FF2B5EF4-FFF2-40B4-BE49-F238E27FC236}">
                <a16:creationId xmlns:a16="http://schemas.microsoft.com/office/drawing/2014/main" id="{01557BA3-FE21-4050-B38B-150F05898694}"/>
              </a:ext>
            </a:extLst>
          </p:cNvPr>
          <p:cNvSpPr txBox="1"/>
          <p:nvPr/>
        </p:nvSpPr>
        <p:spPr>
          <a:xfrm rot="16200000">
            <a:off x="6895229" y="4725555"/>
            <a:ext cx="1120489" cy="269014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Container Image Download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Kafka Ingress</a:t>
            </a:r>
            <a:r>
              <a:rPr lang="ko-KR" altLang="en-US" sz="800" dirty="0">
                <a:solidFill>
                  <a:srgbClr val="7030A0"/>
                </a:solidFill>
              </a:rPr>
              <a:t> </a:t>
            </a:r>
            <a:r>
              <a:rPr lang="en-US" altLang="ko-KR" sz="800" dirty="0">
                <a:solidFill>
                  <a:srgbClr val="7030A0"/>
                </a:solidFill>
              </a:rPr>
              <a:t>LB</a:t>
            </a:r>
            <a:r>
              <a:rPr lang="ko-KR" altLang="en-US" sz="800" dirty="0">
                <a:solidFill>
                  <a:srgbClr val="7030A0"/>
                </a:solidFill>
              </a:rPr>
              <a:t> 연동</a:t>
            </a:r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419" name="Text 206">
            <a:extLst>
              <a:ext uri="{FF2B5EF4-FFF2-40B4-BE49-F238E27FC236}">
                <a16:creationId xmlns:a16="http://schemas.microsoft.com/office/drawing/2014/main" id="{8FD947F9-C88C-4019-B76F-AAB1A24A612F}"/>
              </a:ext>
            </a:extLst>
          </p:cNvPr>
          <p:cNvSpPr txBox="1"/>
          <p:nvPr/>
        </p:nvSpPr>
        <p:spPr>
          <a:xfrm rot="5400000">
            <a:off x="6967937" y="3187149"/>
            <a:ext cx="1120489" cy="269014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Container Image Download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Kafka Ingress</a:t>
            </a:r>
            <a:r>
              <a:rPr lang="ko-KR" altLang="en-US" sz="800" dirty="0">
                <a:solidFill>
                  <a:srgbClr val="7030A0"/>
                </a:solidFill>
              </a:rPr>
              <a:t> </a:t>
            </a:r>
            <a:r>
              <a:rPr lang="en-US" altLang="ko-KR" sz="800" dirty="0">
                <a:solidFill>
                  <a:srgbClr val="7030A0"/>
                </a:solidFill>
              </a:rPr>
              <a:t>LB</a:t>
            </a:r>
            <a:r>
              <a:rPr lang="ko-KR" altLang="en-US" sz="800" dirty="0">
                <a:solidFill>
                  <a:srgbClr val="7030A0"/>
                </a:solidFill>
              </a:rPr>
              <a:t> 연동</a:t>
            </a:r>
            <a:endParaRPr lang="en-US" sz="800" dirty="0">
              <a:solidFill>
                <a:srgbClr val="7030A0"/>
              </a:solidFill>
            </a:endParaRP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077C39BD-2EE3-43C3-A869-9C7331283646}"/>
              </a:ext>
            </a:extLst>
          </p:cNvPr>
          <p:cNvCxnSpPr>
            <a:endCxn id="21" idx="1"/>
          </p:cNvCxnSpPr>
          <p:nvPr/>
        </p:nvCxnSpPr>
        <p:spPr>
          <a:xfrm rot="10800000" flipV="1">
            <a:off x="2509724" y="2450950"/>
            <a:ext cx="1957904" cy="841615"/>
          </a:xfrm>
          <a:prstGeom prst="bentConnector3">
            <a:avLst>
              <a:gd name="adj1" fmla="val 137150"/>
            </a:avLst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sp>
        <p:nvSpPr>
          <p:cNvPr id="192" name="Shape 65">
            <a:extLst>
              <a:ext uri="{FF2B5EF4-FFF2-40B4-BE49-F238E27FC236}">
                <a16:creationId xmlns:a16="http://schemas.microsoft.com/office/drawing/2014/main" id="{B41DA70B-218D-422A-B7FD-F5F98F2A8AA0}"/>
              </a:ext>
            </a:extLst>
          </p:cNvPr>
          <p:cNvSpPr/>
          <p:nvPr/>
        </p:nvSpPr>
        <p:spPr>
          <a:xfrm>
            <a:off x="4834815" y="5292309"/>
            <a:ext cx="0" cy="668021"/>
          </a:xfrm>
          <a:prstGeom prst="line">
            <a:avLst/>
          </a:prstGeom>
          <a:noFill/>
          <a:ln w="8798">
            <a:solidFill>
              <a:srgbClr val="0F6E56"/>
            </a:solidFill>
            <a:prstDash val="solid"/>
            <a:headEnd type="oval" w="sm" len="sm"/>
            <a:tailEnd type="oval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5" name="Shape 65">
            <a:extLst>
              <a:ext uri="{FF2B5EF4-FFF2-40B4-BE49-F238E27FC236}">
                <a16:creationId xmlns:a16="http://schemas.microsoft.com/office/drawing/2014/main" id="{F0479B8C-AE1C-425D-A46F-19DC7BC9C944}"/>
              </a:ext>
            </a:extLst>
          </p:cNvPr>
          <p:cNvSpPr/>
          <p:nvPr/>
        </p:nvSpPr>
        <p:spPr>
          <a:xfrm>
            <a:off x="10581523" y="5303546"/>
            <a:ext cx="0" cy="708801"/>
          </a:xfrm>
          <a:prstGeom prst="line">
            <a:avLst/>
          </a:prstGeom>
          <a:noFill/>
          <a:ln w="8798">
            <a:solidFill>
              <a:srgbClr val="0F6E56"/>
            </a:solidFill>
            <a:prstDash val="solid"/>
            <a:headEnd type="oval" w="sm" len="sm"/>
            <a:tailEnd type="oval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00" name="Legend Box"/>
          <p:cNvSpPr/>
          <p:nvPr/>
        </p:nvSpPr>
        <p:spPr>
          <a:xfrm>
            <a:off x="9842833" y="825921"/>
            <a:ext cx="2220535" cy="1839019"/>
          </a:xfrm>
          <a:prstGeom prst="roundRect">
            <a:avLst>
              <a:gd name="adj" fmla="val 6000"/>
            </a:avLst>
          </a:prstGeom>
          <a:solidFill>
            <a:srgbClr val="FBFBFB"/>
          </a:solidFill>
          <a:ln w="9525">
            <a:solidFill>
              <a:srgbClr val="9999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1" name="Legend Title"/>
          <p:cNvSpPr txBox="1"/>
          <p:nvPr/>
        </p:nvSpPr>
        <p:spPr>
          <a:xfrm>
            <a:off x="9932833" y="895921"/>
            <a:ext cx="2063791" cy="2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ko-KR" sz="1100" b="1" dirty="0">
                <a:solidFill>
                  <a:srgbClr val="1B2A4A"/>
                </a:solidFill>
                <a:latin typeface="Malgun Gothic" pitchFamily="34" charset="-127"/>
                <a:ea typeface="Malgun Gothic" pitchFamily="34" charset="-127"/>
              </a:rPr>
              <a:t>범례 (Legend)</a:t>
            </a:r>
          </a:p>
        </p:txBody>
      </p:sp>
      <p:sp>
        <p:nvSpPr>
          <p:cNvPr id="502" name="Legend Row 1"/>
          <p:cNvSpPr txBox="1"/>
          <p:nvPr/>
        </p:nvSpPr>
        <p:spPr>
          <a:xfrm>
            <a:off x="9932833" y="1145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6FB2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Machine Network</a:t>
            </a:r>
          </a:p>
        </p:txBody>
      </p:sp>
      <p:sp>
        <p:nvSpPr>
          <p:cNvPr id="503" name="Legend Row 2"/>
          <p:cNvSpPr txBox="1"/>
          <p:nvPr/>
        </p:nvSpPr>
        <p:spPr>
          <a:xfrm>
            <a:off x="9932833" y="1340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F6E56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Storage Network</a:t>
            </a:r>
          </a:p>
        </p:txBody>
      </p:sp>
      <p:sp>
        <p:nvSpPr>
          <p:cNvPr id="504" name="Legend Row 3"/>
          <p:cNvSpPr txBox="1"/>
          <p:nvPr/>
        </p:nvSpPr>
        <p:spPr>
          <a:xfrm>
            <a:off x="9932833" y="1535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BA7517"/>
                </a:solidFill>
                <a:latin typeface="Malgun Gothic" pitchFamily="34" charset="-127"/>
              </a:rPr>
              <a:t>┄┄┄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OOB / Local MGMT (iLO·iDRAC)</a:t>
            </a:r>
          </a:p>
        </p:txBody>
      </p:sp>
      <p:sp>
        <p:nvSpPr>
          <p:cNvPr id="505" name="Legend Row 4"/>
          <p:cNvSpPr txBox="1"/>
          <p:nvPr/>
        </p:nvSpPr>
        <p:spPr>
          <a:xfrm>
            <a:off x="9932833" y="1730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3B6D11"/>
                </a:solidFill>
                <a:latin typeface="Malgun Gothic" pitchFamily="34" charset="-127"/>
              </a:rPr>
              <a:t>┄┄┄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AAP 제어 트래픽 (L3 Routing)</a:t>
            </a:r>
          </a:p>
        </p:txBody>
      </p:sp>
      <p:sp>
        <p:nvSpPr>
          <p:cNvPr id="506" name="Legend Row 5"/>
          <p:cNvSpPr txBox="1"/>
          <p:nvPr/>
        </p:nvSpPr>
        <p:spPr>
          <a:xfrm>
            <a:off x="9932833" y="1925921"/>
            <a:ext cx="2063791" cy="195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7030A0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Container Image·Kafka 연동</a:t>
            </a:r>
          </a:p>
        </p:txBody>
      </p:sp>
      <p:sp>
        <p:nvSpPr>
          <p:cNvPr id="507" name="Legend Row 6"/>
          <p:cNvSpPr txBox="1"/>
          <p:nvPr/>
        </p:nvSpPr>
        <p:spPr>
          <a:xfrm>
            <a:off x="9932833" y="2120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Malgun Gothic" pitchFamily="34" charset="-127"/>
              </a:rPr>
              <a:t>┄┄┄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VPN·NMS 운용망 (운영팀 접속)</a:t>
            </a:r>
          </a:p>
        </p:txBody>
      </p:sp>
      <p:sp>
        <p:nvSpPr>
          <p:cNvPr id="508" name="Legend Row 7"/>
          <p:cNvSpPr txBox="1"/>
          <p:nvPr/>
        </p:nvSpPr>
        <p:spPr>
          <a:xfrm>
            <a:off x="9932833" y="2315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FF0066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External Storage 전용망</a:t>
            </a:r>
          </a:p>
        </p:txBody>
      </p:sp>
      <p:sp>
        <p:nvSpPr>
          <p:cNvPr id="700" name="Local Hop B to Master"/>
          <p:cNvSpPr/>
          <p:nvPr/>
        </p:nvSpPr>
        <p:spPr>
          <a:xfrm>
            <a:off x="3021674" y="4634485"/>
            <a:ext cx="140766" cy="0"/>
          </a:xfrm>
          <a:prstGeom prst="line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triangle"/>
          </a:ln>
        </p:spPr>
        <p:txBody>
          <a:bodyPr/>
          <a:lstStyle/>
          <a:p>
            <a:endParaRPr lang="ko-KR" dirty="0"/>
          </a:p>
        </p:txBody>
      </p:sp>
      <p:sp>
        <p:nvSpPr>
          <p:cNvPr id="701" name="Local Hop C to Master"/>
          <p:cNvSpPr/>
          <p:nvPr/>
        </p:nvSpPr>
        <p:spPr>
          <a:xfrm>
            <a:off x="8940087" y="4656865"/>
            <a:ext cx="140766" cy="0"/>
          </a:xfrm>
          <a:prstGeom prst="line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triangle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02" name="Legend Row 9"/>
          <p:cNvSpPr txBox="1"/>
          <p:nvPr/>
        </p:nvSpPr>
        <p:spPr>
          <a:xfrm>
            <a:off x="9932833" y="2487438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444444"/>
                </a:solidFill>
                <a:latin typeface="Malgun Gothic" pitchFamily="34" charset="-127"/>
              </a:rPr>
              <a:t>───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Bastion→Master 로컬 실행 (SSH/oc)</a:t>
            </a:r>
          </a:p>
        </p:txBody>
      </p:sp>
      <p:sp>
        <p:nvSpPr>
          <p:cNvPr id="196" name="Text 201">
            <a:extLst>
              <a:ext uri="{FF2B5EF4-FFF2-40B4-BE49-F238E27FC236}">
                <a16:creationId xmlns:a16="http://schemas.microsoft.com/office/drawing/2014/main" id="{65236988-063B-4FD9-B2D9-EFBEB74DA3DE}"/>
              </a:ext>
            </a:extLst>
          </p:cNvPr>
          <p:cNvSpPr txBox="1"/>
          <p:nvPr/>
        </p:nvSpPr>
        <p:spPr>
          <a:xfrm>
            <a:off x="6062155" y="2904712"/>
            <a:ext cx="1132783" cy="917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172.30.1.20:9092</a:t>
            </a:r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2200" name="ConfigTypeCluster"/>
          <p:cNvSpPr/>
          <p:nvPr/>
        </p:nvSpPr>
        <p:spPr>
          <a:xfrm>
            <a:off x="5650000" y="4750000"/>
            <a:ext cx="1450000" cy="750000"/>
          </a:xfrm>
          <a:prstGeom prst="roundRect">
            <a:avLst>
              <a:gd name="adj" fmla="val 9000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  <p:txBody>
          <a:bodyPr wrap="square" lIns="45720" tIns="27432" rIns="45720" bIns="27432" anchor="ctr"/>
          <a:lstStyle/>
          <a:p>
            <a:pPr algn="ctr"/>
            <a:r>
              <a:rPr lang="ko-KR" altLang="en-US" sz="800" b="1" dirty="0">
                <a:solidFill>
                  <a:srgbClr val="0F6E56"/>
                </a:solidFill>
                <a:latin typeface="Malgun Gothic" pitchFamily="34" charset="-127"/>
                <a:ea typeface="Malgun Gothic" pitchFamily="34" charset="-127"/>
              </a:rPr>
              <a:t>클러스터 설정 (Cluster Config)</a:t>
            </a:r>
          </a:p>
          <a:p>
            <a:pPr algn="ctr"/>
            <a:r>
              <a:rPr lang="ko-KR" altLang="en-US" sz="700" dirty="0">
                <a:solidFill>
                  <a:srgbClr val="555555"/>
                </a:solidFill>
                <a:latin typeface="Malgun Gothic" pitchFamily="34" charset="-127"/>
                <a:ea typeface="Malgun Gothic" pitchFamily="34" charset="-127"/>
              </a:rPr>
              <a:t>MachineConfig, Operator Subscription, Namespace/RBAC</a:t>
            </a:r>
          </a:p>
        </p:txBody>
      </p:sp>
      <p:sp>
        <p:nvSpPr>
          <p:cNvPr id="2201" name="ConfigTypeCnf"/>
          <p:cNvSpPr/>
          <p:nvPr/>
        </p:nvSpPr>
        <p:spPr>
          <a:xfrm>
            <a:off x="5650000" y="5600000"/>
            <a:ext cx="1450000" cy="750000"/>
          </a:xfrm>
          <a:prstGeom prst="roundRect">
            <a:avLst>
              <a:gd name="adj" fmla="val 9000"/>
            </a:avLst>
          </a:prstGeom>
          <a:solidFill>
            <a:srgbClr val="E1F5EE"/>
          </a:solidFill>
          <a:ln w="9525">
            <a:solidFill>
              <a:srgbClr val="0F6E56"/>
            </a:solidFill>
            <a:prstDash val="solid"/>
          </a:ln>
        </p:spPr>
        <p:txBody>
          <a:bodyPr wrap="square" lIns="45720" tIns="27432" rIns="45720" bIns="27432" anchor="ctr"/>
          <a:lstStyle/>
          <a:p>
            <a:pPr algn="ctr"/>
            <a:r>
              <a:rPr lang="ko-KR" altLang="en-US" sz="800" b="1" dirty="0">
                <a:solidFill>
                  <a:srgbClr val="0F6E56"/>
                </a:solidFill>
                <a:latin typeface="Malgun Gothic" pitchFamily="34" charset="-127"/>
                <a:ea typeface="Malgun Gothic" pitchFamily="34" charset="-127"/>
              </a:rPr>
              <a:t>CNF 설정 (AMF/SMF/UPF)</a:t>
            </a:r>
          </a:p>
          <a:p>
            <a:pPr algn="ctr"/>
            <a:r>
              <a:rPr lang="ko-KR" altLang="en-US" sz="700" dirty="0">
                <a:solidFill>
                  <a:srgbClr val="555555"/>
                </a:solidFill>
                <a:latin typeface="Malgun Gothic" pitchFamily="34" charset="-127"/>
                <a:ea typeface="Malgun Gothic" pitchFamily="34" charset="-127"/>
              </a:rPr>
              <a:t>Custom Resource(CR), ConfigMap, Helm values</a:t>
            </a:r>
          </a:p>
        </p:txBody>
      </p:sp>
    </p:spTree>
    <p:extLst>
      <p:ext uri="{BB962C8B-B14F-4D97-AF65-F5344CB8AC3E}">
        <p14:creationId xmlns:p14="http://schemas.microsoft.com/office/powerpoint/2010/main" val="2978597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361880" y="1367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1B2A4A"/>
                </a:solidFill>
              </a:rPr>
              <a:t>Cluster B/C ToR Switch 설정을 위한 AAP 제어 메시지 경로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489823" y="61859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555555"/>
                </a:solidFill>
              </a:rPr>
              <a:t>EE(Cluster A) → L3 라우팅(Bastion 비경유, 기존 'AAP H/W 제어' 경로) → ToR-B/C Switch Mgmt Port 직접 접속(Local MGMT/OOB)</a:t>
            </a:r>
          </a:p>
        </p:txBody>
      </p:sp>
      <p:sp>
        <p:nvSpPr>
          <p:cNvPr id="6" name="Shape 4"/>
          <p:cNvSpPr/>
          <p:nvPr/>
        </p:nvSpPr>
        <p:spPr>
          <a:xfrm>
            <a:off x="51599" y="1739224"/>
            <a:ext cx="1055743" cy="687146"/>
          </a:xfrm>
          <a:prstGeom prst="roundRect">
            <a:avLst>
              <a:gd name="adj" fmla="val 9231"/>
            </a:avLst>
          </a:prstGeom>
          <a:solidFill>
            <a:srgbClr val="FDEDEE"/>
          </a:solidFill>
          <a:ln w="7332">
            <a:solidFill>
              <a:srgbClr val="C027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36290" y="984838"/>
            <a:ext cx="1794762" cy="359111"/>
          </a:xfrm>
          <a:prstGeom prst="roundRect">
            <a:avLst>
              <a:gd name="adj" fmla="val 9231"/>
            </a:avLst>
          </a:prstGeom>
          <a:solidFill>
            <a:srgbClr val="FDEDEE"/>
          </a:solidFill>
          <a:ln w="7332">
            <a:solidFill>
              <a:srgbClr val="C027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82726" y="1775948"/>
            <a:ext cx="5964945" cy="1737543"/>
          </a:xfrm>
          <a:prstGeom prst="roundRect">
            <a:avLst>
              <a:gd name="adj" fmla="val 1835"/>
            </a:avLst>
          </a:prstGeom>
          <a:solidFill>
            <a:srgbClr val="EEF2F8"/>
          </a:solidFill>
          <a:ln w="10753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59" y="1941824"/>
            <a:ext cx="760135" cy="280141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49285" y="1941825"/>
            <a:ext cx="739020" cy="290792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39150" y="1916714"/>
            <a:ext cx="1154416" cy="33035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82452" y="1916714"/>
            <a:ext cx="935957" cy="305252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44728" y="1916714"/>
            <a:ext cx="860323" cy="298281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65357" y="2253758"/>
            <a:ext cx="1028696" cy="420443"/>
          </a:xfrm>
          <a:prstGeom prst="roundRect">
            <a:avLst>
              <a:gd name="adj" fmla="val 15000"/>
            </a:avLst>
          </a:prstGeom>
          <a:solidFill>
            <a:srgbClr val="F5F0E8"/>
          </a:solidFill>
          <a:ln w="7332">
            <a:solidFill>
              <a:srgbClr val="854F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09724" y="3150216"/>
            <a:ext cx="4753737" cy="284699"/>
          </a:xfrm>
          <a:prstGeom prst="roundRect">
            <a:avLst>
              <a:gd name="adj" fmla="val 13333"/>
            </a:avLst>
          </a:prstGeom>
          <a:solidFill>
            <a:srgbClr val="FFF4E8"/>
          </a:solidFill>
          <a:ln w="7332">
            <a:solidFill>
              <a:srgbClr val="BA7517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005800" y="1485343"/>
            <a:ext cx="1055743" cy="215715"/>
          </a:xfrm>
          <a:prstGeom prst="roundRect">
            <a:avLst>
              <a:gd name="adj" fmla="val 22222"/>
            </a:avLst>
          </a:prstGeom>
          <a:solidFill>
            <a:srgbClr val="FDEDEE"/>
          </a:solidFill>
          <a:ln w="7332">
            <a:solidFill>
              <a:srgbClr val="C027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68137" y="4332479"/>
            <a:ext cx="3640178" cy="2357825"/>
          </a:xfrm>
          <a:prstGeom prst="roundRect">
            <a:avLst>
              <a:gd name="adj" fmla="val 1250"/>
            </a:avLst>
          </a:prstGeom>
          <a:solidFill>
            <a:srgbClr val="EAF6F2"/>
          </a:solidFill>
          <a:ln w="10753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" name="Shape 26"/>
          <p:cNvSpPr/>
          <p:nvPr/>
        </p:nvSpPr>
        <p:spPr>
          <a:xfrm>
            <a:off x="2317846" y="4490840"/>
            <a:ext cx="703828" cy="287289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62440" y="4493992"/>
            <a:ext cx="774211" cy="284137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77417" y="4493992"/>
            <a:ext cx="774211" cy="2783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95167" y="5546583"/>
            <a:ext cx="35191" cy="35191"/>
          </a:xfrm>
          <a:prstGeom prst="ellipse">
            <a:avLst/>
          </a:prstGeom>
          <a:solidFill>
            <a:srgbClr val="E24B4A"/>
          </a:solidFill>
          <a:ln w="3175">
            <a:solidFill>
              <a:srgbClr val="E24B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95167" y="5828115"/>
            <a:ext cx="35191" cy="35191"/>
          </a:xfrm>
          <a:prstGeom prst="ellipse">
            <a:avLst/>
          </a:prstGeom>
          <a:solidFill>
            <a:srgbClr val="7F77DD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17846" y="6398074"/>
            <a:ext cx="2533782" cy="168919"/>
          </a:xfrm>
          <a:prstGeom prst="roundRect">
            <a:avLst>
              <a:gd name="adj" fmla="val 12500"/>
            </a:avLst>
          </a:prstGeom>
          <a:solidFill>
            <a:srgbClr val="FFF4E8"/>
          </a:solidFill>
          <a:ln w="7332">
            <a:solidFill>
              <a:srgbClr val="BA7517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2844041" y="2235508"/>
            <a:ext cx="0" cy="63284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6" name="Shape 64"/>
          <p:cNvSpPr/>
          <p:nvPr/>
        </p:nvSpPr>
        <p:spPr>
          <a:xfrm>
            <a:off x="2575154" y="2864923"/>
            <a:ext cx="4792585" cy="0"/>
          </a:xfrm>
          <a:prstGeom prst="line">
            <a:avLst/>
          </a:prstGeom>
          <a:noFill/>
          <a:ln w="11242">
            <a:solidFill>
              <a:srgbClr val="1F6FB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580105" y="3011419"/>
            <a:ext cx="4757393" cy="0"/>
          </a:xfrm>
          <a:prstGeom prst="line">
            <a:avLst/>
          </a:prstGeom>
          <a:noFill/>
          <a:ln w="11242">
            <a:solidFill>
              <a:srgbClr val="0F6E5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37943" y="2247067"/>
            <a:ext cx="0" cy="924284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7" name="Shape 95"/>
          <p:cNvSpPr/>
          <p:nvPr/>
        </p:nvSpPr>
        <p:spPr>
          <a:xfrm>
            <a:off x="2388228" y="5278680"/>
            <a:ext cx="2570573" cy="0"/>
          </a:xfrm>
          <a:prstGeom prst="line">
            <a:avLst/>
          </a:prstGeom>
          <a:noFill/>
          <a:ln w="11242">
            <a:solidFill>
              <a:srgbClr val="0E8FA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8" name="Shape 96"/>
          <p:cNvSpPr/>
          <p:nvPr/>
        </p:nvSpPr>
        <p:spPr>
          <a:xfrm>
            <a:off x="2388228" y="5564178"/>
            <a:ext cx="2160000" cy="0"/>
          </a:xfrm>
          <a:prstGeom prst="line">
            <a:avLst/>
          </a:prstGeom>
          <a:noFill/>
          <a:ln w="11242">
            <a:solidFill>
              <a:srgbClr val="E24B4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388228" y="5845710"/>
            <a:ext cx="2160000" cy="0"/>
          </a:xfrm>
          <a:prstGeom prst="line">
            <a:avLst/>
          </a:prstGeom>
          <a:noFill/>
          <a:ln w="11242">
            <a:solidFill>
              <a:srgbClr val="7F77D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H="1">
            <a:off x="4412762" y="4778129"/>
            <a:ext cx="0" cy="1606749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2" name="Shape 100"/>
          <p:cNvSpPr/>
          <p:nvPr/>
        </p:nvSpPr>
        <p:spPr>
          <a:xfrm>
            <a:off x="2388228" y="6139510"/>
            <a:ext cx="2357825" cy="0"/>
          </a:xfrm>
          <a:prstGeom prst="line">
            <a:avLst/>
          </a:prstGeom>
          <a:noFill/>
          <a:ln w="11242">
            <a:solidFill>
              <a:srgbClr val="0F6E5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2669758" y="4786095"/>
            <a:ext cx="0" cy="1589489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105" name="Shape 103"/>
          <p:cNvSpPr/>
          <p:nvPr/>
        </p:nvSpPr>
        <p:spPr>
          <a:xfrm>
            <a:off x="3438319" y="4800878"/>
            <a:ext cx="0" cy="1595613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106" name="Shape 104"/>
          <p:cNvSpPr/>
          <p:nvPr/>
        </p:nvSpPr>
        <p:spPr>
          <a:xfrm flipH="1">
            <a:off x="4182228" y="4800878"/>
            <a:ext cx="0" cy="1584000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2" name="Text 170"/>
          <p:cNvSpPr txBox="1"/>
          <p:nvPr/>
        </p:nvSpPr>
        <p:spPr>
          <a:xfrm>
            <a:off x="51599" y="1732186"/>
            <a:ext cx="1055743" cy="29149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VPN 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</a:t>
            </a:r>
            <a:endParaRPr lang="en-US" sz="800" dirty="0"/>
          </a:p>
        </p:txBody>
      </p:sp>
      <p:sp>
        <p:nvSpPr>
          <p:cNvPr id="173" name="Text 171"/>
          <p:cNvSpPr txBox="1"/>
          <p:nvPr/>
        </p:nvSpPr>
        <p:spPr>
          <a:xfrm>
            <a:off x="84362" y="1536465"/>
            <a:ext cx="1055743" cy="157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</a:t>
            </a:r>
            <a:endParaRPr lang="en-US" sz="800" dirty="0">
              <a:solidFill>
                <a:srgbClr val="555555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74" name="Text 172"/>
          <p:cNvSpPr txBox="1"/>
          <p:nvPr/>
        </p:nvSpPr>
        <p:spPr>
          <a:xfrm>
            <a:off x="5040991" y="1040921"/>
            <a:ext cx="985360" cy="114372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Operating Center (NOC)</a:t>
            </a:r>
            <a:endParaRPr lang="en-US" sz="800" dirty="0"/>
          </a:p>
        </p:txBody>
      </p:sp>
      <p:sp>
        <p:nvSpPr>
          <p:cNvPr id="175" name="Text 173"/>
          <p:cNvSpPr txBox="1"/>
          <p:nvPr/>
        </p:nvSpPr>
        <p:spPr>
          <a:xfrm>
            <a:off x="5040991" y="1172889"/>
            <a:ext cx="985360" cy="131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·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</a:t>
            </a:r>
            <a:endParaRPr lang="en-US" sz="800" dirty="0"/>
          </a:p>
        </p:txBody>
      </p:sp>
      <p:sp>
        <p:nvSpPr>
          <p:cNvPr id="176" name="Text 174"/>
          <p:cNvSpPr txBox="1"/>
          <p:nvPr/>
        </p:nvSpPr>
        <p:spPr>
          <a:xfrm>
            <a:off x="2418226" y="1811140"/>
            <a:ext cx="2181868" cy="105574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A — 관리용 특수목적 RHOCP (RHAAP + Kafka)</a:t>
            </a:r>
            <a:endParaRPr lang="en-US" sz="900" dirty="0"/>
          </a:p>
        </p:txBody>
      </p:sp>
      <p:sp>
        <p:nvSpPr>
          <p:cNvPr id="177" name="Text 175"/>
          <p:cNvSpPr txBox="1"/>
          <p:nvPr/>
        </p:nvSpPr>
        <p:spPr>
          <a:xfrm>
            <a:off x="2468908" y="1959913"/>
            <a:ext cx="668637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Bastion-A</a:t>
            </a:r>
            <a:endParaRPr lang="en-US" sz="800" dirty="0"/>
          </a:p>
        </p:txBody>
      </p:sp>
      <p:sp>
        <p:nvSpPr>
          <p:cNvPr id="178" name="Text 176"/>
          <p:cNvSpPr txBox="1"/>
          <p:nvPr/>
        </p:nvSpPr>
        <p:spPr>
          <a:xfrm>
            <a:off x="2468908" y="2062406"/>
            <a:ext cx="668637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 / 설치 CLI</a:t>
            </a:r>
            <a:endParaRPr lang="en-US" sz="800" dirty="0"/>
          </a:p>
        </p:txBody>
      </p:sp>
      <p:sp>
        <p:nvSpPr>
          <p:cNvPr id="179" name="Text 177"/>
          <p:cNvSpPr txBox="1"/>
          <p:nvPr/>
        </p:nvSpPr>
        <p:spPr>
          <a:xfrm>
            <a:off x="3370332" y="1959913"/>
            <a:ext cx="739020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Master-A ×3</a:t>
            </a:r>
            <a:endParaRPr lang="en-US" sz="800" dirty="0"/>
          </a:p>
        </p:txBody>
      </p:sp>
      <p:sp>
        <p:nvSpPr>
          <p:cNvPr id="180" name="Text 178"/>
          <p:cNvSpPr txBox="1"/>
          <p:nvPr/>
        </p:nvSpPr>
        <p:spPr>
          <a:xfrm>
            <a:off x="3349285" y="2090687"/>
            <a:ext cx="739020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181" name="Text 179"/>
          <p:cNvSpPr txBox="1"/>
          <p:nvPr/>
        </p:nvSpPr>
        <p:spPr>
          <a:xfrm>
            <a:off x="4349816" y="1959913"/>
            <a:ext cx="781786" cy="113478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RHAAP</a:t>
            </a:r>
            <a:endParaRPr lang="en-US" sz="800" dirty="0"/>
          </a:p>
        </p:txBody>
      </p:sp>
      <p:sp>
        <p:nvSpPr>
          <p:cNvPr id="182" name="Text 180"/>
          <p:cNvSpPr txBox="1"/>
          <p:nvPr/>
        </p:nvSpPr>
        <p:spPr>
          <a:xfrm>
            <a:off x="4328698" y="2068699"/>
            <a:ext cx="967306" cy="109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Automation Platform</a:t>
            </a:r>
            <a:endParaRPr lang="en-US" sz="800" dirty="0"/>
          </a:p>
        </p:txBody>
      </p:sp>
      <p:sp>
        <p:nvSpPr>
          <p:cNvPr id="183" name="Text 181"/>
          <p:cNvSpPr txBox="1"/>
          <p:nvPr/>
        </p:nvSpPr>
        <p:spPr>
          <a:xfrm>
            <a:off x="5663864" y="1927639"/>
            <a:ext cx="812451" cy="136438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Cluster</a:t>
            </a:r>
            <a:endParaRPr lang="en-US" sz="800" dirty="0"/>
          </a:p>
        </p:txBody>
      </p:sp>
      <p:sp>
        <p:nvSpPr>
          <p:cNvPr id="184" name="Text 182"/>
          <p:cNvSpPr txBox="1"/>
          <p:nvPr/>
        </p:nvSpPr>
        <p:spPr>
          <a:xfrm>
            <a:off x="5584847" y="2072471"/>
            <a:ext cx="957726" cy="12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통계/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/Log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800" dirty="0"/>
          </a:p>
        </p:txBody>
      </p:sp>
      <p:sp>
        <p:nvSpPr>
          <p:cNvPr id="185" name="Text 183"/>
          <p:cNvSpPr txBox="1"/>
          <p:nvPr/>
        </p:nvSpPr>
        <p:spPr>
          <a:xfrm>
            <a:off x="6689634" y="1959913"/>
            <a:ext cx="815417" cy="9008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Storage-A (CSI)</a:t>
            </a:r>
            <a:endParaRPr lang="en-US" sz="800" dirty="0"/>
          </a:p>
        </p:txBody>
      </p:sp>
      <p:sp>
        <p:nvSpPr>
          <p:cNvPr id="186" name="Text 184"/>
          <p:cNvSpPr txBox="1"/>
          <p:nvPr/>
        </p:nvSpPr>
        <p:spPr>
          <a:xfrm>
            <a:off x="6598334" y="2062406"/>
            <a:ext cx="906718" cy="10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A 전용</a:t>
            </a:r>
            <a:endParaRPr lang="en-US" sz="800" dirty="0"/>
          </a:p>
        </p:txBody>
      </p:sp>
      <p:sp>
        <p:nvSpPr>
          <p:cNvPr id="187" name="Text 185"/>
          <p:cNvSpPr txBox="1"/>
          <p:nvPr/>
        </p:nvSpPr>
        <p:spPr>
          <a:xfrm>
            <a:off x="4645387" y="2266954"/>
            <a:ext cx="668637" cy="15547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EE (Job Pod)</a:t>
            </a:r>
            <a:endParaRPr lang="en-US" sz="800" dirty="0"/>
          </a:p>
        </p:txBody>
      </p:sp>
      <p:sp>
        <p:nvSpPr>
          <p:cNvPr id="188" name="Text 186"/>
          <p:cNvSpPr txBox="1"/>
          <p:nvPr/>
        </p:nvSpPr>
        <p:spPr>
          <a:xfrm>
            <a:off x="4652376" y="2408348"/>
            <a:ext cx="654658" cy="130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</a:t>
            </a: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Multus+Whereabouts</a:t>
            </a:r>
            <a:endParaRPr lang="en-US" sz="800" dirty="0"/>
          </a:p>
        </p:txBody>
      </p:sp>
      <p:sp>
        <p:nvSpPr>
          <p:cNvPr id="189" name="Text 187"/>
          <p:cNvSpPr txBox="1"/>
          <p:nvPr/>
        </p:nvSpPr>
        <p:spPr>
          <a:xfrm>
            <a:off x="1798857" y="2667218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1F6F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800" dirty="0"/>
          </a:p>
        </p:txBody>
      </p:sp>
      <p:sp>
        <p:nvSpPr>
          <p:cNvPr id="190" name="Text 188"/>
          <p:cNvSpPr txBox="1"/>
          <p:nvPr/>
        </p:nvSpPr>
        <p:spPr>
          <a:xfrm>
            <a:off x="2670215" y="2749628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1000 · 172.30.10.0/24 · GW .1</a:t>
            </a:r>
            <a:endParaRPr lang="en-US" sz="800" dirty="0"/>
          </a:p>
        </p:txBody>
      </p:sp>
      <p:sp>
        <p:nvSpPr>
          <p:cNvPr id="191" name="Text 189"/>
          <p:cNvSpPr txBox="1"/>
          <p:nvPr/>
        </p:nvSpPr>
        <p:spPr>
          <a:xfrm>
            <a:off x="1814289" y="2959448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800" dirty="0"/>
          </a:p>
          <a:p>
            <a:pPr marL="0" indent="0" algn="r">
              <a:buNone/>
            </a:pPr>
            <a:r>
              <a:rPr lang="en-US" sz="8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800" dirty="0"/>
          </a:p>
        </p:txBody>
      </p:sp>
      <p:sp>
        <p:nvSpPr>
          <p:cNvPr id="193" name="Text 191"/>
          <p:cNvSpPr txBox="1"/>
          <p:nvPr/>
        </p:nvSpPr>
        <p:spPr>
          <a:xfrm>
            <a:off x="3213552" y="3146250"/>
            <a:ext cx="2991271" cy="15237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MGMT</a:t>
            </a:r>
            <a:r>
              <a:rPr lang="ko-KR" alt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network:</a:t>
            </a:r>
            <a:r>
              <a:rPr lang="ko-KR" alt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8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</a:t>
            </a: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/iDRAC + ToR </a:t>
            </a:r>
            <a:r>
              <a:rPr lang="en-US" sz="8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</a:t>
            </a: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 cluster A</a:t>
            </a:r>
            <a:endParaRPr lang="en-US" sz="800" dirty="0"/>
          </a:p>
        </p:txBody>
      </p:sp>
      <p:sp>
        <p:nvSpPr>
          <p:cNvPr id="194" name="Text 192"/>
          <p:cNvSpPr txBox="1"/>
          <p:nvPr/>
        </p:nvSpPr>
        <p:spPr>
          <a:xfrm>
            <a:off x="3213552" y="3304386"/>
            <a:ext cx="2991271" cy="151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172.30.99.1</a:t>
            </a:r>
            <a:endParaRPr lang="en-US" sz="800" dirty="0"/>
          </a:p>
        </p:txBody>
      </p:sp>
      <p:sp>
        <p:nvSpPr>
          <p:cNvPr id="202" name="Text 200"/>
          <p:cNvSpPr txBox="1"/>
          <p:nvPr/>
        </p:nvSpPr>
        <p:spPr>
          <a:xfrm>
            <a:off x="5068736" y="1495049"/>
            <a:ext cx="929871" cy="203657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Egress LB</a:t>
            </a:r>
            <a:endParaRPr lang="en-US" sz="800" dirty="0"/>
          </a:p>
        </p:txBody>
      </p:sp>
      <p:sp>
        <p:nvSpPr>
          <p:cNvPr id="203" name="Text 201"/>
          <p:cNvSpPr txBox="1"/>
          <p:nvPr/>
        </p:nvSpPr>
        <p:spPr>
          <a:xfrm>
            <a:off x="6118298" y="1443615"/>
            <a:ext cx="1132783" cy="2041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172.30.1.30:443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(NOC Pull/Push)</a:t>
            </a:r>
            <a:endParaRPr lang="en-US" sz="800" dirty="0"/>
          </a:p>
        </p:txBody>
      </p:sp>
      <p:sp>
        <p:nvSpPr>
          <p:cNvPr id="211" name="Text 209"/>
          <p:cNvSpPr txBox="1"/>
          <p:nvPr/>
        </p:nvSpPr>
        <p:spPr>
          <a:xfrm>
            <a:off x="1416576" y="4367670"/>
            <a:ext cx="1150498" cy="1087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B — 5G CNF </a:t>
            </a:r>
            <a:endParaRPr lang="en-US" sz="900" dirty="0"/>
          </a:p>
        </p:txBody>
      </p:sp>
      <p:sp>
        <p:nvSpPr>
          <p:cNvPr id="212" name="Text 210"/>
          <p:cNvSpPr txBox="1"/>
          <p:nvPr/>
        </p:nvSpPr>
        <p:spPr>
          <a:xfrm>
            <a:off x="2317846" y="4522662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Bastion-B</a:t>
            </a:r>
            <a:endParaRPr lang="en-US" sz="800" dirty="0"/>
          </a:p>
        </p:txBody>
      </p:sp>
      <p:sp>
        <p:nvSpPr>
          <p:cNvPr id="213" name="Text 211"/>
          <p:cNvSpPr txBox="1"/>
          <p:nvPr/>
        </p:nvSpPr>
        <p:spPr>
          <a:xfrm>
            <a:off x="2317846" y="4618938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 / 설치 CLI</a:t>
            </a:r>
            <a:endParaRPr lang="en-US" sz="800" dirty="0"/>
          </a:p>
        </p:txBody>
      </p:sp>
      <p:sp>
        <p:nvSpPr>
          <p:cNvPr id="214" name="Text 212"/>
          <p:cNvSpPr txBox="1"/>
          <p:nvPr/>
        </p:nvSpPr>
        <p:spPr>
          <a:xfrm>
            <a:off x="3162440" y="4522662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Master-B ×3</a:t>
            </a:r>
            <a:endParaRPr lang="en-US" sz="800" dirty="0"/>
          </a:p>
        </p:txBody>
      </p:sp>
      <p:sp>
        <p:nvSpPr>
          <p:cNvPr id="215" name="Text 213"/>
          <p:cNvSpPr txBox="1"/>
          <p:nvPr/>
        </p:nvSpPr>
        <p:spPr>
          <a:xfrm>
            <a:off x="3162440" y="4618938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216" name="Text 214"/>
          <p:cNvSpPr txBox="1"/>
          <p:nvPr/>
        </p:nvSpPr>
        <p:spPr>
          <a:xfrm>
            <a:off x="4077417" y="4522662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Worker-B</a:t>
            </a:r>
            <a:endParaRPr lang="en-US" sz="800" dirty="0"/>
          </a:p>
        </p:txBody>
      </p:sp>
      <p:sp>
        <p:nvSpPr>
          <p:cNvPr id="217" name="Text 215"/>
          <p:cNvSpPr txBox="1"/>
          <p:nvPr/>
        </p:nvSpPr>
        <p:spPr>
          <a:xfrm>
            <a:off x="4077417" y="4644275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AMF/SMF/UPF</a:t>
            </a:r>
            <a:endParaRPr lang="en-US" sz="800" dirty="0"/>
          </a:p>
        </p:txBody>
      </p:sp>
      <p:sp>
        <p:nvSpPr>
          <p:cNvPr id="218" name="Text 216"/>
          <p:cNvSpPr txBox="1"/>
          <p:nvPr/>
        </p:nvSpPr>
        <p:spPr>
          <a:xfrm>
            <a:off x="4429254" y="5094876"/>
            <a:ext cx="497396" cy="1461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 Switch </a:t>
            </a:r>
            <a:endParaRPr lang="en-US" sz="600" dirty="0"/>
          </a:p>
        </p:txBody>
      </p:sp>
      <p:sp>
        <p:nvSpPr>
          <p:cNvPr id="219" name="Text 217"/>
          <p:cNvSpPr txBox="1"/>
          <p:nvPr/>
        </p:nvSpPr>
        <p:spPr>
          <a:xfrm>
            <a:off x="4467628" y="5334576"/>
            <a:ext cx="711837" cy="9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172.31.99.2</a:t>
            </a:r>
            <a:endParaRPr lang="en-US" sz="600" dirty="0"/>
          </a:p>
        </p:txBody>
      </p:sp>
      <p:sp>
        <p:nvSpPr>
          <p:cNvPr id="220" name="Text 218"/>
          <p:cNvSpPr txBox="1"/>
          <p:nvPr/>
        </p:nvSpPr>
        <p:spPr>
          <a:xfrm>
            <a:off x="1771144" y="518059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21" name="Text 219"/>
          <p:cNvSpPr txBox="1"/>
          <p:nvPr/>
        </p:nvSpPr>
        <p:spPr>
          <a:xfrm>
            <a:off x="2437496" y="5179888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1000 · 172.31.10.0/24</a:t>
            </a:r>
            <a:endParaRPr lang="en-US" sz="600" dirty="0"/>
          </a:p>
        </p:txBody>
      </p:sp>
      <p:sp>
        <p:nvSpPr>
          <p:cNvPr id="222" name="Text 220"/>
          <p:cNvSpPr txBox="1"/>
          <p:nvPr/>
        </p:nvSpPr>
        <p:spPr>
          <a:xfrm>
            <a:off x="1786199" y="5479720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MacVLAN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(SBI/N2,N4)</a:t>
            </a:r>
            <a:endParaRPr lang="en-US" sz="600" dirty="0"/>
          </a:p>
        </p:txBody>
      </p:sp>
      <p:sp>
        <p:nvSpPr>
          <p:cNvPr id="223" name="Text 221"/>
          <p:cNvSpPr txBox="1"/>
          <p:nvPr/>
        </p:nvSpPr>
        <p:spPr>
          <a:xfrm>
            <a:off x="2437496" y="5479720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1100/2000 · 10.31.0.0/27,/28</a:t>
            </a:r>
            <a:endParaRPr lang="en-US" sz="600" dirty="0"/>
          </a:p>
        </p:txBody>
      </p:sp>
      <p:sp>
        <p:nvSpPr>
          <p:cNvPr id="224" name="Text 222"/>
          <p:cNvSpPr txBox="1"/>
          <p:nvPr/>
        </p:nvSpPr>
        <p:spPr>
          <a:xfrm>
            <a:off x="1798857" y="576916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SR-IOV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(N3/N6,UPF)</a:t>
            </a:r>
            <a:endParaRPr lang="en-US" sz="600" dirty="0"/>
          </a:p>
        </p:txBody>
      </p:sp>
      <p:sp>
        <p:nvSpPr>
          <p:cNvPr id="225" name="Text 223"/>
          <p:cNvSpPr txBox="1"/>
          <p:nvPr/>
        </p:nvSpPr>
        <p:spPr>
          <a:xfrm>
            <a:off x="2437496" y="5761251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3000/3100 · vfio-pci(DPDK)</a:t>
            </a:r>
            <a:endParaRPr lang="en-US" sz="600" dirty="0"/>
          </a:p>
        </p:txBody>
      </p:sp>
      <p:sp>
        <p:nvSpPr>
          <p:cNvPr id="228" name="Text 226"/>
          <p:cNvSpPr txBox="1"/>
          <p:nvPr/>
        </p:nvSpPr>
        <p:spPr>
          <a:xfrm>
            <a:off x="1789734" y="605974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29" name="Text 227"/>
          <p:cNvSpPr txBox="1"/>
          <p:nvPr/>
        </p:nvSpPr>
        <p:spPr>
          <a:xfrm>
            <a:off x="2437496" y="6067274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1200 · 172.31.20.0/24</a:t>
            </a:r>
            <a:endParaRPr lang="en-US" sz="600" dirty="0"/>
          </a:p>
        </p:txBody>
      </p:sp>
      <p:sp>
        <p:nvSpPr>
          <p:cNvPr id="230" name="Text 228"/>
          <p:cNvSpPr txBox="1"/>
          <p:nvPr/>
        </p:nvSpPr>
        <p:spPr>
          <a:xfrm>
            <a:off x="2317846" y="6411587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/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MGMT network: Server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/iDRAC +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 cluster B</a:t>
            </a:r>
            <a:endParaRPr lang="en-US" sz="600" dirty="0"/>
          </a:p>
        </p:txBody>
      </p:sp>
      <p:sp>
        <p:nvSpPr>
          <p:cNvPr id="231" name="Text 229"/>
          <p:cNvSpPr txBox="1"/>
          <p:nvPr/>
        </p:nvSpPr>
        <p:spPr>
          <a:xfrm>
            <a:off x="2317846" y="6479155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172.31.99.1</a:t>
            </a:r>
            <a:endParaRPr lang="en-US" sz="600" dirty="0"/>
          </a:p>
        </p:txBody>
      </p:sp>
      <p:sp>
        <p:nvSpPr>
          <p:cNvPr id="255" name="Text 171">
            <a:extLst>
              <a:ext uri="{FF2B5EF4-FFF2-40B4-BE49-F238E27FC236}">
                <a16:creationId xmlns:a16="http://schemas.microsoft.com/office/drawing/2014/main" id="{97660401-3718-4FD5-8A71-DFF51EFFA65D}"/>
              </a:ext>
            </a:extLst>
          </p:cNvPr>
          <p:cNvSpPr txBox="1"/>
          <p:nvPr/>
        </p:nvSpPr>
        <p:spPr>
          <a:xfrm>
            <a:off x="227099" y="2044544"/>
            <a:ext cx="770271" cy="173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Bastion </a:t>
            </a:r>
          </a:p>
          <a:p>
            <a:pPr marL="0" indent="0" algn="ctr">
              <a:buNone/>
            </a:pPr>
            <a:r>
              <a:rPr lang="en-US" sz="800" dirty="0" err="1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</a:t>
            </a: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관리 경로</a:t>
            </a:r>
            <a:endParaRPr lang="en-US" sz="800" dirty="0"/>
          </a:p>
        </p:txBody>
      </p:sp>
      <p:sp>
        <p:nvSpPr>
          <p:cNvPr id="256" name="Shape 32">
            <a:extLst>
              <a:ext uri="{FF2B5EF4-FFF2-40B4-BE49-F238E27FC236}">
                <a16:creationId xmlns:a16="http://schemas.microsoft.com/office/drawing/2014/main" id="{74C0E114-6A93-4619-9BC6-691142F8E9E4}"/>
              </a:ext>
            </a:extLst>
          </p:cNvPr>
          <p:cNvSpPr/>
          <p:nvPr/>
        </p:nvSpPr>
        <p:spPr>
          <a:xfrm>
            <a:off x="4395167" y="6121915"/>
            <a:ext cx="35191" cy="35191"/>
          </a:xfrm>
          <a:prstGeom prst="ellipse">
            <a:avLst/>
          </a:prstGeom>
          <a:solidFill>
            <a:srgbClr val="00B050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259" name="Shape 98">
            <a:extLst>
              <a:ext uri="{FF2B5EF4-FFF2-40B4-BE49-F238E27FC236}">
                <a16:creationId xmlns:a16="http://schemas.microsoft.com/office/drawing/2014/main" id="{F10F9FA5-A44F-4955-8EDD-261AF17C7D79}"/>
              </a:ext>
            </a:extLst>
          </p:cNvPr>
          <p:cNvSpPr/>
          <p:nvPr/>
        </p:nvSpPr>
        <p:spPr>
          <a:xfrm flipH="1">
            <a:off x="3617177" y="4770196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2" name="Shape 30"/>
          <p:cNvSpPr/>
          <p:nvPr/>
        </p:nvSpPr>
        <p:spPr>
          <a:xfrm>
            <a:off x="4395167" y="526108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258" name="Shape 30">
            <a:extLst>
              <a:ext uri="{FF2B5EF4-FFF2-40B4-BE49-F238E27FC236}">
                <a16:creationId xmlns:a16="http://schemas.microsoft.com/office/drawing/2014/main" id="{77FC20C8-589B-43BD-AFA9-4D6C99080C3B}"/>
              </a:ext>
            </a:extLst>
          </p:cNvPr>
          <p:cNvSpPr/>
          <p:nvPr/>
        </p:nvSpPr>
        <p:spPr>
          <a:xfrm>
            <a:off x="3599543" y="526108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260" name="Shape 98">
            <a:extLst>
              <a:ext uri="{FF2B5EF4-FFF2-40B4-BE49-F238E27FC236}">
                <a16:creationId xmlns:a16="http://schemas.microsoft.com/office/drawing/2014/main" id="{073537D6-7EF4-4D79-AC51-BF881FB01B22}"/>
              </a:ext>
            </a:extLst>
          </p:cNvPr>
          <p:cNvSpPr/>
          <p:nvPr/>
        </p:nvSpPr>
        <p:spPr>
          <a:xfrm flipH="1">
            <a:off x="2807470" y="4772372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1" name="Shape 30">
            <a:extLst>
              <a:ext uri="{FF2B5EF4-FFF2-40B4-BE49-F238E27FC236}">
                <a16:creationId xmlns:a16="http://schemas.microsoft.com/office/drawing/2014/main" id="{D9D3C2C2-FF2D-41A4-A45D-C110A02ABC78}"/>
              </a:ext>
            </a:extLst>
          </p:cNvPr>
          <p:cNvSpPr/>
          <p:nvPr/>
        </p:nvSpPr>
        <p:spPr>
          <a:xfrm>
            <a:off x="2789836" y="526108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262" name="Shape 25">
            <a:extLst>
              <a:ext uri="{FF2B5EF4-FFF2-40B4-BE49-F238E27FC236}">
                <a16:creationId xmlns:a16="http://schemas.microsoft.com/office/drawing/2014/main" id="{73D81B14-9C05-45D5-B571-40A117DC25BB}"/>
              </a:ext>
            </a:extLst>
          </p:cNvPr>
          <p:cNvSpPr/>
          <p:nvPr/>
        </p:nvSpPr>
        <p:spPr>
          <a:xfrm>
            <a:off x="7286550" y="4354859"/>
            <a:ext cx="3640178" cy="2357825"/>
          </a:xfrm>
          <a:prstGeom prst="roundRect">
            <a:avLst>
              <a:gd name="adj" fmla="val 1250"/>
            </a:avLst>
          </a:prstGeom>
          <a:solidFill>
            <a:srgbClr val="EAF6F2"/>
          </a:solidFill>
          <a:ln w="10753">
            <a:solidFill>
              <a:srgbClr val="0F6E56"/>
            </a:solidFill>
            <a:prstDash val="solid"/>
          </a:ln>
        </p:spPr>
      </p:sp>
      <p:sp>
        <p:nvSpPr>
          <p:cNvPr id="263" name="Shape 26">
            <a:extLst>
              <a:ext uri="{FF2B5EF4-FFF2-40B4-BE49-F238E27FC236}">
                <a16:creationId xmlns:a16="http://schemas.microsoft.com/office/drawing/2014/main" id="{73896CB2-8849-4275-A5B9-C4F5D1A6EB65}"/>
              </a:ext>
            </a:extLst>
          </p:cNvPr>
          <p:cNvSpPr/>
          <p:nvPr/>
        </p:nvSpPr>
        <p:spPr>
          <a:xfrm>
            <a:off x="8236259" y="4513220"/>
            <a:ext cx="703828" cy="287289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64" name="Shape 27">
            <a:extLst>
              <a:ext uri="{FF2B5EF4-FFF2-40B4-BE49-F238E27FC236}">
                <a16:creationId xmlns:a16="http://schemas.microsoft.com/office/drawing/2014/main" id="{1192560E-B3DC-41E1-BB90-7417B83D49A1}"/>
              </a:ext>
            </a:extLst>
          </p:cNvPr>
          <p:cNvSpPr/>
          <p:nvPr/>
        </p:nvSpPr>
        <p:spPr>
          <a:xfrm>
            <a:off x="9080853" y="4516372"/>
            <a:ext cx="774211" cy="284137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65" name="Shape 28">
            <a:extLst>
              <a:ext uri="{FF2B5EF4-FFF2-40B4-BE49-F238E27FC236}">
                <a16:creationId xmlns:a16="http://schemas.microsoft.com/office/drawing/2014/main" id="{76B69E4F-0EB0-4C4D-A93B-3AF1E31F0DF1}"/>
              </a:ext>
            </a:extLst>
          </p:cNvPr>
          <p:cNvSpPr/>
          <p:nvPr/>
        </p:nvSpPr>
        <p:spPr>
          <a:xfrm>
            <a:off x="9995830" y="4516372"/>
            <a:ext cx="774211" cy="2783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266" name="Shape 31">
            <a:extLst>
              <a:ext uri="{FF2B5EF4-FFF2-40B4-BE49-F238E27FC236}">
                <a16:creationId xmlns:a16="http://schemas.microsoft.com/office/drawing/2014/main" id="{5E662153-48B6-4695-99DC-C769DDF36FC8}"/>
              </a:ext>
            </a:extLst>
          </p:cNvPr>
          <p:cNvSpPr/>
          <p:nvPr/>
        </p:nvSpPr>
        <p:spPr>
          <a:xfrm>
            <a:off x="10313580" y="5568963"/>
            <a:ext cx="35191" cy="35191"/>
          </a:xfrm>
          <a:prstGeom prst="ellipse">
            <a:avLst/>
          </a:prstGeom>
          <a:solidFill>
            <a:srgbClr val="E24B4A"/>
          </a:solidFill>
          <a:ln w="3175">
            <a:solidFill>
              <a:srgbClr val="E24B4A"/>
            </a:solidFill>
            <a:prstDash val="solid"/>
          </a:ln>
        </p:spPr>
      </p:sp>
      <p:sp>
        <p:nvSpPr>
          <p:cNvPr id="267" name="Shape 32">
            <a:extLst>
              <a:ext uri="{FF2B5EF4-FFF2-40B4-BE49-F238E27FC236}">
                <a16:creationId xmlns:a16="http://schemas.microsoft.com/office/drawing/2014/main" id="{48962F3C-7AF9-4FB5-A17E-53EFE6DA0970}"/>
              </a:ext>
            </a:extLst>
          </p:cNvPr>
          <p:cNvSpPr/>
          <p:nvPr/>
        </p:nvSpPr>
        <p:spPr>
          <a:xfrm>
            <a:off x="10313580" y="5850495"/>
            <a:ext cx="35191" cy="35191"/>
          </a:xfrm>
          <a:prstGeom prst="ellipse">
            <a:avLst/>
          </a:prstGeom>
          <a:solidFill>
            <a:srgbClr val="7F77DD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268" name="Shape 34">
            <a:extLst>
              <a:ext uri="{FF2B5EF4-FFF2-40B4-BE49-F238E27FC236}">
                <a16:creationId xmlns:a16="http://schemas.microsoft.com/office/drawing/2014/main" id="{8273F291-5E20-43DD-AB79-6479F1F8B6AB}"/>
              </a:ext>
            </a:extLst>
          </p:cNvPr>
          <p:cNvSpPr/>
          <p:nvPr/>
        </p:nvSpPr>
        <p:spPr>
          <a:xfrm>
            <a:off x="8236259" y="6420454"/>
            <a:ext cx="2533782" cy="168919"/>
          </a:xfrm>
          <a:prstGeom prst="roundRect">
            <a:avLst>
              <a:gd name="adj" fmla="val 12500"/>
            </a:avLst>
          </a:prstGeom>
          <a:solidFill>
            <a:srgbClr val="FFF4E8"/>
          </a:solidFill>
          <a:ln w="7332">
            <a:solidFill>
              <a:srgbClr val="BA7517"/>
            </a:solidFill>
            <a:prstDash val="dash"/>
          </a:ln>
        </p:spPr>
      </p:sp>
      <p:sp>
        <p:nvSpPr>
          <p:cNvPr id="269" name="Shape 95">
            <a:extLst>
              <a:ext uri="{FF2B5EF4-FFF2-40B4-BE49-F238E27FC236}">
                <a16:creationId xmlns:a16="http://schemas.microsoft.com/office/drawing/2014/main" id="{39E11845-C635-4EC0-9F7F-EEC4F0DC5595}"/>
              </a:ext>
            </a:extLst>
          </p:cNvPr>
          <p:cNvSpPr/>
          <p:nvPr/>
        </p:nvSpPr>
        <p:spPr>
          <a:xfrm>
            <a:off x="7477968" y="5301060"/>
            <a:ext cx="3186498" cy="0"/>
          </a:xfrm>
          <a:prstGeom prst="line">
            <a:avLst/>
          </a:prstGeom>
          <a:noFill/>
          <a:ln w="11242">
            <a:solidFill>
              <a:srgbClr val="0E8FA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0" name="Shape 96">
            <a:extLst>
              <a:ext uri="{FF2B5EF4-FFF2-40B4-BE49-F238E27FC236}">
                <a16:creationId xmlns:a16="http://schemas.microsoft.com/office/drawing/2014/main" id="{FF270B66-F309-47E9-AE38-29503711FFC1}"/>
              </a:ext>
            </a:extLst>
          </p:cNvPr>
          <p:cNvSpPr/>
          <p:nvPr/>
        </p:nvSpPr>
        <p:spPr>
          <a:xfrm>
            <a:off x="8306641" y="5586558"/>
            <a:ext cx="2160000" cy="0"/>
          </a:xfrm>
          <a:prstGeom prst="line">
            <a:avLst/>
          </a:prstGeom>
          <a:noFill/>
          <a:ln w="11242">
            <a:solidFill>
              <a:srgbClr val="E24B4A"/>
            </a:solidFill>
            <a:prstDash val="solid"/>
          </a:ln>
        </p:spPr>
      </p:sp>
      <p:sp>
        <p:nvSpPr>
          <p:cNvPr id="271" name="Shape 97">
            <a:extLst>
              <a:ext uri="{FF2B5EF4-FFF2-40B4-BE49-F238E27FC236}">
                <a16:creationId xmlns:a16="http://schemas.microsoft.com/office/drawing/2014/main" id="{A3D73C4A-BD4B-422F-9A48-26375E0A87DB}"/>
              </a:ext>
            </a:extLst>
          </p:cNvPr>
          <p:cNvSpPr/>
          <p:nvPr/>
        </p:nvSpPr>
        <p:spPr>
          <a:xfrm>
            <a:off x="8306641" y="5868090"/>
            <a:ext cx="2160000" cy="0"/>
          </a:xfrm>
          <a:prstGeom prst="line">
            <a:avLst/>
          </a:prstGeom>
          <a:noFill/>
          <a:ln w="11242">
            <a:solidFill>
              <a:srgbClr val="7F77DD"/>
            </a:solidFill>
            <a:prstDash val="solid"/>
          </a:ln>
        </p:spPr>
      </p:sp>
      <p:sp>
        <p:nvSpPr>
          <p:cNvPr id="272" name="Shape 98">
            <a:extLst>
              <a:ext uri="{FF2B5EF4-FFF2-40B4-BE49-F238E27FC236}">
                <a16:creationId xmlns:a16="http://schemas.microsoft.com/office/drawing/2014/main" id="{60D8C2FC-40C3-4929-B2C4-F73C84B7D1BC}"/>
              </a:ext>
            </a:extLst>
          </p:cNvPr>
          <p:cNvSpPr/>
          <p:nvPr/>
        </p:nvSpPr>
        <p:spPr>
          <a:xfrm flipH="1">
            <a:off x="10331175" y="4800509"/>
            <a:ext cx="0" cy="1606749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73" name="Shape 100">
            <a:extLst>
              <a:ext uri="{FF2B5EF4-FFF2-40B4-BE49-F238E27FC236}">
                <a16:creationId xmlns:a16="http://schemas.microsoft.com/office/drawing/2014/main" id="{45F1312C-B2F8-4094-A47C-9CC9FE99F86D}"/>
              </a:ext>
            </a:extLst>
          </p:cNvPr>
          <p:cNvSpPr/>
          <p:nvPr/>
        </p:nvSpPr>
        <p:spPr>
          <a:xfrm>
            <a:off x="8306641" y="6161890"/>
            <a:ext cx="2357825" cy="0"/>
          </a:xfrm>
          <a:prstGeom prst="line">
            <a:avLst/>
          </a:prstGeom>
          <a:noFill/>
          <a:ln w="11242">
            <a:solidFill>
              <a:srgbClr val="0F6E56"/>
            </a:solidFill>
            <a:prstDash val="solid"/>
          </a:ln>
        </p:spPr>
      </p:sp>
      <p:sp>
        <p:nvSpPr>
          <p:cNvPr id="274" name="Shape 102">
            <a:extLst>
              <a:ext uri="{FF2B5EF4-FFF2-40B4-BE49-F238E27FC236}">
                <a16:creationId xmlns:a16="http://schemas.microsoft.com/office/drawing/2014/main" id="{B827AC71-C526-4B61-ADE4-8693FAD82842}"/>
              </a:ext>
            </a:extLst>
          </p:cNvPr>
          <p:cNvSpPr/>
          <p:nvPr/>
        </p:nvSpPr>
        <p:spPr>
          <a:xfrm flipH="1">
            <a:off x="8588171" y="4808475"/>
            <a:ext cx="0" cy="1589489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275" name="Shape 103">
            <a:extLst>
              <a:ext uri="{FF2B5EF4-FFF2-40B4-BE49-F238E27FC236}">
                <a16:creationId xmlns:a16="http://schemas.microsoft.com/office/drawing/2014/main" id="{15D9D0DC-E15B-412D-9927-A1ECC85D668D}"/>
              </a:ext>
            </a:extLst>
          </p:cNvPr>
          <p:cNvSpPr/>
          <p:nvPr/>
        </p:nvSpPr>
        <p:spPr>
          <a:xfrm>
            <a:off x="9356732" y="4823258"/>
            <a:ext cx="0" cy="1595613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</p:sp>
      <p:sp>
        <p:nvSpPr>
          <p:cNvPr id="276" name="Shape 104">
            <a:extLst>
              <a:ext uri="{FF2B5EF4-FFF2-40B4-BE49-F238E27FC236}">
                <a16:creationId xmlns:a16="http://schemas.microsoft.com/office/drawing/2014/main" id="{4E964B1D-88FD-41B0-A809-E6EB1B61F2C0}"/>
              </a:ext>
            </a:extLst>
          </p:cNvPr>
          <p:cNvSpPr/>
          <p:nvPr/>
        </p:nvSpPr>
        <p:spPr>
          <a:xfrm flipH="1">
            <a:off x="10100641" y="4823258"/>
            <a:ext cx="0" cy="1584000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1" name="Text 209">
            <a:extLst>
              <a:ext uri="{FF2B5EF4-FFF2-40B4-BE49-F238E27FC236}">
                <a16:creationId xmlns:a16="http://schemas.microsoft.com/office/drawing/2014/main" id="{4BEA6FD3-0276-48A1-99C6-F5227FA95E99}"/>
              </a:ext>
            </a:extLst>
          </p:cNvPr>
          <p:cNvSpPr txBox="1"/>
          <p:nvPr/>
        </p:nvSpPr>
        <p:spPr>
          <a:xfrm>
            <a:off x="9356731" y="4390050"/>
            <a:ext cx="969897" cy="1139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C — 5G CNF </a:t>
            </a:r>
            <a:endParaRPr lang="en-US" sz="900" dirty="0"/>
          </a:p>
        </p:txBody>
      </p:sp>
      <p:sp>
        <p:nvSpPr>
          <p:cNvPr id="282" name="Text 210">
            <a:extLst>
              <a:ext uri="{FF2B5EF4-FFF2-40B4-BE49-F238E27FC236}">
                <a16:creationId xmlns:a16="http://schemas.microsoft.com/office/drawing/2014/main" id="{999FE4A4-F87D-47DA-9219-B3076A61F62C}"/>
              </a:ext>
            </a:extLst>
          </p:cNvPr>
          <p:cNvSpPr txBox="1"/>
          <p:nvPr/>
        </p:nvSpPr>
        <p:spPr>
          <a:xfrm>
            <a:off x="8236259" y="4565824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Bastion-C</a:t>
            </a:r>
            <a:endParaRPr lang="en-US" sz="800" dirty="0"/>
          </a:p>
        </p:txBody>
      </p:sp>
      <p:sp>
        <p:nvSpPr>
          <p:cNvPr id="283" name="Text 211">
            <a:extLst>
              <a:ext uri="{FF2B5EF4-FFF2-40B4-BE49-F238E27FC236}">
                <a16:creationId xmlns:a16="http://schemas.microsoft.com/office/drawing/2014/main" id="{151C42BD-9BDC-43B4-B9FF-AC2EB2CBCFB7}"/>
              </a:ext>
            </a:extLst>
          </p:cNvPr>
          <p:cNvSpPr txBox="1"/>
          <p:nvPr/>
        </p:nvSpPr>
        <p:spPr>
          <a:xfrm>
            <a:off x="8236259" y="4641318"/>
            <a:ext cx="703828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 / 설치 CLI</a:t>
            </a:r>
            <a:endParaRPr lang="en-US" sz="800" dirty="0"/>
          </a:p>
        </p:txBody>
      </p:sp>
      <p:sp>
        <p:nvSpPr>
          <p:cNvPr id="284" name="Text 212">
            <a:extLst>
              <a:ext uri="{FF2B5EF4-FFF2-40B4-BE49-F238E27FC236}">
                <a16:creationId xmlns:a16="http://schemas.microsoft.com/office/drawing/2014/main" id="{E3996E02-4416-49C6-9B13-8305F554AF86}"/>
              </a:ext>
            </a:extLst>
          </p:cNvPr>
          <p:cNvSpPr txBox="1"/>
          <p:nvPr/>
        </p:nvSpPr>
        <p:spPr>
          <a:xfrm>
            <a:off x="9080853" y="4565824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Master-C ×3</a:t>
            </a:r>
            <a:endParaRPr lang="en-US" sz="800" dirty="0"/>
          </a:p>
        </p:txBody>
      </p:sp>
      <p:sp>
        <p:nvSpPr>
          <p:cNvPr id="285" name="Text 213">
            <a:extLst>
              <a:ext uri="{FF2B5EF4-FFF2-40B4-BE49-F238E27FC236}">
                <a16:creationId xmlns:a16="http://schemas.microsoft.com/office/drawing/2014/main" id="{D8452CBE-A5B1-493B-B56C-13FEED72E10B}"/>
              </a:ext>
            </a:extLst>
          </p:cNvPr>
          <p:cNvSpPr txBox="1"/>
          <p:nvPr/>
        </p:nvSpPr>
        <p:spPr>
          <a:xfrm>
            <a:off x="9080853" y="4641318"/>
            <a:ext cx="774211" cy="96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Plane</a:t>
            </a:r>
            <a:endParaRPr lang="en-US" sz="800" dirty="0"/>
          </a:p>
        </p:txBody>
      </p:sp>
      <p:sp>
        <p:nvSpPr>
          <p:cNvPr id="286" name="Text 214">
            <a:extLst>
              <a:ext uri="{FF2B5EF4-FFF2-40B4-BE49-F238E27FC236}">
                <a16:creationId xmlns:a16="http://schemas.microsoft.com/office/drawing/2014/main" id="{F7F973F9-7559-4B14-B00D-DBA32B7A1C99}"/>
              </a:ext>
            </a:extLst>
          </p:cNvPr>
          <p:cNvSpPr txBox="1"/>
          <p:nvPr/>
        </p:nvSpPr>
        <p:spPr>
          <a:xfrm>
            <a:off x="9995830" y="4565824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Worker-C</a:t>
            </a:r>
            <a:endParaRPr lang="en-US" sz="800" dirty="0"/>
          </a:p>
        </p:txBody>
      </p:sp>
      <p:sp>
        <p:nvSpPr>
          <p:cNvPr id="287" name="Text 215">
            <a:extLst>
              <a:ext uri="{FF2B5EF4-FFF2-40B4-BE49-F238E27FC236}">
                <a16:creationId xmlns:a16="http://schemas.microsoft.com/office/drawing/2014/main" id="{AFB55AE4-0EAD-4D93-BCEE-BF874114CA8E}"/>
              </a:ext>
            </a:extLst>
          </p:cNvPr>
          <p:cNvSpPr txBox="1"/>
          <p:nvPr/>
        </p:nvSpPr>
        <p:spPr>
          <a:xfrm>
            <a:off x="9995830" y="4666655"/>
            <a:ext cx="774211" cy="12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AMF/SMF/UPF</a:t>
            </a:r>
            <a:endParaRPr lang="en-US" sz="800" dirty="0"/>
          </a:p>
        </p:txBody>
      </p:sp>
      <p:sp>
        <p:nvSpPr>
          <p:cNvPr id="288" name="Text 216">
            <a:extLst>
              <a:ext uri="{FF2B5EF4-FFF2-40B4-BE49-F238E27FC236}">
                <a16:creationId xmlns:a16="http://schemas.microsoft.com/office/drawing/2014/main" id="{70233423-55B9-4FC9-8821-BCD49A5BAEA4}"/>
              </a:ext>
            </a:extLst>
          </p:cNvPr>
          <p:cNvSpPr txBox="1"/>
          <p:nvPr/>
        </p:nvSpPr>
        <p:spPr>
          <a:xfrm>
            <a:off x="10418198" y="5090610"/>
            <a:ext cx="497396" cy="1461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 Switch </a:t>
            </a:r>
            <a:endParaRPr lang="en-US" sz="600" dirty="0"/>
          </a:p>
        </p:txBody>
      </p:sp>
      <p:sp>
        <p:nvSpPr>
          <p:cNvPr id="289" name="Text 217">
            <a:extLst>
              <a:ext uri="{FF2B5EF4-FFF2-40B4-BE49-F238E27FC236}">
                <a16:creationId xmlns:a16="http://schemas.microsoft.com/office/drawing/2014/main" id="{D6C1D411-1C9A-4B0F-9189-215B48933FCE}"/>
              </a:ext>
            </a:extLst>
          </p:cNvPr>
          <p:cNvSpPr txBox="1"/>
          <p:nvPr/>
        </p:nvSpPr>
        <p:spPr>
          <a:xfrm>
            <a:off x="10419995" y="5041376"/>
            <a:ext cx="711837" cy="9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172.32.99.2</a:t>
            </a:r>
            <a:endParaRPr lang="en-US" sz="600" dirty="0"/>
          </a:p>
        </p:txBody>
      </p:sp>
      <p:sp>
        <p:nvSpPr>
          <p:cNvPr id="290" name="Text 218">
            <a:extLst>
              <a:ext uri="{FF2B5EF4-FFF2-40B4-BE49-F238E27FC236}">
                <a16:creationId xmlns:a16="http://schemas.microsoft.com/office/drawing/2014/main" id="{A369E30D-5AD2-45C5-9A40-CB35FDE022CD}"/>
              </a:ext>
            </a:extLst>
          </p:cNvPr>
          <p:cNvSpPr txBox="1"/>
          <p:nvPr/>
        </p:nvSpPr>
        <p:spPr>
          <a:xfrm>
            <a:off x="7689557" y="520297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Machine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E8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91" name="Text 219">
            <a:extLst>
              <a:ext uri="{FF2B5EF4-FFF2-40B4-BE49-F238E27FC236}">
                <a16:creationId xmlns:a16="http://schemas.microsoft.com/office/drawing/2014/main" id="{C1BE6F36-EC22-47CF-98BE-BAA6DBFB9AE1}"/>
              </a:ext>
            </a:extLst>
          </p:cNvPr>
          <p:cNvSpPr txBox="1"/>
          <p:nvPr/>
        </p:nvSpPr>
        <p:spPr>
          <a:xfrm>
            <a:off x="8355909" y="5202268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1000 · 172.32.10.0/24</a:t>
            </a:r>
            <a:endParaRPr lang="en-US" sz="600" dirty="0"/>
          </a:p>
        </p:txBody>
      </p:sp>
      <p:sp>
        <p:nvSpPr>
          <p:cNvPr id="292" name="Text 220">
            <a:extLst>
              <a:ext uri="{FF2B5EF4-FFF2-40B4-BE49-F238E27FC236}">
                <a16:creationId xmlns:a16="http://schemas.microsoft.com/office/drawing/2014/main" id="{C5EF1C57-5EEA-4DAA-B4AF-859A52A55A84}"/>
              </a:ext>
            </a:extLst>
          </p:cNvPr>
          <p:cNvSpPr txBox="1"/>
          <p:nvPr/>
        </p:nvSpPr>
        <p:spPr>
          <a:xfrm>
            <a:off x="7704612" y="5502100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MacVLAN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E24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(SBI/N2,N4)</a:t>
            </a:r>
            <a:endParaRPr lang="en-US" sz="600" dirty="0"/>
          </a:p>
        </p:txBody>
      </p:sp>
      <p:sp>
        <p:nvSpPr>
          <p:cNvPr id="293" name="Text 221">
            <a:extLst>
              <a:ext uri="{FF2B5EF4-FFF2-40B4-BE49-F238E27FC236}">
                <a16:creationId xmlns:a16="http://schemas.microsoft.com/office/drawing/2014/main" id="{B5BF523A-4D18-41EC-9316-62899D5A453D}"/>
              </a:ext>
            </a:extLst>
          </p:cNvPr>
          <p:cNvSpPr txBox="1"/>
          <p:nvPr/>
        </p:nvSpPr>
        <p:spPr>
          <a:xfrm>
            <a:off x="8355909" y="5502100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1100/2000 · 10.32.0.0/27,/28</a:t>
            </a:r>
            <a:endParaRPr lang="en-US" sz="600" dirty="0"/>
          </a:p>
        </p:txBody>
      </p:sp>
      <p:sp>
        <p:nvSpPr>
          <p:cNvPr id="294" name="Text 222">
            <a:extLst>
              <a:ext uri="{FF2B5EF4-FFF2-40B4-BE49-F238E27FC236}">
                <a16:creationId xmlns:a16="http://schemas.microsoft.com/office/drawing/2014/main" id="{97E620AC-5936-4B18-B2AB-23CD7A489F5D}"/>
              </a:ext>
            </a:extLst>
          </p:cNvPr>
          <p:cNvSpPr txBox="1"/>
          <p:nvPr/>
        </p:nvSpPr>
        <p:spPr>
          <a:xfrm>
            <a:off x="7717270" y="579154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CNF SR-IOV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7F77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(N3/N6,UPF)</a:t>
            </a:r>
            <a:endParaRPr lang="en-US" sz="600" dirty="0"/>
          </a:p>
        </p:txBody>
      </p:sp>
      <p:sp>
        <p:nvSpPr>
          <p:cNvPr id="295" name="Text 223">
            <a:extLst>
              <a:ext uri="{FF2B5EF4-FFF2-40B4-BE49-F238E27FC236}">
                <a16:creationId xmlns:a16="http://schemas.microsoft.com/office/drawing/2014/main" id="{43FB19A4-DD35-49A5-AF92-7114BCA223B7}"/>
              </a:ext>
            </a:extLst>
          </p:cNvPr>
          <p:cNvSpPr txBox="1"/>
          <p:nvPr/>
        </p:nvSpPr>
        <p:spPr>
          <a:xfrm>
            <a:off x="8355909" y="5783631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3000/3100 · vfio-pci(DPDK)</a:t>
            </a:r>
            <a:endParaRPr lang="en-US" sz="600" dirty="0"/>
          </a:p>
        </p:txBody>
      </p:sp>
      <p:sp>
        <p:nvSpPr>
          <p:cNvPr id="296" name="Text 226">
            <a:extLst>
              <a:ext uri="{FF2B5EF4-FFF2-40B4-BE49-F238E27FC236}">
                <a16:creationId xmlns:a16="http://schemas.microsoft.com/office/drawing/2014/main" id="{4B24C1F5-0EB4-4485-8DE3-30414B1B7A3C}"/>
              </a:ext>
            </a:extLst>
          </p:cNvPr>
          <p:cNvSpPr txBox="1"/>
          <p:nvPr/>
        </p:nvSpPr>
        <p:spPr>
          <a:xfrm>
            <a:off x="7708147" y="6082123"/>
            <a:ext cx="563063" cy="168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</a:t>
            </a:r>
            <a:endParaRPr lang="en-US" sz="600" dirty="0"/>
          </a:p>
          <a:p>
            <a:pPr marL="0" indent="0" algn="r">
              <a:buNone/>
            </a:pPr>
            <a:r>
              <a:rPr lang="en-US" sz="60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</a:t>
            </a:r>
            <a:endParaRPr lang="en-US" sz="600" dirty="0"/>
          </a:p>
        </p:txBody>
      </p:sp>
      <p:sp>
        <p:nvSpPr>
          <p:cNvPr id="297" name="Text 227">
            <a:extLst>
              <a:ext uri="{FF2B5EF4-FFF2-40B4-BE49-F238E27FC236}">
                <a16:creationId xmlns:a16="http://schemas.microsoft.com/office/drawing/2014/main" id="{186A65AB-0998-4620-871E-B2D279F731E6}"/>
              </a:ext>
            </a:extLst>
          </p:cNvPr>
          <p:cNvSpPr txBox="1"/>
          <p:nvPr/>
        </p:nvSpPr>
        <p:spPr>
          <a:xfrm>
            <a:off x="8355909" y="6089654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1200 · 172.32.20.0/24</a:t>
            </a:r>
            <a:endParaRPr lang="en-US" sz="600" dirty="0"/>
          </a:p>
        </p:txBody>
      </p:sp>
      <p:sp>
        <p:nvSpPr>
          <p:cNvPr id="298" name="Text 228">
            <a:extLst>
              <a:ext uri="{FF2B5EF4-FFF2-40B4-BE49-F238E27FC236}">
                <a16:creationId xmlns:a16="http://schemas.microsoft.com/office/drawing/2014/main" id="{12B87896-9598-4AAC-ADC0-A22BEB31D22D}"/>
              </a:ext>
            </a:extLst>
          </p:cNvPr>
          <p:cNvSpPr txBox="1"/>
          <p:nvPr/>
        </p:nvSpPr>
        <p:spPr>
          <a:xfrm>
            <a:off x="8236259" y="6433967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/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Local MGMT network: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iLO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/iDRAC +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600" b="1" dirty="0" err="1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</a:t>
            </a: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for cluster C</a:t>
            </a:r>
            <a:endParaRPr lang="en-US" sz="600" dirty="0"/>
          </a:p>
        </p:txBody>
      </p:sp>
      <p:sp>
        <p:nvSpPr>
          <p:cNvPr id="299" name="Text 229">
            <a:extLst>
              <a:ext uri="{FF2B5EF4-FFF2-40B4-BE49-F238E27FC236}">
                <a16:creationId xmlns:a16="http://schemas.microsoft.com/office/drawing/2014/main" id="{834F22FA-D279-4547-A599-5BF3FCBB3568}"/>
              </a:ext>
            </a:extLst>
          </p:cNvPr>
          <p:cNvSpPr txBox="1"/>
          <p:nvPr/>
        </p:nvSpPr>
        <p:spPr>
          <a:xfrm>
            <a:off x="8236259" y="6501535"/>
            <a:ext cx="2533782" cy="84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IP 172.32.99.1</a:t>
            </a:r>
            <a:endParaRPr lang="en-US" sz="600" dirty="0"/>
          </a:p>
        </p:txBody>
      </p:sp>
      <p:sp>
        <p:nvSpPr>
          <p:cNvPr id="300" name="Text 230">
            <a:extLst>
              <a:ext uri="{FF2B5EF4-FFF2-40B4-BE49-F238E27FC236}">
                <a16:creationId xmlns:a16="http://schemas.microsoft.com/office/drawing/2014/main" id="{24A883C6-C79D-4B80-B47E-D9567B4D54B6}"/>
              </a:ext>
            </a:extLst>
          </p:cNvPr>
          <p:cNvSpPr txBox="1"/>
          <p:nvPr/>
        </p:nvSpPr>
        <p:spPr>
          <a:xfrm>
            <a:off x="9356732" y="6317140"/>
            <a:ext cx="387106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00" i="1" dirty="0">
                <a:solidFill>
                  <a:srgbClr val="854F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Mgmt Port</a:t>
            </a:r>
            <a:endParaRPr lang="en-US" sz="600" dirty="0"/>
          </a:p>
        </p:txBody>
      </p:sp>
      <p:sp>
        <p:nvSpPr>
          <p:cNvPr id="301" name="Shape 32">
            <a:extLst>
              <a:ext uri="{FF2B5EF4-FFF2-40B4-BE49-F238E27FC236}">
                <a16:creationId xmlns:a16="http://schemas.microsoft.com/office/drawing/2014/main" id="{A5B1FD3E-CA59-472E-8C59-17EC956D1FEE}"/>
              </a:ext>
            </a:extLst>
          </p:cNvPr>
          <p:cNvSpPr/>
          <p:nvPr/>
        </p:nvSpPr>
        <p:spPr>
          <a:xfrm>
            <a:off x="10313580" y="6144295"/>
            <a:ext cx="35191" cy="35191"/>
          </a:xfrm>
          <a:prstGeom prst="ellipse">
            <a:avLst/>
          </a:prstGeom>
          <a:solidFill>
            <a:srgbClr val="00B050"/>
          </a:solidFill>
          <a:ln w="3175">
            <a:solidFill>
              <a:srgbClr val="7F77DD"/>
            </a:solidFill>
            <a:prstDash val="solid"/>
          </a:ln>
        </p:spPr>
      </p:sp>
      <p:sp>
        <p:nvSpPr>
          <p:cNvPr id="302" name="Shape 98">
            <a:extLst>
              <a:ext uri="{FF2B5EF4-FFF2-40B4-BE49-F238E27FC236}">
                <a16:creationId xmlns:a16="http://schemas.microsoft.com/office/drawing/2014/main" id="{E8791106-B937-4A75-A037-3DDEA8E41591}"/>
              </a:ext>
            </a:extLst>
          </p:cNvPr>
          <p:cNvSpPr/>
          <p:nvPr/>
        </p:nvSpPr>
        <p:spPr>
          <a:xfrm flipH="1">
            <a:off x="9535590" y="4792576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3" name="Shape 30">
            <a:extLst>
              <a:ext uri="{FF2B5EF4-FFF2-40B4-BE49-F238E27FC236}">
                <a16:creationId xmlns:a16="http://schemas.microsoft.com/office/drawing/2014/main" id="{85255EE7-FD17-4FEE-87BB-F21F51CD5D31}"/>
              </a:ext>
            </a:extLst>
          </p:cNvPr>
          <p:cNvSpPr/>
          <p:nvPr/>
        </p:nvSpPr>
        <p:spPr>
          <a:xfrm>
            <a:off x="10313580" y="528346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304" name="Shape 30">
            <a:extLst>
              <a:ext uri="{FF2B5EF4-FFF2-40B4-BE49-F238E27FC236}">
                <a16:creationId xmlns:a16="http://schemas.microsoft.com/office/drawing/2014/main" id="{C7128658-EFF7-4E0F-8D98-3300BED28BDD}"/>
              </a:ext>
            </a:extLst>
          </p:cNvPr>
          <p:cNvSpPr/>
          <p:nvPr/>
        </p:nvSpPr>
        <p:spPr>
          <a:xfrm>
            <a:off x="9517956" y="528346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305" name="Shape 98">
            <a:extLst>
              <a:ext uri="{FF2B5EF4-FFF2-40B4-BE49-F238E27FC236}">
                <a16:creationId xmlns:a16="http://schemas.microsoft.com/office/drawing/2014/main" id="{0D41DA53-C6D9-471D-AFFB-C6681561145A}"/>
              </a:ext>
            </a:extLst>
          </p:cNvPr>
          <p:cNvSpPr/>
          <p:nvPr/>
        </p:nvSpPr>
        <p:spPr>
          <a:xfrm flipH="1">
            <a:off x="8725883" y="4794752"/>
            <a:ext cx="0" cy="522114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6" name="Shape 30">
            <a:extLst>
              <a:ext uri="{FF2B5EF4-FFF2-40B4-BE49-F238E27FC236}">
                <a16:creationId xmlns:a16="http://schemas.microsoft.com/office/drawing/2014/main" id="{BA736F86-B1D8-44DD-B750-427D13468F6F}"/>
              </a:ext>
            </a:extLst>
          </p:cNvPr>
          <p:cNvSpPr/>
          <p:nvPr/>
        </p:nvSpPr>
        <p:spPr>
          <a:xfrm>
            <a:off x="8708249" y="5283465"/>
            <a:ext cx="35191" cy="35191"/>
          </a:xfrm>
          <a:prstGeom prst="ellipse">
            <a:avLst/>
          </a:prstGeom>
          <a:solidFill>
            <a:srgbClr val="0E8FA6"/>
          </a:solidFill>
          <a:ln w="3175">
            <a:solidFill>
              <a:srgbClr val="0E8FA6"/>
            </a:solidFill>
            <a:prstDash val="solid"/>
          </a:ln>
        </p:spPr>
      </p:sp>
      <p:sp>
        <p:nvSpPr>
          <p:cNvPr id="307" name="Shape 23">
            <a:extLst>
              <a:ext uri="{FF2B5EF4-FFF2-40B4-BE49-F238E27FC236}">
                <a16:creationId xmlns:a16="http://schemas.microsoft.com/office/drawing/2014/main" id="{C87A7C77-0287-47C7-B780-F10CEBFCAD2C}"/>
              </a:ext>
            </a:extLst>
          </p:cNvPr>
          <p:cNvSpPr/>
          <p:nvPr/>
        </p:nvSpPr>
        <p:spPr>
          <a:xfrm>
            <a:off x="3936651" y="3781393"/>
            <a:ext cx="4100107" cy="354366"/>
          </a:xfrm>
          <a:prstGeom prst="roundRect">
            <a:avLst>
              <a:gd name="adj" fmla="val 0"/>
            </a:avLst>
          </a:prstGeom>
          <a:solidFill>
            <a:srgbClr val="F3ECFB"/>
          </a:solidFill>
          <a:ln w="7332">
            <a:solidFill>
              <a:srgbClr val="534AB7"/>
            </a:solidFill>
            <a:prstDash val="solid"/>
          </a:ln>
        </p:spPr>
      </p:sp>
      <p:sp>
        <p:nvSpPr>
          <p:cNvPr id="318" name="Text 203">
            <a:extLst>
              <a:ext uri="{FF2B5EF4-FFF2-40B4-BE49-F238E27FC236}">
                <a16:creationId xmlns:a16="http://schemas.microsoft.com/office/drawing/2014/main" id="{55E4B43D-0261-49A0-A4C6-EEE6FD48ACDF}"/>
              </a:ext>
            </a:extLst>
          </p:cNvPr>
          <p:cNvSpPr txBox="1"/>
          <p:nvPr/>
        </p:nvSpPr>
        <p:spPr>
          <a:xfrm>
            <a:off x="4470957" y="3800602"/>
            <a:ext cx="3031495" cy="17952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Inter-Cluster Aggregation Switch</a:t>
            </a:r>
            <a:endParaRPr lang="en-US" sz="900" dirty="0"/>
          </a:p>
        </p:txBody>
      </p:sp>
      <p:sp>
        <p:nvSpPr>
          <p:cNvPr id="319" name="Text 204">
            <a:extLst>
              <a:ext uri="{FF2B5EF4-FFF2-40B4-BE49-F238E27FC236}">
                <a16:creationId xmlns:a16="http://schemas.microsoft.com/office/drawing/2014/main" id="{D0EFE8F2-588D-4BEC-934A-D5A02F5C53CE}"/>
              </a:ext>
            </a:extLst>
          </p:cNvPr>
          <p:cNvSpPr txBox="1"/>
          <p:nvPr/>
        </p:nvSpPr>
        <p:spPr>
          <a:xfrm>
            <a:off x="4109352" y="3989986"/>
            <a:ext cx="3790913" cy="140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A ↔ B/C L3 라우팅 (동일 서브넷 불필요, 단일 스위치) · Mgmt IP 172.30.1.1</a:t>
            </a:r>
            <a:endParaRPr lang="en-US" sz="800" dirty="0"/>
          </a:p>
        </p:txBody>
      </p:sp>
      <p:sp>
        <p:nvSpPr>
          <p:cNvPr id="320" name="Shape 20">
            <a:extLst>
              <a:ext uri="{FF2B5EF4-FFF2-40B4-BE49-F238E27FC236}">
                <a16:creationId xmlns:a16="http://schemas.microsoft.com/office/drawing/2014/main" id="{34231D2D-301A-45EC-A7D2-8DC210EB73C1}"/>
              </a:ext>
            </a:extLst>
          </p:cNvPr>
          <p:cNvSpPr/>
          <p:nvPr/>
        </p:nvSpPr>
        <p:spPr>
          <a:xfrm>
            <a:off x="8314387" y="2716906"/>
            <a:ext cx="1755033" cy="31672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332">
            <a:solidFill>
              <a:srgbClr val="5F5E5A"/>
            </a:solidFill>
            <a:prstDash val="solid"/>
          </a:ln>
        </p:spPr>
      </p:sp>
      <p:sp>
        <p:nvSpPr>
          <p:cNvPr id="321" name="Shape 21">
            <a:extLst>
              <a:ext uri="{FF2B5EF4-FFF2-40B4-BE49-F238E27FC236}">
                <a16:creationId xmlns:a16="http://schemas.microsoft.com/office/drawing/2014/main" id="{D524D73F-0F0F-454E-BE0A-C569319DF660}"/>
              </a:ext>
            </a:extLst>
          </p:cNvPr>
          <p:cNvSpPr/>
          <p:nvPr/>
        </p:nvSpPr>
        <p:spPr>
          <a:xfrm>
            <a:off x="9680310" y="3441598"/>
            <a:ext cx="1682296" cy="316723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332">
            <a:solidFill>
              <a:srgbClr val="5F5E5A"/>
            </a:solidFill>
            <a:prstDash val="solid"/>
          </a:ln>
        </p:spPr>
      </p:sp>
      <p:sp>
        <p:nvSpPr>
          <p:cNvPr id="324" name="Text 196">
            <a:extLst>
              <a:ext uri="{FF2B5EF4-FFF2-40B4-BE49-F238E27FC236}">
                <a16:creationId xmlns:a16="http://schemas.microsoft.com/office/drawing/2014/main" id="{C3EAB912-E371-4E1E-8BAB-BAFFAABF6CAF}"/>
              </a:ext>
            </a:extLst>
          </p:cNvPr>
          <p:cNvSpPr txBox="1"/>
          <p:nvPr/>
        </p:nvSpPr>
        <p:spPr>
          <a:xfrm>
            <a:off x="8664032" y="2730032"/>
            <a:ext cx="1055743" cy="158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Harbor Registry</a:t>
            </a:r>
            <a:endParaRPr lang="en-US" sz="800" dirty="0"/>
          </a:p>
        </p:txBody>
      </p:sp>
      <p:sp>
        <p:nvSpPr>
          <p:cNvPr id="325" name="Text 197">
            <a:extLst>
              <a:ext uri="{FF2B5EF4-FFF2-40B4-BE49-F238E27FC236}">
                <a16:creationId xmlns:a16="http://schemas.microsoft.com/office/drawing/2014/main" id="{25B3D30E-1A22-4327-9B1F-E77F3883C794}"/>
              </a:ext>
            </a:extLst>
          </p:cNvPr>
          <p:cNvSpPr txBox="1"/>
          <p:nvPr/>
        </p:nvSpPr>
        <p:spPr>
          <a:xfrm>
            <a:off x="8360480" y="2888594"/>
            <a:ext cx="1662846" cy="140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RHOCP/Operator/CNF Image 공용</a:t>
            </a:r>
            <a:endParaRPr lang="en-US" sz="800" dirty="0"/>
          </a:p>
        </p:txBody>
      </p:sp>
      <p:sp>
        <p:nvSpPr>
          <p:cNvPr id="326" name="Text 198">
            <a:extLst>
              <a:ext uri="{FF2B5EF4-FFF2-40B4-BE49-F238E27FC236}">
                <a16:creationId xmlns:a16="http://schemas.microsoft.com/office/drawing/2014/main" id="{37F81400-4E25-438E-8289-CC17CBD7008D}"/>
              </a:ext>
            </a:extLst>
          </p:cNvPr>
          <p:cNvSpPr txBox="1"/>
          <p:nvPr/>
        </p:nvSpPr>
        <p:spPr>
          <a:xfrm>
            <a:off x="9923204" y="3467603"/>
            <a:ext cx="1196508" cy="158361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Storage Cluster</a:t>
            </a:r>
            <a:endParaRPr lang="en-US" sz="800" dirty="0"/>
          </a:p>
        </p:txBody>
      </p:sp>
      <p:sp>
        <p:nvSpPr>
          <p:cNvPr id="327" name="Text 199">
            <a:extLst>
              <a:ext uri="{FF2B5EF4-FFF2-40B4-BE49-F238E27FC236}">
                <a16:creationId xmlns:a16="http://schemas.microsoft.com/office/drawing/2014/main" id="{1608CFBD-2275-46A7-B35F-C0FF9C4525C4}"/>
              </a:ext>
            </a:extLst>
          </p:cNvPr>
          <p:cNvSpPr txBox="1"/>
          <p:nvPr/>
        </p:nvSpPr>
        <p:spPr>
          <a:xfrm>
            <a:off x="9923204" y="3630141"/>
            <a:ext cx="1196508" cy="158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Harbor 백엔드 (Ceph, 공용)</a:t>
            </a:r>
            <a:endParaRPr lang="en-US" sz="800" dirty="0"/>
          </a:p>
        </p:txBody>
      </p:sp>
      <p:sp>
        <p:nvSpPr>
          <p:cNvPr id="328" name="Shape 11">
            <a:extLst>
              <a:ext uri="{FF2B5EF4-FFF2-40B4-BE49-F238E27FC236}">
                <a16:creationId xmlns:a16="http://schemas.microsoft.com/office/drawing/2014/main" id="{9207FCE9-AE8F-4797-A0E3-9817FCFBC54B}"/>
              </a:ext>
            </a:extLst>
          </p:cNvPr>
          <p:cNvSpPr/>
          <p:nvPr/>
        </p:nvSpPr>
        <p:spPr>
          <a:xfrm>
            <a:off x="4633730" y="5985168"/>
            <a:ext cx="860323" cy="27474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29" name="Text 183">
            <a:extLst>
              <a:ext uri="{FF2B5EF4-FFF2-40B4-BE49-F238E27FC236}">
                <a16:creationId xmlns:a16="http://schemas.microsoft.com/office/drawing/2014/main" id="{72537836-37B1-4AA6-BAF0-BA705DC8F115}"/>
              </a:ext>
            </a:extLst>
          </p:cNvPr>
          <p:cNvSpPr txBox="1"/>
          <p:nvPr/>
        </p:nvSpPr>
        <p:spPr>
          <a:xfrm>
            <a:off x="4656183" y="6029901"/>
            <a:ext cx="815417" cy="9008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Storage-B (CSI)</a:t>
            </a:r>
            <a:endParaRPr lang="en-US" sz="800" dirty="0"/>
          </a:p>
        </p:txBody>
      </p:sp>
      <p:sp>
        <p:nvSpPr>
          <p:cNvPr id="330" name="Text 184">
            <a:extLst>
              <a:ext uri="{FF2B5EF4-FFF2-40B4-BE49-F238E27FC236}">
                <a16:creationId xmlns:a16="http://schemas.microsoft.com/office/drawing/2014/main" id="{F05D8734-60B0-4D40-911F-E0D293233D24}"/>
              </a:ext>
            </a:extLst>
          </p:cNvPr>
          <p:cNvSpPr txBox="1"/>
          <p:nvPr/>
        </p:nvSpPr>
        <p:spPr>
          <a:xfrm>
            <a:off x="4610532" y="6107322"/>
            <a:ext cx="906718" cy="10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B 전용</a:t>
            </a:r>
            <a:endParaRPr lang="en-US" sz="800" dirty="0"/>
          </a:p>
        </p:txBody>
      </p:sp>
      <p:sp>
        <p:nvSpPr>
          <p:cNvPr id="331" name="Shape 11">
            <a:extLst>
              <a:ext uri="{FF2B5EF4-FFF2-40B4-BE49-F238E27FC236}">
                <a16:creationId xmlns:a16="http://schemas.microsoft.com/office/drawing/2014/main" id="{755D933C-45CE-4ACE-BAC3-B45B8F542E6B}"/>
              </a:ext>
            </a:extLst>
          </p:cNvPr>
          <p:cNvSpPr/>
          <p:nvPr/>
        </p:nvSpPr>
        <p:spPr>
          <a:xfrm>
            <a:off x="10488658" y="6018745"/>
            <a:ext cx="860323" cy="274743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7332">
            <a:solidFill>
              <a:srgbClr val="1B2A4A"/>
            </a:solidFill>
            <a:prstDash val="solid"/>
          </a:ln>
        </p:spPr>
      </p:sp>
      <p:sp>
        <p:nvSpPr>
          <p:cNvPr id="332" name="Text 183">
            <a:extLst>
              <a:ext uri="{FF2B5EF4-FFF2-40B4-BE49-F238E27FC236}">
                <a16:creationId xmlns:a16="http://schemas.microsoft.com/office/drawing/2014/main" id="{3719B5B1-8060-4308-A3B4-0060E18913A5}"/>
              </a:ext>
            </a:extLst>
          </p:cNvPr>
          <p:cNvSpPr txBox="1"/>
          <p:nvPr/>
        </p:nvSpPr>
        <p:spPr>
          <a:xfrm>
            <a:off x="10511111" y="6063478"/>
            <a:ext cx="815417" cy="90089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Storage-C (CSI)</a:t>
            </a:r>
            <a:endParaRPr lang="en-US" sz="800" dirty="0"/>
          </a:p>
        </p:txBody>
      </p:sp>
      <p:sp>
        <p:nvSpPr>
          <p:cNvPr id="333" name="Text 184">
            <a:extLst>
              <a:ext uri="{FF2B5EF4-FFF2-40B4-BE49-F238E27FC236}">
                <a16:creationId xmlns:a16="http://schemas.microsoft.com/office/drawing/2014/main" id="{CDCE8425-B16B-4F78-96B7-9664022A741E}"/>
              </a:ext>
            </a:extLst>
          </p:cNvPr>
          <p:cNvSpPr txBox="1"/>
          <p:nvPr/>
        </p:nvSpPr>
        <p:spPr>
          <a:xfrm>
            <a:off x="10455199" y="6173608"/>
            <a:ext cx="906718" cy="105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C 전용</a:t>
            </a:r>
            <a:endParaRPr lang="en-US" sz="800" dirty="0"/>
          </a:p>
        </p:txBody>
      </p:sp>
      <p:sp>
        <p:nvSpPr>
          <p:cNvPr id="334" name="Shape 70">
            <a:extLst>
              <a:ext uri="{FF2B5EF4-FFF2-40B4-BE49-F238E27FC236}">
                <a16:creationId xmlns:a16="http://schemas.microsoft.com/office/drawing/2014/main" id="{9871E599-B878-479D-BB99-C4626093E590}"/>
              </a:ext>
            </a:extLst>
          </p:cNvPr>
          <p:cNvSpPr/>
          <p:nvPr/>
        </p:nvSpPr>
        <p:spPr>
          <a:xfrm>
            <a:off x="6789824" y="2225480"/>
            <a:ext cx="0" cy="924736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5" name="Shape 70">
            <a:extLst>
              <a:ext uri="{FF2B5EF4-FFF2-40B4-BE49-F238E27FC236}">
                <a16:creationId xmlns:a16="http://schemas.microsoft.com/office/drawing/2014/main" id="{1D91C928-8C26-4357-8DCD-B5C61A088968}"/>
              </a:ext>
            </a:extLst>
          </p:cNvPr>
          <p:cNvSpPr/>
          <p:nvPr/>
        </p:nvSpPr>
        <p:spPr>
          <a:xfrm>
            <a:off x="4359435" y="2253759"/>
            <a:ext cx="0" cy="892492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6" name="Shape 70">
            <a:extLst>
              <a:ext uri="{FF2B5EF4-FFF2-40B4-BE49-F238E27FC236}">
                <a16:creationId xmlns:a16="http://schemas.microsoft.com/office/drawing/2014/main" id="{D76A3C27-0B3A-4E11-9B05-350ED340E398}"/>
              </a:ext>
            </a:extLst>
          </p:cNvPr>
          <p:cNvSpPr/>
          <p:nvPr/>
        </p:nvSpPr>
        <p:spPr>
          <a:xfrm>
            <a:off x="3477038" y="2247067"/>
            <a:ext cx="0" cy="892492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7" name="Shape 70">
            <a:extLst>
              <a:ext uri="{FF2B5EF4-FFF2-40B4-BE49-F238E27FC236}">
                <a16:creationId xmlns:a16="http://schemas.microsoft.com/office/drawing/2014/main" id="{EF63FB8A-9B85-4434-AAE9-A58988A27893}"/>
              </a:ext>
            </a:extLst>
          </p:cNvPr>
          <p:cNvSpPr/>
          <p:nvPr/>
        </p:nvSpPr>
        <p:spPr>
          <a:xfrm>
            <a:off x="2629374" y="2247067"/>
            <a:ext cx="0" cy="892492"/>
          </a:xfrm>
          <a:prstGeom prst="line">
            <a:avLst/>
          </a:prstGeom>
          <a:noFill/>
          <a:ln w="8309">
            <a:solidFill>
              <a:srgbClr val="BA7517"/>
            </a:solidFill>
            <a:prstDash val="dash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39" name="Shape 58">
            <a:extLst>
              <a:ext uri="{FF2B5EF4-FFF2-40B4-BE49-F238E27FC236}">
                <a16:creationId xmlns:a16="http://schemas.microsoft.com/office/drawing/2014/main" id="{5D940BBF-C574-4A1B-BCA2-4F843BFCB04D}"/>
              </a:ext>
            </a:extLst>
          </p:cNvPr>
          <p:cNvSpPr/>
          <p:nvPr/>
        </p:nvSpPr>
        <p:spPr>
          <a:xfrm>
            <a:off x="3692256" y="2235508"/>
            <a:ext cx="0" cy="63284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1" name="Shape 58">
            <a:extLst>
              <a:ext uri="{FF2B5EF4-FFF2-40B4-BE49-F238E27FC236}">
                <a16:creationId xmlns:a16="http://schemas.microsoft.com/office/drawing/2014/main" id="{CCBCC845-3D49-4EA0-8AC4-E849E3813D34}"/>
              </a:ext>
            </a:extLst>
          </p:cNvPr>
          <p:cNvSpPr/>
          <p:nvPr/>
        </p:nvSpPr>
        <p:spPr>
          <a:xfrm flipH="1">
            <a:off x="5060275" y="2684858"/>
            <a:ext cx="0" cy="18349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43" name="Shape 58">
            <a:extLst>
              <a:ext uri="{FF2B5EF4-FFF2-40B4-BE49-F238E27FC236}">
                <a16:creationId xmlns:a16="http://schemas.microsoft.com/office/drawing/2014/main" id="{0CF46F8F-BA06-4626-A038-F336E3080ABA}"/>
              </a:ext>
            </a:extLst>
          </p:cNvPr>
          <p:cNvSpPr/>
          <p:nvPr/>
        </p:nvSpPr>
        <p:spPr>
          <a:xfrm>
            <a:off x="6047462" y="2243588"/>
            <a:ext cx="0" cy="624768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0" name="Shape 58">
            <a:extLst>
              <a:ext uri="{FF2B5EF4-FFF2-40B4-BE49-F238E27FC236}">
                <a16:creationId xmlns:a16="http://schemas.microsoft.com/office/drawing/2014/main" id="{BC0D0142-36BA-4A69-9EB1-CEFF3150900F}"/>
              </a:ext>
            </a:extLst>
          </p:cNvPr>
          <p:cNvSpPr/>
          <p:nvPr/>
        </p:nvSpPr>
        <p:spPr>
          <a:xfrm>
            <a:off x="6931393" y="2221966"/>
            <a:ext cx="0" cy="646390"/>
          </a:xfrm>
          <a:prstGeom prst="line">
            <a:avLst/>
          </a:prstGeom>
          <a:noFill/>
          <a:ln w="8798">
            <a:solidFill>
              <a:srgbClr val="1F6FB2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1" name="Shape 65">
            <a:extLst>
              <a:ext uri="{FF2B5EF4-FFF2-40B4-BE49-F238E27FC236}">
                <a16:creationId xmlns:a16="http://schemas.microsoft.com/office/drawing/2014/main" id="{73DF3202-B8A3-44C6-A318-96217D218808}"/>
              </a:ext>
            </a:extLst>
          </p:cNvPr>
          <p:cNvSpPr/>
          <p:nvPr/>
        </p:nvSpPr>
        <p:spPr>
          <a:xfrm>
            <a:off x="7080648" y="2214995"/>
            <a:ext cx="0" cy="796424"/>
          </a:xfrm>
          <a:prstGeom prst="line">
            <a:avLst/>
          </a:prstGeom>
          <a:noFill/>
          <a:ln w="8798">
            <a:solidFill>
              <a:srgbClr val="0F6E56"/>
            </a:solidFill>
            <a:prstDash val="solid"/>
            <a:tailEnd type="oval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2" name="Text 190">
            <a:extLst>
              <a:ext uri="{FF2B5EF4-FFF2-40B4-BE49-F238E27FC236}">
                <a16:creationId xmlns:a16="http://schemas.microsoft.com/office/drawing/2014/main" id="{D9DE9E08-6E35-46D6-A408-FCA4F4E0EFC2}"/>
              </a:ext>
            </a:extLst>
          </p:cNvPr>
          <p:cNvSpPr txBox="1"/>
          <p:nvPr/>
        </p:nvSpPr>
        <p:spPr>
          <a:xfrm>
            <a:off x="2639952" y="2921775"/>
            <a:ext cx="1196508" cy="70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VLAN 1200 · 172.30.20.0/24</a:t>
            </a:r>
            <a:endParaRPr lang="en-US" sz="800" dirty="0"/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D1F6E120-B8F4-4BD6-8721-E5E31ADD94CE}"/>
              </a:ext>
            </a:extLst>
          </p:cNvPr>
          <p:cNvCxnSpPr>
            <a:cxnSpLocks/>
            <a:stCxn id="66" idx="1"/>
          </p:cNvCxnSpPr>
          <p:nvPr/>
        </p:nvCxnSpPr>
        <p:spPr>
          <a:xfrm>
            <a:off x="7367739" y="2864924"/>
            <a:ext cx="0" cy="916469"/>
          </a:xfrm>
          <a:prstGeom prst="line">
            <a:avLst/>
          </a:prstGeom>
          <a:ln w="19050">
            <a:solidFill>
              <a:srgbClr val="7030A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 216">
            <a:extLst>
              <a:ext uri="{FF2B5EF4-FFF2-40B4-BE49-F238E27FC236}">
                <a16:creationId xmlns:a16="http://schemas.microsoft.com/office/drawing/2014/main" id="{7D291AC3-D3DD-41D7-A808-6C80ABDA77DE}"/>
              </a:ext>
            </a:extLst>
          </p:cNvPr>
          <p:cNvSpPr txBox="1"/>
          <p:nvPr/>
        </p:nvSpPr>
        <p:spPr>
          <a:xfrm>
            <a:off x="7081288" y="2630406"/>
            <a:ext cx="497396" cy="14618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 Switch </a:t>
            </a:r>
            <a:endParaRPr lang="en-US" sz="600" dirty="0"/>
          </a:p>
        </p:txBody>
      </p:sp>
      <p:cxnSp>
        <p:nvCxnSpPr>
          <p:cNvPr id="354" name="직선 연결선 353">
            <a:extLst>
              <a:ext uri="{FF2B5EF4-FFF2-40B4-BE49-F238E27FC236}">
                <a16:creationId xmlns:a16="http://schemas.microsoft.com/office/drawing/2014/main" id="{795BC0B0-A7BA-4668-8957-BA39AAF0E765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4921315" y="4139340"/>
            <a:ext cx="0" cy="1139341"/>
          </a:xfrm>
          <a:prstGeom prst="line">
            <a:avLst/>
          </a:prstGeom>
          <a:ln w="19050">
            <a:solidFill>
              <a:srgbClr val="7030A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직선 연결선 354">
            <a:extLst>
              <a:ext uri="{FF2B5EF4-FFF2-40B4-BE49-F238E27FC236}">
                <a16:creationId xmlns:a16="http://schemas.microsoft.com/office/drawing/2014/main" id="{C69D926D-A992-494A-B718-3B158D74361E}"/>
              </a:ext>
            </a:extLst>
          </p:cNvPr>
          <p:cNvCxnSpPr>
            <a:cxnSpLocks/>
          </p:cNvCxnSpPr>
          <p:nvPr/>
        </p:nvCxnSpPr>
        <p:spPr>
          <a:xfrm>
            <a:off x="7652960" y="4137156"/>
            <a:ext cx="9729" cy="1181500"/>
          </a:xfrm>
          <a:prstGeom prst="line">
            <a:avLst/>
          </a:prstGeom>
          <a:ln w="19050">
            <a:solidFill>
              <a:srgbClr val="7030A0"/>
            </a:solidFill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7C952218-19D6-4A3D-A3F2-10E69CCE81E5}"/>
              </a:ext>
            </a:extLst>
          </p:cNvPr>
          <p:cNvCxnSpPr>
            <a:stCxn id="307" idx="3"/>
            <a:endCxn id="325" idx="2"/>
          </p:cNvCxnSpPr>
          <p:nvPr/>
        </p:nvCxnSpPr>
        <p:spPr>
          <a:xfrm flipV="1">
            <a:off x="8036758" y="3029149"/>
            <a:ext cx="1155145" cy="929427"/>
          </a:xfrm>
          <a:prstGeom prst="bentConnector2">
            <a:avLst/>
          </a:prstGeom>
          <a:ln w="19050">
            <a:solidFill>
              <a:srgbClr val="7030A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연결선: 꺾임 225">
            <a:extLst>
              <a:ext uri="{FF2B5EF4-FFF2-40B4-BE49-F238E27FC236}">
                <a16:creationId xmlns:a16="http://schemas.microsoft.com/office/drawing/2014/main" id="{707F9171-2530-45A5-9BD2-CC9D1DDA1511}"/>
              </a:ext>
            </a:extLst>
          </p:cNvPr>
          <p:cNvCxnSpPr>
            <a:stCxn id="320" idx="3"/>
            <a:endCxn id="321" idx="0"/>
          </p:cNvCxnSpPr>
          <p:nvPr/>
        </p:nvCxnSpPr>
        <p:spPr>
          <a:xfrm>
            <a:off x="10069420" y="2875268"/>
            <a:ext cx="452038" cy="566330"/>
          </a:xfrm>
          <a:prstGeom prst="bentConnector2">
            <a:avLst/>
          </a:prstGeom>
          <a:ln>
            <a:solidFill>
              <a:srgbClr val="FF0066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Text 202">
            <a:extLst>
              <a:ext uri="{FF2B5EF4-FFF2-40B4-BE49-F238E27FC236}">
                <a16:creationId xmlns:a16="http://schemas.microsoft.com/office/drawing/2014/main" id="{86E3682F-4D5A-49DE-9890-3486AC9808B0}"/>
              </a:ext>
            </a:extLst>
          </p:cNvPr>
          <p:cNvSpPr txBox="1"/>
          <p:nvPr/>
        </p:nvSpPr>
        <p:spPr>
          <a:xfrm>
            <a:off x="9655615" y="3195012"/>
            <a:ext cx="1682295" cy="210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External Storage Dedicated Network</a:t>
            </a:r>
            <a:endParaRPr lang="en-US" sz="900" dirty="0"/>
          </a:p>
        </p:txBody>
      </p:sp>
      <p:sp>
        <p:nvSpPr>
          <p:cNvPr id="357" name="Text 217">
            <a:extLst>
              <a:ext uri="{FF2B5EF4-FFF2-40B4-BE49-F238E27FC236}">
                <a16:creationId xmlns:a16="http://schemas.microsoft.com/office/drawing/2014/main" id="{1A35B66D-A94C-4EA4-AC89-1E258B7FCF1D}"/>
              </a:ext>
            </a:extLst>
          </p:cNvPr>
          <p:cNvSpPr txBox="1"/>
          <p:nvPr/>
        </p:nvSpPr>
        <p:spPr>
          <a:xfrm>
            <a:off x="8527968" y="2569380"/>
            <a:ext cx="1327096" cy="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</a:rPr>
              <a:t>VIP: 172.30.0.10:8443</a:t>
            </a:r>
            <a:endParaRPr lang="en-US" sz="800" dirty="0"/>
          </a:p>
        </p:txBody>
      </p:sp>
      <p:sp>
        <p:nvSpPr>
          <p:cNvPr id="358" name="Text 26">
            <a:extLst>
              <a:ext uri="{FF2B5EF4-FFF2-40B4-BE49-F238E27FC236}">
                <a16:creationId xmlns:a16="http://schemas.microsoft.com/office/drawing/2014/main" id="{56E8AA6B-BF8F-47B7-A69F-0ADCAB396894}"/>
              </a:ext>
            </a:extLst>
          </p:cNvPr>
          <p:cNvSpPr txBox="1"/>
          <p:nvPr/>
        </p:nvSpPr>
        <p:spPr>
          <a:xfrm>
            <a:off x="7814838" y="3069191"/>
            <a:ext cx="1755033" cy="79113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 </a:t>
            </a:r>
            <a:r>
              <a:rPr lang="en-US" sz="800" b="1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(Static Route/BGP)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172.30.0.0/24 via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Inter-Cluster Switch</a:t>
            </a:r>
            <a:endParaRPr lang="en-US" sz="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각 ToR/Leaf Switch에 등록</a:t>
            </a:r>
            <a:endParaRPr lang="en-US" sz="800" dirty="0"/>
          </a:p>
        </p:txBody>
      </p:sp>
      <p:sp>
        <p:nvSpPr>
          <p:cNvPr id="359" name="Shape 24">
            <a:extLst>
              <a:ext uri="{FF2B5EF4-FFF2-40B4-BE49-F238E27FC236}">
                <a16:creationId xmlns:a16="http://schemas.microsoft.com/office/drawing/2014/main" id="{10F6D5B9-9BF0-4806-A457-0BCD42D41BDE}"/>
              </a:ext>
            </a:extLst>
          </p:cNvPr>
          <p:cNvSpPr/>
          <p:nvPr/>
        </p:nvSpPr>
        <p:spPr>
          <a:xfrm>
            <a:off x="5900290" y="2450951"/>
            <a:ext cx="642284" cy="333558"/>
          </a:xfrm>
          <a:prstGeom prst="roundRect">
            <a:avLst>
              <a:gd name="adj" fmla="val 15000"/>
            </a:avLst>
          </a:prstGeom>
          <a:solidFill>
            <a:srgbClr val="F0EEFB"/>
          </a:solidFill>
          <a:ln w="7332">
            <a:solidFill>
              <a:srgbClr val="534AB7"/>
            </a:solidFill>
            <a:prstDash val="solid"/>
          </a:ln>
        </p:spPr>
      </p:sp>
      <p:sp>
        <p:nvSpPr>
          <p:cNvPr id="360" name="Text 206">
            <a:extLst>
              <a:ext uri="{FF2B5EF4-FFF2-40B4-BE49-F238E27FC236}">
                <a16:creationId xmlns:a16="http://schemas.microsoft.com/office/drawing/2014/main" id="{92720864-9C17-4D60-9F26-3817364675B9}"/>
              </a:ext>
            </a:extLst>
          </p:cNvPr>
          <p:cNvSpPr txBox="1"/>
          <p:nvPr/>
        </p:nvSpPr>
        <p:spPr>
          <a:xfrm>
            <a:off x="6006885" y="2487592"/>
            <a:ext cx="466797" cy="269014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</a:t>
            </a:r>
          </a:p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Ingress LB</a:t>
            </a:r>
            <a:endParaRPr lang="en-US" sz="800" dirty="0"/>
          </a:p>
        </p:txBody>
      </p:sp>
      <p:cxnSp>
        <p:nvCxnSpPr>
          <p:cNvPr id="361" name="연결선: 꺾임 360">
            <a:extLst>
              <a:ext uri="{FF2B5EF4-FFF2-40B4-BE49-F238E27FC236}">
                <a16:creationId xmlns:a16="http://schemas.microsoft.com/office/drawing/2014/main" id="{57EBA7C6-17F4-434D-A909-D02E856A39EC}"/>
              </a:ext>
            </a:extLst>
          </p:cNvPr>
          <p:cNvCxnSpPr>
            <a:cxnSpLocks/>
            <a:endCxn id="202" idx="2"/>
          </p:cNvCxnSpPr>
          <p:nvPr/>
        </p:nvCxnSpPr>
        <p:spPr>
          <a:xfrm rot="16200000" flipV="1">
            <a:off x="5342098" y="1890280"/>
            <a:ext cx="555054" cy="171906"/>
          </a:xfrm>
          <a:prstGeom prst="bentConnector3">
            <a:avLst>
              <a:gd name="adj1" fmla="val -19266"/>
            </a:avLst>
          </a:prstGeom>
          <a:noFill/>
          <a:ln w="11730">
            <a:solidFill>
              <a:srgbClr val="C0272D"/>
            </a:solidFill>
            <a:prstDash val="solid"/>
            <a:headEnd type="oval"/>
            <a:tailEnd type="triangle"/>
          </a:ln>
        </p:spPr>
      </p:cxnSp>
      <p:cxnSp>
        <p:nvCxnSpPr>
          <p:cNvPr id="364" name="직선 화살표 연결선 363">
            <a:extLst>
              <a:ext uri="{FF2B5EF4-FFF2-40B4-BE49-F238E27FC236}">
                <a16:creationId xmlns:a16="http://schemas.microsoft.com/office/drawing/2014/main" id="{29053FDB-7BAD-42CA-883B-05E164FB204A}"/>
              </a:ext>
            </a:extLst>
          </p:cNvPr>
          <p:cNvCxnSpPr>
            <a:cxnSpLocks/>
            <a:stCxn id="202" idx="0"/>
            <a:endCxn id="7" idx="2"/>
          </p:cNvCxnSpPr>
          <p:nvPr/>
        </p:nvCxnSpPr>
        <p:spPr>
          <a:xfrm flipH="1" flipV="1">
            <a:off x="5533671" y="1343949"/>
            <a:ext cx="1" cy="151100"/>
          </a:xfrm>
          <a:prstGeom prst="straightConnector1">
            <a:avLst/>
          </a:prstGeom>
          <a:noFill/>
          <a:ln w="11730">
            <a:solidFill>
              <a:srgbClr val="C0272D"/>
            </a:solidFill>
            <a:prstDash val="solid"/>
            <a:headEnd type="none"/>
            <a:tailEnd type="triangle"/>
          </a:ln>
        </p:spPr>
      </p:cxnSp>
      <p:cxnSp>
        <p:nvCxnSpPr>
          <p:cNvPr id="370" name="연결선: 꺾임 369">
            <a:extLst>
              <a:ext uri="{FF2B5EF4-FFF2-40B4-BE49-F238E27FC236}">
                <a16:creationId xmlns:a16="http://schemas.microsoft.com/office/drawing/2014/main" id="{6A33DFE1-5A06-4D1C-B670-B50DBE0ED85B}"/>
              </a:ext>
            </a:extLst>
          </p:cNvPr>
          <p:cNvCxnSpPr>
            <a:cxnSpLocks/>
            <a:stCxn id="6" idx="2"/>
            <a:endCxn id="212" idx="1"/>
          </p:cNvCxnSpPr>
          <p:nvPr/>
        </p:nvCxnSpPr>
        <p:spPr>
          <a:xfrm rot="16200000" flipH="1">
            <a:off x="376318" y="2629522"/>
            <a:ext cx="2144680" cy="1738375"/>
          </a:xfrm>
          <a:prstGeom prst="bentConnector2">
            <a:avLst/>
          </a:prstGeom>
          <a:noFill/>
          <a:ln w="9287">
            <a:solidFill>
              <a:srgbClr val="C0272D"/>
            </a:solidFill>
            <a:prstDash val="dash"/>
            <a:tailEnd type="triangle"/>
          </a:ln>
        </p:spPr>
      </p:cxnSp>
      <p:cxnSp>
        <p:nvCxnSpPr>
          <p:cNvPr id="371" name="연결선: 꺾임 370">
            <a:extLst>
              <a:ext uri="{FF2B5EF4-FFF2-40B4-BE49-F238E27FC236}">
                <a16:creationId xmlns:a16="http://schemas.microsoft.com/office/drawing/2014/main" id="{D0C5F798-7EEC-45F7-BEF6-75AD054B9436}"/>
              </a:ext>
            </a:extLst>
          </p:cNvPr>
          <p:cNvCxnSpPr>
            <a:cxnSpLocks/>
            <a:stCxn id="6" idx="2"/>
            <a:endCxn id="9" idx="1"/>
          </p:cNvCxnSpPr>
          <p:nvPr/>
        </p:nvCxnSpPr>
        <p:spPr>
          <a:xfrm rot="5400000" flipH="1" flipV="1">
            <a:off x="1329077" y="1332289"/>
            <a:ext cx="344475" cy="1843688"/>
          </a:xfrm>
          <a:prstGeom prst="bentConnector4">
            <a:avLst>
              <a:gd name="adj1" fmla="val -66362"/>
              <a:gd name="adj2" fmla="val 42336"/>
            </a:avLst>
          </a:prstGeom>
          <a:noFill/>
          <a:ln w="9287">
            <a:solidFill>
              <a:srgbClr val="C0272D"/>
            </a:solidFill>
            <a:prstDash val="dash"/>
            <a:tailEnd type="triangle"/>
          </a:ln>
        </p:spPr>
      </p:cxnSp>
      <p:sp>
        <p:nvSpPr>
          <p:cNvPr id="379" name="Text 171">
            <a:extLst>
              <a:ext uri="{FF2B5EF4-FFF2-40B4-BE49-F238E27FC236}">
                <a16:creationId xmlns:a16="http://schemas.microsoft.com/office/drawing/2014/main" id="{C738C139-AE96-4A7C-9F5D-EBB2D9432F8D}"/>
              </a:ext>
            </a:extLst>
          </p:cNvPr>
          <p:cNvSpPr txBox="1"/>
          <p:nvPr/>
        </p:nvSpPr>
        <p:spPr>
          <a:xfrm>
            <a:off x="29995" y="2789615"/>
            <a:ext cx="544124" cy="1574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r>
              <a:rPr lang="en-US" altLang="ko-KR" dirty="0"/>
              <a:t>NMS</a:t>
            </a:r>
            <a:r>
              <a:rPr lang="ko-KR" altLang="en-US" dirty="0"/>
              <a:t>운용망</a:t>
            </a:r>
            <a:endParaRPr lang="en-US" dirty="0"/>
          </a:p>
        </p:txBody>
      </p:sp>
      <p:sp>
        <p:nvSpPr>
          <p:cNvPr id="380" name="Text 171">
            <a:extLst>
              <a:ext uri="{FF2B5EF4-FFF2-40B4-BE49-F238E27FC236}">
                <a16:creationId xmlns:a16="http://schemas.microsoft.com/office/drawing/2014/main" id="{15975D00-218B-4BF7-865D-0DA95BE3E8CE}"/>
              </a:ext>
            </a:extLst>
          </p:cNvPr>
          <p:cNvSpPr txBox="1"/>
          <p:nvPr/>
        </p:nvSpPr>
        <p:spPr>
          <a:xfrm>
            <a:off x="6476315" y="1237449"/>
            <a:ext cx="544124" cy="1574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r>
              <a:rPr lang="en-US" altLang="ko-KR" dirty="0"/>
              <a:t>NMS</a:t>
            </a:r>
            <a:r>
              <a:rPr lang="ko-KR" altLang="en-US" dirty="0"/>
              <a:t>운용망</a:t>
            </a:r>
            <a:endParaRPr lang="en-US" dirty="0"/>
          </a:p>
        </p:txBody>
      </p:sp>
      <p:sp>
        <p:nvSpPr>
          <p:cNvPr id="381" name="Shape 142">
            <a:extLst>
              <a:ext uri="{FF2B5EF4-FFF2-40B4-BE49-F238E27FC236}">
                <a16:creationId xmlns:a16="http://schemas.microsoft.com/office/drawing/2014/main" id="{655C7F5F-2C09-4DF4-A92E-27BE87909BDB}"/>
              </a:ext>
            </a:extLst>
          </p:cNvPr>
          <p:cNvSpPr/>
          <p:nvPr/>
        </p:nvSpPr>
        <p:spPr>
          <a:xfrm>
            <a:off x="5248401" y="2679170"/>
            <a:ext cx="0" cy="1091572"/>
          </a:xfrm>
          <a:prstGeom prst="line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sp>
      <p:cxnSp>
        <p:nvCxnSpPr>
          <p:cNvPr id="383" name="연결선: 꺾임 382">
            <a:extLst>
              <a:ext uri="{FF2B5EF4-FFF2-40B4-BE49-F238E27FC236}">
                <a16:creationId xmlns:a16="http://schemas.microsoft.com/office/drawing/2014/main" id="{D94B3F01-C454-4434-8259-4152B38977A5}"/>
              </a:ext>
            </a:extLst>
          </p:cNvPr>
          <p:cNvCxnSpPr>
            <a:cxnSpLocks/>
            <a:stCxn id="307" idx="1"/>
            <a:endCxn id="28" idx="0"/>
          </p:cNvCxnSpPr>
          <p:nvPr/>
        </p:nvCxnSpPr>
        <p:spPr>
          <a:xfrm rot="10800000" flipV="1">
            <a:off x="2669761" y="3958576"/>
            <a:ext cx="1266891" cy="532264"/>
          </a:xfrm>
          <a:prstGeom prst="bentConnector2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cxnSp>
        <p:nvCxnSpPr>
          <p:cNvPr id="386" name="연결선: 꺾임 385">
            <a:extLst>
              <a:ext uri="{FF2B5EF4-FFF2-40B4-BE49-F238E27FC236}">
                <a16:creationId xmlns:a16="http://schemas.microsoft.com/office/drawing/2014/main" id="{5297A876-65A3-4DFD-97E2-A83B7F520D96}"/>
              </a:ext>
            </a:extLst>
          </p:cNvPr>
          <p:cNvCxnSpPr>
            <a:cxnSpLocks/>
            <a:endCxn id="263" idx="0"/>
          </p:cNvCxnSpPr>
          <p:nvPr/>
        </p:nvCxnSpPr>
        <p:spPr>
          <a:xfrm>
            <a:off x="8036758" y="4122898"/>
            <a:ext cx="551415" cy="390322"/>
          </a:xfrm>
          <a:prstGeom prst="bentConnector2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cxnSp>
        <p:nvCxnSpPr>
          <p:cNvPr id="390" name="연결선: 꺾임 389">
            <a:extLst>
              <a:ext uri="{FF2B5EF4-FFF2-40B4-BE49-F238E27FC236}">
                <a16:creationId xmlns:a16="http://schemas.microsoft.com/office/drawing/2014/main" id="{C50E20BF-5E0B-4C3D-9109-3F480A1D0B65}"/>
              </a:ext>
            </a:extLst>
          </p:cNvPr>
          <p:cNvCxnSpPr>
            <a:cxnSpLocks/>
            <a:endCxn id="299" idx="1"/>
          </p:cNvCxnSpPr>
          <p:nvPr/>
        </p:nvCxnSpPr>
        <p:spPr>
          <a:xfrm rot="16200000" flipH="1">
            <a:off x="6371880" y="4679386"/>
            <a:ext cx="2408004" cy="1320753"/>
          </a:xfrm>
          <a:prstGeom prst="bentConnector2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cxnSp>
        <p:nvCxnSpPr>
          <p:cNvPr id="397" name="연결선: 꺾임 396">
            <a:extLst>
              <a:ext uri="{FF2B5EF4-FFF2-40B4-BE49-F238E27FC236}">
                <a16:creationId xmlns:a16="http://schemas.microsoft.com/office/drawing/2014/main" id="{893BEDD3-E5D7-4F7B-9AC5-B245794A849D}"/>
              </a:ext>
            </a:extLst>
          </p:cNvPr>
          <p:cNvCxnSpPr>
            <a:cxnSpLocks/>
            <a:stCxn id="307" idx="1"/>
            <a:endCxn id="231" idx="1"/>
          </p:cNvCxnSpPr>
          <p:nvPr/>
        </p:nvCxnSpPr>
        <p:spPr>
          <a:xfrm rot="10800000" flipV="1">
            <a:off x="2317847" y="3958575"/>
            <a:ext cx="1618805" cy="2562809"/>
          </a:xfrm>
          <a:prstGeom prst="bentConnector3">
            <a:avLst>
              <a:gd name="adj1" fmla="val 170608"/>
            </a:avLst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sp>
        <p:nvSpPr>
          <p:cNvPr id="409" name="Text 171">
            <a:extLst>
              <a:ext uri="{FF2B5EF4-FFF2-40B4-BE49-F238E27FC236}">
                <a16:creationId xmlns:a16="http://schemas.microsoft.com/office/drawing/2014/main" id="{71BC0618-9F6F-4686-8BFC-0F23F8A3E898}"/>
              </a:ext>
            </a:extLst>
          </p:cNvPr>
          <p:cNvSpPr txBox="1"/>
          <p:nvPr/>
        </p:nvSpPr>
        <p:spPr>
          <a:xfrm>
            <a:off x="556358" y="5714599"/>
            <a:ext cx="544124" cy="2234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H/W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제어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0" name="Text 171">
            <a:extLst>
              <a:ext uri="{FF2B5EF4-FFF2-40B4-BE49-F238E27FC236}">
                <a16:creationId xmlns:a16="http://schemas.microsoft.com/office/drawing/2014/main" id="{F73C038F-F0D8-4FF4-B6DC-5AEC9CACA7D9}"/>
              </a:ext>
            </a:extLst>
          </p:cNvPr>
          <p:cNvSpPr txBox="1"/>
          <p:nvPr/>
        </p:nvSpPr>
        <p:spPr>
          <a:xfrm>
            <a:off x="2925431" y="4064723"/>
            <a:ext cx="1237878" cy="23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Cluster API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접속 제어 (Bastion 경유)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1" name="Text 205">
            <a:extLst>
              <a:ext uri="{FF2B5EF4-FFF2-40B4-BE49-F238E27FC236}">
                <a16:creationId xmlns:a16="http://schemas.microsoft.com/office/drawing/2014/main" id="{8F8318CD-26A2-41C9-91FA-7056F8C7BBFA}"/>
              </a:ext>
            </a:extLst>
          </p:cNvPr>
          <p:cNvSpPr txBox="1"/>
          <p:nvPr/>
        </p:nvSpPr>
        <p:spPr>
          <a:xfrm flipH="1">
            <a:off x="4834815" y="3514027"/>
            <a:ext cx="1052417" cy="2220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B6D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RHAAP 제어 트래픽</a:t>
            </a:r>
            <a:endParaRPr lang="en-US" sz="800" dirty="0"/>
          </a:p>
        </p:txBody>
      </p:sp>
      <p:sp>
        <p:nvSpPr>
          <p:cNvPr id="412" name="Text 171">
            <a:extLst>
              <a:ext uri="{FF2B5EF4-FFF2-40B4-BE49-F238E27FC236}">
                <a16:creationId xmlns:a16="http://schemas.microsoft.com/office/drawing/2014/main" id="{CE64F810-BC6F-41E0-A5DD-AAB578FFE17F}"/>
              </a:ext>
            </a:extLst>
          </p:cNvPr>
          <p:cNvSpPr txBox="1"/>
          <p:nvPr/>
        </p:nvSpPr>
        <p:spPr>
          <a:xfrm>
            <a:off x="8597122" y="4100770"/>
            <a:ext cx="1817334" cy="2350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Cluster API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접속 제어 (Bastion 경유)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3" name="Text 171">
            <a:extLst>
              <a:ext uri="{FF2B5EF4-FFF2-40B4-BE49-F238E27FC236}">
                <a16:creationId xmlns:a16="http://schemas.microsoft.com/office/drawing/2014/main" id="{C1E968BE-A64A-4A50-A4D5-ECB9A74AAE00}"/>
              </a:ext>
            </a:extLst>
          </p:cNvPr>
          <p:cNvSpPr txBox="1"/>
          <p:nvPr/>
        </p:nvSpPr>
        <p:spPr>
          <a:xfrm>
            <a:off x="6340795" y="5751564"/>
            <a:ext cx="544124" cy="2234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>
            <a:lvl1pPr indent="0">
              <a:buNone/>
              <a:defRPr sz="800">
                <a:solidFill>
                  <a:srgbClr val="C027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AAP</a:t>
            </a:r>
          </a:p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H/W 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</a:rPr>
              <a:t>제어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17" name="Text 206">
            <a:extLst>
              <a:ext uri="{FF2B5EF4-FFF2-40B4-BE49-F238E27FC236}">
                <a16:creationId xmlns:a16="http://schemas.microsoft.com/office/drawing/2014/main" id="{EF62B0C2-B4BD-49AC-AEEB-867B9A88EC21}"/>
              </a:ext>
            </a:extLst>
          </p:cNvPr>
          <p:cNvSpPr txBox="1"/>
          <p:nvPr/>
        </p:nvSpPr>
        <p:spPr>
          <a:xfrm rot="5400000">
            <a:off x="4633601" y="4696907"/>
            <a:ext cx="1120489" cy="269014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Container Image Download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Kafka Ingress</a:t>
            </a:r>
            <a:r>
              <a:rPr lang="ko-KR" altLang="en-US" sz="800" dirty="0">
                <a:solidFill>
                  <a:srgbClr val="7030A0"/>
                </a:solidFill>
              </a:rPr>
              <a:t> </a:t>
            </a:r>
            <a:r>
              <a:rPr lang="en-US" altLang="ko-KR" sz="800" dirty="0">
                <a:solidFill>
                  <a:srgbClr val="7030A0"/>
                </a:solidFill>
              </a:rPr>
              <a:t>LB</a:t>
            </a:r>
            <a:r>
              <a:rPr lang="ko-KR" altLang="en-US" sz="800" dirty="0">
                <a:solidFill>
                  <a:srgbClr val="7030A0"/>
                </a:solidFill>
              </a:rPr>
              <a:t> 연동</a:t>
            </a:r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418" name="Text 206">
            <a:extLst>
              <a:ext uri="{FF2B5EF4-FFF2-40B4-BE49-F238E27FC236}">
                <a16:creationId xmlns:a16="http://schemas.microsoft.com/office/drawing/2014/main" id="{01557BA3-FE21-4050-B38B-150F05898694}"/>
              </a:ext>
            </a:extLst>
          </p:cNvPr>
          <p:cNvSpPr txBox="1"/>
          <p:nvPr/>
        </p:nvSpPr>
        <p:spPr>
          <a:xfrm rot="16200000">
            <a:off x="6895229" y="4725555"/>
            <a:ext cx="1120489" cy="269014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Container Image Download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Kafka Ingress</a:t>
            </a:r>
            <a:r>
              <a:rPr lang="ko-KR" altLang="en-US" sz="800" dirty="0">
                <a:solidFill>
                  <a:srgbClr val="7030A0"/>
                </a:solidFill>
              </a:rPr>
              <a:t> </a:t>
            </a:r>
            <a:r>
              <a:rPr lang="en-US" altLang="ko-KR" sz="800" dirty="0">
                <a:solidFill>
                  <a:srgbClr val="7030A0"/>
                </a:solidFill>
              </a:rPr>
              <a:t>LB</a:t>
            </a:r>
            <a:r>
              <a:rPr lang="ko-KR" altLang="en-US" sz="800" dirty="0">
                <a:solidFill>
                  <a:srgbClr val="7030A0"/>
                </a:solidFill>
              </a:rPr>
              <a:t> 연동</a:t>
            </a:r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419" name="Text 206">
            <a:extLst>
              <a:ext uri="{FF2B5EF4-FFF2-40B4-BE49-F238E27FC236}">
                <a16:creationId xmlns:a16="http://schemas.microsoft.com/office/drawing/2014/main" id="{8FD947F9-C88C-4019-B76F-AAB1A24A612F}"/>
              </a:ext>
            </a:extLst>
          </p:cNvPr>
          <p:cNvSpPr txBox="1"/>
          <p:nvPr/>
        </p:nvSpPr>
        <p:spPr>
          <a:xfrm rot="5400000">
            <a:off x="6967937" y="3187149"/>
            <a:ext cx="1120489" cy="269014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b"/>
          <a:lstStyle/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Container Image Download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7030A0"/>
                </a:solidFill>
              </a:rPr>
              <a:t>Kafka Ingress</a:t>
            </a:r>
            <a:r>
              <a:rPr lang="ko-KR" altLang="en-US" sz="800" dirty="0">
                <a:solidFill>
                  <a:srgbClr val="7030A0"/>
                </a:solidFill>
              </a:rPr>
              <a:t> </a:t>
            </a:r>
            <a:r>
              <a:rPr lang="en-US" altLang="ko-KR" sz="800" dirty="0">
                <a:solidFill>
                  <a:srgbClr val="7030A0"/>
                </a:solidFill>
              </a:rPr>
              <a:t>LB</a:t>
            </a:r>
            <a:r>
              <a:rPr lang="ko-KR" altLang="en-US" sz="800" dirty="0">
                <a:solidFill>
                  <a:srgbClr val="7030A0"/>
                </a:solidFill>
              </a:rPr>
              <a:t> 연동</a:t>
            </a:r>
            <a:endParaRPr lang="en-US" sz="800" dirty="0">
              <a:solidFill>
                <a:srgbClr val="7030A0"/>
              </a:solidFill>
            </a:endParaRP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077C39BD-2EE3-43C3-A869-9C7331283646}"/>
              </a:ext>
            </a:extLst>
          </p:cNvPr>
          <p:cNvCxnSpPr>
            <a:endCxn id="21" idx="1"/>
          </p:cNvCxnSpPr>
          <p:nvPr/>
        </p:nvCxnSpPr>
        <p:spPr>
          <a:xfrm rot="10800000" flipV="1">
            <a:off x="2509724" y="2450950"/>
            <a:ext cx="1957904" cy="841615"/>
          </a:xfrm>
          <a:prstGeom prst="bentConnector3">
            <a:avLst>
              <a:gd name="adj1" fmla="val 137150"/>
            </a:avLst>
          </a:prstGeom>
          <a:noFill/>
          <a:ln w="22225">
            <a:solidFill>
              <a:srgbClr val="3B6D11"/>
            </a:solidFill>
            <a:prstDash val="sysDash"/>
            <a:headEnd type="oval"/>
            <a:tailEnd type="oval"/>
          </a:ln>
        </p:spPr>
      </p:cxnSp>
      <p:sp>
        <p:nvSpPr>
          <p:cNvPr id="192" name="Shape 65">
            <a:extLst>
              <a:ext uri="{FF2B5EF4-FFF2-40B4-BE49-F238E27FC236}">
                <a16:creationId xmlns:a16="http://schemas.microsoft.com/office/drawing/2014/main" id="{B41DA70B-218D-422A-B7FD-F5F98F2A8AA0}"/>
              </a:ext>
            </a:extLst>
          </p:cNvPr>
          <p:cNvSpPr/>
          <p:nvPr/>
        </p:nvSpPr>
        <p:spPr>
          <a:xfrm>
            <a:off x="4834815" y="5292309"/>
            <a:ext cx="0" cy="668021"/>
          </a:xfrm>
          <a:prstGeom prst="line">
            <a:avLst/>
          </a:prstGeom>
          <a:noFill/>
          <a:ln w="8798">
            <a:solidFill>
              <a:srgbClr val="0F6E56"/>
            </a:solidFill>
            <a:prstDash val="solid"/>
            <a:headEnd type="oval" w="sm" len="sm"/>
            <a:tailEnd type="oval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5" name="Shape 65">
            <a:extLst>
              <a:ext uri="{FF2B5EF4-FFF2-40B4-BE49-F238E27FC236}">
                <a16:creationId xmlns:a16="http://schemas.microsoft.com/office/drawing/2014/main" id="{F0479B8C-AE1C-425D-A46F-19DC7BC9C944}"/>
              </a:ext>
            </a:extLst>
          </p:cNvPr>
          <p:cNvSpPr/>
          <p:nvPr/>
        </p:nvSpPr>
        <p:spPr>
          <a:xfrm>
            <a:off x="10581523" y="5303546"/>
            <a:ext cx="0" cy="708801"/>
          </a:xfrm>
          <a:prstGeom prst="line">
            <a:avLst/>
          </a:prstGeom>
          <a:noFill/>
          <a:ln w="8798">
            <a:solidFill>
              <a:srgbClr val="0F6E56"/>
            </a:solidFill>
            <a:prstDash val="solid"/>
            <a:headEnd type="oval" w="sm" len="sm"/>
            <a:tailEnd type="oval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00" name="Legend Box"/>
          <p:cNvSpPr/>
          <p:nvPr/>
        </p:nvSpPr>
        <p:spPr>
          <a:xfrm>
            <a:off x="9842833" y="825921"/>
            <a:ext cx="2220535" cy="1839019"/>
          </a:xfrm>
          <a:prstGeom prst="roundRect">
            <a:avLst>
              <a:gd name="adj" fmla="val 6000"/>
            </a:avLst>
          </a:prstGeom>
          <a:solidFill>
            <a:srgbClr val="FBFBFB"/>
          </a:solidFill>
          <a:ln w="9525">
            <a:solidFill>
              <a:srgbClr val="9999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1" name="Legend Title"/>
          <p:cNvSpPr txBox="1"/>
          <p:nvPr/>
        </p:nvSpPr>
        <p:spPr>
          <a:xfrm>
            <a:off x="9932833" y="895921"/>
            <a:ext cx="2063791" cy="2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ko-KR" sz="1100" b="1" dirty="0">
                <a:solidFill>
                  <a:srgbClr val="1B2A4A"/>
                </a:solidFill>
                <a:latin typeface="Malgun Gothic" pitchFamily="34" charset="-127"/>
                <a:ea typeface="Malgun Gothic" pitchFamily="34" charset="-127"/>
              </a:rPr>
              <a:t>범례 (Legend)</a:t>
            </a:r>
          </a:p>
        </p:txBody>
      </p:sp>
      <p:sp>
        <p:nvSpPr>
          <p:cNvPr id="502" name="Legend Row 1"/>
          <p:cNvSpPr txBox="1"/>
          <p:nvPr/>
        </p:nvSpPr>
        <p:spPr>
          <a:xfrm>
            <a:off x="9932833" y="1145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6FB2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Machine Network</a:t>
            </a:r>
          </a:p>
        </p:txBody>
      </p:sp>
      <p:sp>
        <p:nvSpPr>
          <p:cNvPr id="503" name="Legend Row 2"/>
          <p:cNvSpPr txBox="1"/>
          <p:nvPr/>
        </p:nvSpPr>
        <p:spPr>
          <a:xfrm>
            <a:off x="9932833" y="1340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F6E56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Storage Network</a:t>
            </a:r>
          </a:p>
        </p:txBody>
      </p:sp>
      <p:sp>
        <p:nvSpPr>
          <p:cNvPr id="504" name="Legend Row 3"/>
          <p:cNvSpPr txBox="1"/>
          <p:nvPr/>
        </p:nvSpPr>
        <p:spPr>
          <a:xfrm>
            <a:off x="9932833" y="1535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BA7517"/>
                </a:solidFill>
                <a:latin typeface="Malgun Gothic" pitchFamily="34" charset="-127"/>
              </a:rPr>
              <a:t>┄┄┄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OOB / Local MGMT (iLO·iDRAC)</a:t>
            </a:r>
          </a:p>
        </p:txBody>
      </p:sp>
      <p:sp>
        <p:nvSpPr>
          <p:cNvPr id="505" name="Legend Row 4"/>
          <p:cNvSpPr txBox="1"/>
          <p:nvPr/>
        </p:nvSpPr>
        <p:spPr>
          <a:xfrm>
            <a:off x="9932833" y="1730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3B6D11"/>
                </a:solidFill>
                <a:latin typeface="Malgun Gothic" pitchFamily="34" charset="-127"/>
              </a:rPr>
              <a:t>┄┄┄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AAP 제어 트래픽 (L3 Routing)</a:t>
            </a:r>
          </a:p>
        </p:txBody>
      </p:sp>
      <p:sp>
        <p:nvSpPr>
          <p:cNvPr id="506" name="Legend Row 5"/>
          <p:cNvSpPr txBox="1"/>
          <p:nvPr/>
        </p:nvSpPr>
        <p:spPr>
          <a:xfrm>
            <a:off x="9932833" y="1925921"/>
            <a:ext cx="2063791" cy="195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7030A0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Container Image·Kafka 연동</a:t>
            </a:r>
          </a:p>
        </p:txBody>
      </p:sp>
      <p:sp>
        <p:nvSpPr>
          <p:cNvPr id="507" name="Legend Row 6"/>
          <p:cNvSpPr txBox="1"/>
          <p:nvPr/>
        </p:nvSpPr>
        <p:spPr>
          <a:xfrm>
            <a:off x="9932833" y="2120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C0272D"/>
                </a:solidFill>
                <a:latin typeface="Malgun Gothic" pitchFamily="34" charset="-127"/>
              </a:rPr>
              <a:t>┄┄┄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VPN·NMS 운용망 (운영팀 접속)</a:t>
            </a:r>
          </a:p>
        </p:txBody>
      </p:sp>
      <p:sp>
        <p:nvSpPr>
          <p:cNvPr id="508" name="Legend Row 7"/>
          <p:cNvSpPr txBox="1"/>
          <p:nvPr/>
        </p:nvSpPr>
        <p:spPr>
          <a:xfrm>
            <a:off x="9932833" y="2315921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FF0066"/>
                </a:solidFill>
                <a:latin typeface="Malgun Gothic" pitchFamily="34" charset="-127"/>
              </a:rPr>
              <a:t>━━━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External Storage 전용망</a:t>
            </a:r>
          </a:p>
        </p:txBody>
      </p:sp>
      <p:sp>
        <p:nvSpPr>
          <p:cNvPr id="700" name="Local Hop B to Master"/>
          <p:cNvSpPr/>
          <p:nvPr/>
        </p:nvSpPr>
        <p:spPr>
          <a:xfrm>
            <a:off x="3021674" y="4634485"/>
            <a:ext cx="140766" cy="0"/>
          </a:xfrm>
          <a:prstGeom prst="line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triangle"/>
          </a:ln>
        </p:spPr>
        <p:txBody>
          <a:bodyPr/>
          <a:lstStyle/>
          <a:p>
            <a:endParaRPr lang="ko-KR" dirty="0"/>
          </a:p>
        </p:txBody>
      </p:sp>
      <p:sp>
        <p:nvSpPr>
          <p:cNvPr id="701" name="Local Hop C to Master"/>
          <p:cNvSpPr/>
          <p:nvPr/>
        </p:nvSpPr>
        <p:spPr>
          <a:xfrm>
            <a:off x="8940087" y="4656865"/>
            <a:ext cx="140766" cy="0"/>
          </a:xfrm>
          <a:prstGeom prst="line">
            <a:avLst/>
          </a:prstGeom>
          <a:noFill/>
          <a:ln w="22225">
            <a:solidFill>
              <a:srgbClr val="3B6D11"/>
            </a:solidFill>
            <a:prstDash val="sysDash"/>
            <a:headEnd type="oval"/>
            <a:tailEnd type="triangle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02" name="Legend Row 9"/>
          <p:cNvSpPr txBox="1"/>
          <p:nvPr/>
        </p:nvSpPr>
        <p:spPr>
          <a:xfrm>
            <a:off x="9932833" y="2487438"/>
            <a:ext cx="2063791" cy="19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444444"/>
                </a:solidFill>
                <a:latin typeface="Malgun Gothic" pitchFamily="34" charset="-127"/>
              </a:rPr>
              <a:t>─── </a:t>
            </a:r>
            <a:r>
              <a:rPr lang="ko-KR" sz="80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Bastion→Master 로컬 실행 (SSH/oc)</a:t>
            </a:r>
          </a:p>
        </p:txBody>
      </p:sp>
      <p:sp>
        <p:nvSpPr>
          <p:cNvPr id="196" name="Text 201">
            <a:extLst>
              <a:ext uri="{FF2B5EF4-FFF2-40B4-BE49-F238E27FC236}">
                <a16:creationId xmlns:a16="http://schemas.microsoft.com/office/drawing/2014/main" id="{65236988-063B-4FD9-B2D9-EFBEB74DA3DE}"/>
              </a:ext>
            </a:extLst>
          </p:cNvPr>
          <p:cNvSpPr txBox="1"/>
          <p:nvPr/>
        </p:nvSpPr>
        <p:spPr>
          <a:xfrm>
            <a:off x="6062155" y="2904712"/>
            <a:ext cx="1132783" cy="917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3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172.30.1.20:9092</a:t>
            </a:r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2300" name="Container"/>
          <p:cNvSpPr/>
          <p:nvPr/>
        </p:nvSpPr>
        <p:spPr>
          <a:xfrm>
            <a:off x="5650000" y="4900000"/>
            <a:ext cx="1450000" cy="120000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9525">
            <a:solidFill>
              <a:srgbClr val="BA7517"/>
            </a:solidFill>
            <a:prstDash val="dash"/>
          </a:ln>
        </p:spPr>
        <p:txBody>
          <a:bodyPr wrap="square" lIns="45720" tIns="18288" rIns="45720" bIns="18288" anchor="t"/>
          <a:lstStyle/>
          <a:p>
            <a:pPr algn="ctr"/>
            <a:r>
              <a:rPr lang="ko-KR" altLang="en-US" sz="850" b="1" dirty="0">
                <a:solidFill>
                  <a:srgbClr val="BA7517"/>
                </a:solidFill>
                <a:latin typeface="Malgun Gothic" pitchFamily="34" charset="-127"/>
                <a:ea typeface="Malgun Gothic" pitchFamily="34" charset="-127"/>
              </a:rPr>
              <a:t>네트워크 자동화 모듈 (EE에서 직접 실행)</a:t>
            </a:r>
          </a:p>
        </p:txBody>
      </p:sp>
      <p:sp>
        <p:nvSpPr>
          <p:cNvPr id="2301" name="NetAutoNote"/>
          <p:cNvSpPr txBox="1"/>
          <p:nvPr/>
        </p:nvSpPr>
        <p:spPr>
          <a:xfrm>
            <a:off x="5700000" y="5220000"/>
            <a:ext cx="1350000" cy="7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ko-KR" altLang="en-US" sz="75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cisco.ios / arista.eos / cisco.nxos</a:t>
            </a:r>
          </a:p>
          <a:p>
            <a:pPr marL="0" indent="0" algn="ctr">
              <a:buNone/>
            </a:pPr>
            <a:r>
              <a:rPr lang="ko-KR" altLang="en-US" sz="75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SSH 또는 NETCONF/eAPI로</a:t>
            </a:r>
          </a:p>
          <a:p>
            <a:pPr marL="0" indent="0" algn="ctr">
              <a:buNone/>
            </a:pPr>
            <a:r>
              <a:rPr lang="ko-KR" altLang="en-US" sz="750" dirty="0">
                <a:solidFill>
                  <a:srgbClr val="333333"/>
                </a:solidFill>
                <a:latin typeface="Malgun Gothic" pitchFamily="34" charset="-127"/>
                <a:ea typeface="Malgun Gothic" pitchFamily="34" charset="-127"/>
              </a:rPr>
              <a:t>idempotent하게 설정 적용</a:t>
            </a:r>
          </a:p>
        </p:txBody>
      </p:sp>
    </p:spTree>
    <p:extLst>
      <p:ext uri="{BB962C8B-B14F-4D97-AF65-F5344CB8AC3E}">
        <p14:creationId xmlns:p14="http://schemas.microsoft.com/office/powerpoint/2010/main" val="2978597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962AF5B-3853-4B30-A928-3A8E8D53E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2471"/>
            <a:ext cx="12192000" cy="383305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7B1C56B-9F82-4E88-B43B-0CBBEF23D8D4}"/>
              </a:ext>
            </a:extLst>
          </p:cNvPr>
          <p:cNvSpPr/>
          <p:nvPr/>
        </p:nvSpPr>
        <p:spPr>
          <a:xfrm>
            <a:off x="221672" y="39038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1B2430"/>
                </a:solidFill>
                <a:latin typeface="-apple-system"/>
              </a:rPr>
              <a:t>RHOCP Cluster Monitor – Overview (pilot app)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7281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7B1C56B-9F82-4E88-B43B-0CBBEF23D8D4}"/>
              </a:ext>
            </a:extLst>
          </p:cNvPr>
          <p:cNvSpPr/>
          <p:nvPr/>
        </p:nvSpPr>
        <p:spPr>
          <a:xfrm>
            <a:off x="221672" y="39038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1B2430"/>
                </a:solidFill>
                <a:latin typeface="-apple-system"/>
              </a:rPr>
              <a:t>RHOCP Cluster Monitor - H/W </a:t>
            </a:r>
            <a:r>
              <a:rPr lang="ko-KR" altLang="en-US" b="1" dirty="0">
                <a:solidFill>
                  <a:srgbClr val="1B2430"/>
                </a:solidFill>
                <a:latin typeface="-apple-system"/>
              </a:rPr>
              <a:t>정보 수집 </a:t>
            </a:r>
            <a:r>
              <a:rPr lang="en-US" altLang="ko-KR" b="1" dirty="0">
                <a:solidFill>
                  <a:srgbClr val="1B2430"/>
                </a:solidFill>
                <a:latin typeface="-apple-system"/>
              </a:rPr>
              <a:t>(pilot app)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F19B10F-67D1-40F7-9C1B-AFA0C63E7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5958"/>
            <a:ext cx="12192000" cy="36060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B5A79AC-6C25-4CF6-8C62-B0CDDBCADAD9}"/>
              </a:ext>
            </a:extLst>
          </p:cNvPr>
          <p:cNvSpPr txBox="1"/>
          <p:nvPr/>
        </p:nvSpPr>
        <p:spPr>
          <a:xfrm>
            <a:off x="550718" y="976745"/>
            <a:ext cx="18188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/>
              <a:t>iLO</a:t>
            </a:r>
            <a:r>
              <a:rPr lang="en-US" altLang="ko-KR" sz="1200" dirty="0"/>
              <a:t>/iDRAC Redfish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미사용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18950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7B1C56B-9F82-4E88-B43B-0CBBEF23D8D4}"/>
              </a:ext>
            </a:extLst>
          </p:cNvPr>
          <p:cNvSpPr/>
          <p:nvPr/>
        </p:nvSpPr>
        <p:spPr>
          <a:xfrm>
            <a:off x="221672" y="39038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1B2430"/>
                </a:solidFill>
                <a:latin typeface="-apple-system"/>
              </a:rPr>
              <a:t>RHOCP Cluster Monitor - S/W </a:t>
            </a:r>
            <a:r>
              <a:rPr lang="ko-KR" altLang="en-US" b="1" dirty="0">
                <a:solidFill>
                  <a:srgbClr val="1B2430"/>
                </a:solidFill>
                <a:latin typeface="-apple-system"/>
              </a:rPr>
              <a:t>정보 수집 </a:t>
            </a:r>
            <a:r>
              <a:rPr lang="en-US" altLang="ko-KR" b="1" dirty="0">
                <a:solidFill>
                  <a:srgbClr val="1B2430"/>
                </a:solidFill>
                <a:latin typeface="-apple-system"/>
              </a:rPr>
              <a:t>(pilot app)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5A79AC-6C25-4CF6-8C62-B0CDDBCADAD9}"/>
              </a:ext>
            </a:extLst>
          </p:cNvPr>
          <p:cNvSpPr txBox="1"/>
          <p:nvPr/>
        </p:nvSpPr>
        <p:spPr>
          <a:xfrm>
            <a:off x="550718" y="976745"/>
            <a:ext cx="2855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OC </a:t>
            </a:r>
            <a:r>
              <a:rPr lang="ko-KR" altLang="en-US" sz="1200" dirty="0" err="1"/>
              <a:t>미사용</a:t>
            </a:r>
            <a:r>
              <a:rPr lang="ko-KR" altLang="en-US" sz="1200" dirty="0"/>
              <a:t> </a:t>
            </a:r>
            <a:r>
              <a:rPr lang="en-US" altLang="ko-KR" sz="1200" dirty="0"/>
              <a:t>/Red  Hat API – server API </a:t>
            </a:r>
            <a:r>
              <a:rPr lang="ko-KR" altLang="en-US" sz="1200" dirty="0"/>
              <a:t>사용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91D8E9C-8ECC-47F7-9227-5E6D4596C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6596"/>
            <a:ext cx="12192000" cy="360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920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7B1C56B-9F82-4E88-B43B-0CBBEF23D8D4}"/>
              </a:ext>
            </a:extLst>
          </p:cNvPr>
          <p:cNvSpPr/>
          <p:nvPr/>
        </p:nvSpPr>
        <p:spPr>
          <a:xfrm>
            <a:off x="221672" y="39038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1B2430"/>
                </a:solidFill>
                <a:latin typeface="-apple-system"/>
              </a:rPr>
              <a:t>RHOCP Cluster Monitor - Cluster namespace (pilot app)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5A79AC-6C25-4CF6-8C62-B0CDDBCADAD9}"/>
              </a:ext>
            </a:extLst>
          </p:cNvPr>
          <p:cNvSpPr txBox="1"/>
          <p:nvPr/>
        </p:nvSpPr>
        <p:spPr>
          <a:xfrm>
            <a:off x="550718" y="976745"/>
            <a:ext cx="2598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Cluster namespace </a:t>
            </a:r>
            <a:r>
              <a:rPr lang="ko-KR" altLang="en-US" sz="1200" dirty="0"/>
              <a:t>중 </a:t>
            </a:r>
            <a:r>
              <a:rPr lang="en-US" altLang="ko-KR" sz="1200" dirty="0"/>
              <a:t>AAP namespace</a:t>
            </a:r>
            <a:endParaRPr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9A8892F-B980-48FD-9699-AC92B856F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" y="1253744"/>
            <a:ext cx="12185635" cy="56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102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7B1C56B-9F82-4E88-B43B-0CBBEF23D8D4}"/>
              </a:ext>
            </a:extLst>
          </p:cNvPr>
          <p:cNvSpPr/>
          <p:nvPr/>
        </p:nvSpPr>
        <p:spPr>
          <a:xfrm>
            <a:off x="221672" y="39038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1B2430"/>
                </a:solidFill>
                <a:latin typeface="-apple-system"/>
              </a:rPr>
              <a:t>RHOCP Cluster Monitor - CNF namespace (pilot app)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5A79AC-6C25-4CF6-8C62-B0CDDBCADAD9}"/>
              </a:ext>
            </a:extLst>
          </p:cNvPr>
          <p:cNvSpPr txBox="1"/>
          <p:nvPr/>
        </p:nvSpPr>
        <p:spPr>
          <a:xfrm>
            <a:off x="550718" y="976745"/>
            <a:ext cx="24760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CNF namespace </a:t>
            </a:r>
            <a:r>
              <a:rPr lang="ko-KR" altLang="en-US" sz="1200" dirty="0"/>
              <a:t>중 </a:t>
            </a:r>
            <a:r>
              <a:rPr lang="en-US" altLang="ko-KR" sz="1200" dirty="0"/>
              <a:t>amf1 namespace</a:t>
            </a:r>
            <a:endParaRPr lang="ko-KR" altLang="en-US" sz="12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D3DCCBC-7CB8-4275-BFFA-1AED9B1B7C0F}"/>
              </a:ext>
            </a:extLst>
          </p:cNvPr>
          <p:cNvGrpSpPr/>
          <p:nvPr/>
        </p:nvGrpSpPr>
        <p:grpSpPr>
          <a:xfrm>
            <a:off x="0" y="1470768"/>
            <a:ext cx="12192000" cy="5289077"/>
            <a:chOff x="0" y="1470768"/>
            <a:chExt cx="12192000" cy="5289077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FFA37F33-F27B-4D72-A3E7-B902C62EC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470768"/>
              <a:ext cx="12192000" cy="3942896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C7E1665-6D6C-4A40-A3A9-23013FA0D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909" y="5387232"/>
              <a:ext cx="12088091" cy="13726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9138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7B1C56B-9F82-4E88-B43B-0CBBEF23D8D4}"/>
              </a:ext>
            </a:extLst>
          </p:cNvPr>
          <p:cNvSpPr/>
          <p:nvPr/>
        </p:nvSpPr>
        <p:spPr>
          <a:xfrm>
            <a:off x="221672" y="39038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b="1" dirty="0">
                <a:solidFill>
                  <a:srgbClr val="1B2430"/>
                </a:solidFill>
                <a:latin typeface="-apple-system"/>
              </a:rPr>
              <a:t>RHOCP Cluster Monitor - Alarm event (pilot app)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58FF887-F790-430A-80C8-F38293003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9178"/>
            <a:ext cx="12192000" cy="417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464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2909</Words>
  <Application>Microsoft Office PowerPoint</Application>
  <PresentationFormat>와이드스크린</PresentationFormat>
  <Paragraphs>665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-apple-system</vt:lpstr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박규남</cp:lastModifiedBy>
  <cp:revision>34</cp:revision>
  <cp:lastPrinted>2026-09-11T03:46:51Z</cp:lastPrinted>
  <dcterms:created xsi:type="dcterms:W3CDTF">2026-09-11T01:37:45Z</dcterms:created>
  <dcterms:modified xsi:type="dcterms:W3CDTF">2026-09-15T00:22:45Z</dcterms:modified>
</cp:coreProperties>
</file>